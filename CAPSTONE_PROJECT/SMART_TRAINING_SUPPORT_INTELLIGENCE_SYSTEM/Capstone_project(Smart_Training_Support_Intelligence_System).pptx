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6" r:id="rId8"/>
    <p:sldId id="4427" r:id="rId9"/>
    <p:sldId id="4428" r:id="rId10"/>
    <p:sldId id="4429" r:id="rId11"/>
    <p:sldId id="4430" r:id="rId12"/>
    <p:sldId id="4431" r:id="rId13"/>
    <p:sldId id="4432" r:id="rId14"/>
    <p:sldId id="4433" r:id="rId15"/>
    <p:sldId id="4434" r:id="rId16"/>
    <p:sldId id="4435" r:id="rId17"/>
    <p:sldId id="44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5B2B6-ECA4-4911-9684-E4AB9D1101EE}" v="168" dt="2026-06-16T19:19:19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52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26SUB0724_DATAENGINEERING WITH AIML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17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June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 ADDALA SIVA GANESH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1091746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SMART TRAINING SUPPORT INTELLIGENCE SYSTEM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Problem Statement: </a:t>
            </a:r>
          </a:p>
          <a:p>
            <a:pPr>
              <a:spcBef>
                <a:spcPct val="0"/>
              </a:spcBef>
            </a:pPr>
            <a:r>
              <a:rPr lang="en-US" sz="3200" dirty="0">
                <a:solidFill>
                  <a:srgbClr val="0187CC"/>
                </a:solidFill>
                <a:latin typeface="HK Grotesk" pitchFamily="2" charset="77"/>
              </a:rPr>
              <a:t>SMART TRAINING SUPPORT INTELLIGENCE SYSTEM </a:t>
            </a:r>
          </a:p>
          <a:p>
            <a:pPr>
              <a:spcBef>
                <a:spcPct val="0"/>
              </a:spcBef>
            </a:pPr>
            <a:endParaRPr lang="en-US" sz="3200" dirty="0">
              <a:solidFill>
                <a:srgbClr val="0187CC"/>
              </a:solidFill>
              <a:latin typeface="HK Grotesk" pitchFamily="2" charset="77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2424422"/>
            <a:ext cx="101025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Users face issues related to course access, login, certificates, and schedules.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Manual support is time-consuming and inefficient.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An intelligent system is required to automate query handling.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6B8896A7-3B76-6058-5A34-ED175ECA1A5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Project Objective: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0C8046D8-B5DA-6BCD-5E10-8FF2D6B6E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D4178B0F-05BB-2B9F-F024-310630B3394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B3243C0-888D-D6A9-1073-6ADF4C19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82A82A-644E-B9F4-AA05-B969A5E3FDD3}"/>
              </a:ext>
            </a:extLst>
          </p:cNvPr>
          <p:cNvSpPr txBox="1"/>
          <p:nvPr/>
        </p:nvSpPr>
        <p:spPr>
          <a:xfrm>
            <a:off x="273075" y="2095238"/>
            <a:ext cx="92001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Build an automated support intelligence system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Classify user queries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Perform sentiment analysis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Retrieve similar tickets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Provide relevant answers from knowledge base</a:t>
            </a:r>
          </a:p>
        </p:txBody>
      </p:sp>
    </p:spTree>
    <p:extLst>
      <p:ext uri="{BB962C8B-B14F-4D97-AF65-F5344CB8AC3E}">
        <p14:creationId xmlns:p14="http://schemas.microsoft.com/office/powerpoint/2010/main" val="4162119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B90701BC-0F4C-3CDA-E57E-67E2747B6BD8}"/>
              </a:ext>
            </a:extLst>
          </p:cNvPr>
          <p:cNvSpPr/>
          <p:nvPr/>
        </p:nvSpPr>
        <p:spPr>
          <a:xfrm>
            <a:off x="273075" y="220619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System Overview: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436C335-7372-54C3-221A-B528D0D7D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407028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58706ECB-E82B-B081-4168-4B15CB64819D}"/>
              </a:ext>
            </a:extLst>
          </p:cNvPr>
          <p:cNvSpPr txBox="1"/>
          <p:nvPr/>
        </p:nvSpPr>
        <p:spPr>
          <a:xfrm>
            <a:off x="4424757" y="6427723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BC7EA75-5291-D3D9-22D2-DDFB11131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5494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13A79-A5C2-1FC0-7937-8D73592892AC}"/>
              </a:ext>
            </a:extLst>
          </p:cNvPr>
          <p:cNvSpPr txBox="1"/>
          <p:nvPr/>
        </p:nvSpPr>
        <p:spPr>
          <a:xfrm>
            <a:off x="273074" y="1363718"/>
            <a:ext cx="915438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User Input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     ↓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Text Preprocessing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     ↓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TF-IDF &amp; Similarity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     ↓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Classification + Sentiment Analysis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     ↓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Named Entity Recognition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     ↓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RNN Model (Advanced Classification)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     ↓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RAG (Answer Retrieval)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     ↓</a:t>
            </a:r>
          </a:p>
          <a:p>
            <a:pPr algn="ctr"/>
            <a:r>
              <a:rPr lang="en-US" sz="2000" dirty="0">
                <a:solidFill>
                  <a:srgbClr val="0187CC"/>
                </a:solidFill>
                <a:latin typeface="HK Grotesk"/>
              </a:rPr>
              <a:t>Final Output</a:t>
            </a:r>
          </a:p>
        </p:txBody>
      </p:sp>
    </p:spTree>
    <p:extLst>
      <p:ext uri="{BB962C8B-B14F-4D97-AF65-F5344CB8AC3E}">
        <p14:creationId xmlns:p14="http://schemas.microsoft.com/office/powerpoint/2010/main" val="2229019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B1E481AB-9CE2-8967-BDEC-09B54731A5CB}"/>
              </a:ext>
            </a:extLst>
          </p:cNvPr>
          <p:cNvSpPr/>
          <p:nvPr/>
        </p:nvSpPr>
        <p:spPr>
          <a:xfrm>
            <a:off x="273075" y="220619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Module-01_Text Preprocessing + Word Count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E229673-86FC-3A58-154F-1251BCA3F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407028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3C5D701E-17F2-A6FA-B2B7-2DC7A1800AF4}"/>
              </a:ext>
            </a:extLst>
          </p:cNvPr>
          <p:cNvSpPr txBox="1"/>
          <p:nvPr/>
        </p:nvSpPr>
        <p:spPr>
          <a:xfrm>
            <a:off x="4424757" y="6427723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1ACE33-778B-8AFE-12D9-4161B42B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5494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741F9-1ABC-6871-6333-096A6EA4876A}"/>
              </a:ext>
            </a:extLst>
          </p:cNvPr>
          <p:cNvSpPr txBox="1"/>
          <p:nvPr/>
        </p:nvSpPr>
        <p:spPr>
          <a:xfrm>
            <a:off x="273075" y="1705859"/>
            <a:ext cx="104894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Convert text to lowercase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Remove punctuation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Tokenization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Count number of words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Purpose: Clean and standardize input text for further processing</a:t>
            </a:r>
          </a:p>
        </p:txBody>
      </p:sp>
    </p:spTree>
    <p:extLst>
      <p:ext uri="{BB962C8B-B14F-4D97-AF65-F5344CB8AC3E}">
        <p14:creationId xmlns:p14="http://schemas.microsoft.com/office/powerpoint/2010/main" val="2561492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099A1E84-139C-C5DE-3B4D-7B306DF3330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Module-02 – TF-IDF Analysis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AFBEFAA2-1620-6D45-7C38-1F82A9654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046B4873-194E-2641-BDAA-6CADE890C64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4E3BB4-E7A3-0D53-FBDA-1E89F12E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8A2DD-E6F7-7E0D-C487-62095BAEA357}"/>
              </a:ext>
            </a:extLst>
          </p:cNvPr>
          <p:cNvSpPr txBox="1"/>
          <p:nvPr/>
        </p:nvSpPr>
        <p:spPr>
          <a:xfrm>
            <a:off x="273075" y="1685878"/>
            <a:ext cx="104110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Convert text into numerical vectors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Identify important words in each ticket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Purpose: Helps in understanding word importance for similarity computation</a:t>
            </a:r>
          </a:p>
        </p:txBody>
      </p:sp>
    </p:spTree>
    <p:extLst>
      <p:ext uri="{BB962C8B-B14F-4D97-AF65-F5344CB8AC3E}">
        <p14:creationId xmlns:p14="http://schemas.microsoft.com/office/powerpoint/2010/main" val="2266159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E3E6F74B-E455-C90C-2F70-4028EFEF1C3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Module‑03 – Word2Vec Embeddings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2A918DA-36F7-8D6F-94B7-F2601DA3E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24E5421B-B940-AD23-90B4-25BAF64A1A0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A5AE45-D392-0EE7-5F8D-7F28E50D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B28CC6-B866-8DD9-C8AB-DE56F0035CF7}"/>
              </a:ext>
            </a:extLst>
          </p:cNvPr>
          <p:cNvSpPr txBox="1"/>
          <p:nvPr/>
        </p:nvSpPr>
        <p:spPr>
          <a:xfrm>
            <a:off x="273075" y="1659374"/>
            <a:ext cx="92817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Generate vector representation of words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Capture semantic meaning of words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     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Example: "login" and "password" are closely related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Purpose: Helps in understanding relationships between words</a:t>
            </a:r>
          </a:p>
        </p:txBody>
      </p:sp>
    </p:spTree>
    <p:extLst>
      <p:ext uri="{BB962C8B-B14F-4D97-AF65-F5344CB8AC3E}">
        <p14:creationId xmlns:p14="http://schemas.microsoft.com/office/powerpoint/2010/main" val="258742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A01E0697-166A-143C-8B59-C7E0388D765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Module‑04 – Cosine Similarity Ticket Search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91D51B41-E02B-C2CC-E837-421BEED36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F05804B3-62C9-2ADB-BD78-549BFDAE3A1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12EE683-AE44-7CBB-301A-233C201A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6C581-0B0E-EF5E-EF2C-53E02AF86309}"/>
              </a:ext>
            </a:extLst>
          </p:cNvPr>
          <p:cNvSpPr txBox="1"/>
          <p:nvPr/>
        </p:nvSpPr>
        <p:spPr>
          <a:xfrm>
            <a:off x="273075" y="1884661"/>
            <a:ext cx="95467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Calculate similarity between user query and tickets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Retrieve top similar tickets</a:t>
            </a:r>
          </a:p>
          <a:p>
            <a:pPr marL="514350" indent="-514350">
              <a:buAutoNum type="arabicPeriod"/>
            </a:pPr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Purpose: Find relevant past queries based on user input</a:t>
            </a:r>
          </a:p>
        </p:txBody>
      </p:sp>
    </p:spTree>
    <p:extLst>
      <p:ext uri="{BB962C8B-B14F-4D97-AF65-F5344CB8AC3E}">
        <p14:creationId xmlns:p14="http://schemas.microsoft.com/office/powerpoint/2010/main" val="99205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455610E7-8BEC-CD04-F5A8-AF419C6212F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Module‑05 – Text Classification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4D8D22F6-B6DF-2537-2563-33F500F2F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F522C6B2-2B80-869E-F4A8-A1F704CD4AE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E1A49C1-8978-DED2-16CC-78F28E03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51E34-91BA-4060-F531-2546F97C98E8}"/>
              </a:ext>
            </a:extLst>
          </p:cNvPr>
          <p:cNvSpPr txBox="1"/>
          <p:nvPr/>
        </p:nvSpPr>
        <p:spPr>
          <a:xfrm>
            <a:off x="108630" y="1765392"/>
            <a:ext cx="92817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Classify user queries into categories   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      (Login Issue, Certificate, Course Access, etc.)</a:t>
            </a:r>
          </a:p>
          <a:p>
            <a:pPr marL="514350" indent="-514350">
              <a:buAutoNum type="arabicPeriod" startAt="2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Uses keyword-based logic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Purpose: Automatically categorize user queries</a:t>
            </a:r>
          </a:p>
        </p:txBody>
      </p:sp>
    </p:spTree>
    <p:extLst>
      <p:ext uri="{BB962C8B-B14F-4D97-AF65-F5344CB8AC3E}">
        <p14:creationId xmlns:p14="http://schemas.microsoft.com/office/powerpoint/2010/main" val="297558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8EFAD360-77D7-F28D-EC61-3C9B61CE179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Module‑06 – Sentiment Analysis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6F002ACC-EE33-5B5B-D51A-C496096AD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965A3203-BC71-BF89-41A1-7A87182F23D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D8CBF4-CE34-6054-F013-5AB4D514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E0571-CFBA-0FBE-09E7-4EDE2F6CA8A8}"/>
              </a:ext>
            </a:extLst>
          </p:cNvPr>
          <p:cNvSpPr txBox="1"/>
          <p:nvPr/>
        </p:nvSpPr>
        <p:spPr>
          <a:xfrm>
            <a:off x="273075" y="1725635"/>
            <a:ext cx="94937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Determines whether user message is:   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     Positive / Neutral / Negative</a:t>
            </a:r>
          </a:p>
          <a:p>
            <a:pPr marL="514350" indent="-514350">
              <a:buAutoNum type="arabicPeriod" startAt="2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Uses rule-based keyword detection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Purpose: Understand user intent and tone</a:t>
            </a:r>
          </a:p>
        </p:txBody>
      </p:sp>
    </p:spTree>
    <p:extLst>
      <p:ext uri="{BB962C8B-B14F-4D97-AF65-F5344CB8AC3E}">
        <p14:creationId xmlns:p14="http://schemas.microsoft.com/office/powerpoint/2010/main" val="518988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5EB7CBDA-0893-7E78-A083-E31E6B4E4CB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Module‑07 – Named Entity Recognition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43432D15-5207-E68D-737B-D221B3EB0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E09D1023-4EFF-35CD-008B-A537A69C4027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B92EF03-E3E1-8DE3-3A29-D6700E9B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FD93D-714F-4920-754A-24C6810C1FEA}"/>
              </a:ext>
            </a:extLst>
          </p:cNvPr>
          <p:cNvSpPr txBox="1"/>
          <p:nvPr/>
        </p:nvSpPr>
        <p:spPr>
          <a:xfrm>
            <a:off x="223379" y="1745366"/>
            <a:ext cx="97588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Detects important entities in text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     Example: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          "LMS" identified as domain-specific term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Purpose: Extract useful keywords from user queries</a:t>
            </a:r>
          </a:p>
        </p:txBody>
      </p:sp>
    </p:spTree>
    <p:extLst>
      <p:ext uri="{BB962C8B-B14F-4D97-AF65-F5344CB8AC3E}">
        <p14:creationId xmlns:p14="http://schemas.microsoft.com/office/powerpoint/2010/main" val="53676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4F971FDF-3866-D213-FC08-072924610ED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Module‑08 – RNN-Based Classifier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9603BE4C-CCD2-4BBD-A69E-83B4F79D9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BDD44108-79A6-7906-CFCD-6C794035F3D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678BA0A-FEB1-1179-BB86-6C8232CE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D36DB-C53D-7C3A-DACB-3BBAFDC216E4}"/>
              </a:ext>
            </a:extLst>
          </p:cNvPr>
          <p:cNvSpPr txBox="1"/>
          <p:nvPr/>
        </p:nvSpPr>
        <p:spPr>
          <a:xfrm>
            <a:off x="273074" y="947617"/>
            <a:ext cx="1191892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Architecture: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Token IDs  → Embedding → RNN → Hidden State → Linear Layer → Output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Processes text sequentially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Maintains hidden state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Understands context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Purpose: Improves classification accuracy using deep learning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A1765-F09A-971F-362D-22094CE5BE4A}"/>
              </a:ext>
            </a:extLst>
          </p:cNvPr>
          <p:cNvSpPr txBox="1"/>
          <p:nvPr/>
        </p:nvSpPr>
        <p:spPr>
          <a:xfrm>
            <a:off x="273074" y="4247743"/>
            <a:ext cx="115930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187CC"/>
                </a:solidFill>
              </a:rPr>
              <a:t>Model Comparison</a:t>
            </a:r>
          </a:p>
          <a:p>
            <a:r>
              <a:rPr lang="en-US" sz="2800" dirty="0">
                <a:solidFill>
                  <a:srgbClr val="0187CC"/>
                </a:solidFill>
              </a:rPr>
              <a:t>Simple Classifier:- Uses word importance- Ignores order of words</a:t>
            </a:r>
          </a:p>
          <a:p>
            <a:r>
              <a:rPr lang="en-US" sz="2800" dirty="0">
                <a:solidFill>
                  <a:srgbClr val="0187CC"/>
                </a:solidFill>
              </a:rPr>
              <a:t>RNN Classifier     :- Reads words sequentially- Maintains memory (hidden state)- Captures context better</a:t>
            </a:r>
            <a:endParaRPr lang="en-IN" sz="2800" dirty="0">
              <a:solidFill>
                <a:srgbClr val="0187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447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64DF962B-BA02-6419-31A8-695B0739C54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 Module‑09 – Simple RAG (Without LLM)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4C8F320-CCFA-9724-87C2-A60AF0293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D90E6A83-CD84-7AE7-4A6A-F5DF45D21B9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4EECC2F-A86E-55C0-C9A5-3EFC133D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8E6F2-8BF9-8E59-1415-C710FD7D2E91}"/>
              </a:ext>
            </a:extLst>
          </p:cNvPr>
          <p:cNvSpPr txBox="1"/>
          <p:nvPr/>
        </p:nvSpPr>
        <p:spPr>
          <a:xfrm>
            <a:off x="273075" y="1685879"/>
            <a:ext cx="106732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Matches user query with knowledge base (knowledge_base_data.csv)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Uses TF-IDF + Cosine Similarity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Retrieves best answer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Purpose: Provides accurate response without generating new text</a:t>
            </a:r>
          </a:p>
        </p:txBody>
      </p:sp>
    </p:spTree>
    <p:extLst>
      <p:ext uri="{BB962C8B-B14F-4D97-AF65-F5344CB8AC3E}">
        <p14:creationId xmlns:p14="http://schemas.microsoft.com/office/powerpoint/2010/main" val="1448462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9B86DE91-9822-6D33-AF63-5E86FC20183A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Module‑10 – Prompt Engineering Templates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B0F8AC66-C7EB-ED89-F51D-886C16E95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F3018E78-FC40-432F-912D-911FB75CA30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C4B59B-C1D5-9B84-3A5C-9EAFA025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AF385-B74D-F59E-3513-B255D069BC03}"/>
              </a:ext>
            </a:extLst>
          </p:cNvPr>
          <p:cNvSpPr txBox="1"/>
          <p:nvPr/>
        </p:nvSpPr>
        <p:spPr>
          <a:xfrm>
            <a:off x="273074" y="1354574"/>
            <a:ext cx="88841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Zero-shot prompting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One-shot prompting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Few-shot prompting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Role-based prompting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Purpose: Improve interaction and response quality using structured prompts</a:t>
            </a:r>
          </a:p>
        </p:txBody>
      </p:sp>
    </p:spTree>
    <p:extLst>
      <p:ext uri="{BB962C8B-B14F-4D97-AF65-F5344CB8AC3E}">
        <p14:creationId xmlns:p14="http://schemas.microsoft.com/office/powerpoint/2010/main" val="875711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D56C8C29-FBBC-12B1-C8AD-39DA91B4814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Final Integrated System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D8276BF-EF43-4131-457E-C5C2756C6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E290A335-849A-9260-2DDF-D5EF1F6B623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5F0235-1428-9B3A-A82B-0F50DF05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88D42-7A14-8E55-C433-47890730370C}"/>
              </a:ext>
            </a:extLst>
          </p:cNvPr>
          <p:cNvSpPr txBox="1"/>
          <p:nvPr/>
        </p:nvSpPr>
        <p:spPr>
          <a:xfrm>
            <a:off x="273075" y="1354574"/>
            <a:ext cx="986483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Combines all modules into one pipeline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Handles user queries dynamically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Produces:   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            1.Category   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            2.Sentiment   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            3.Similar tickets    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            4.Answer   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            5.Entities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Result: Complete NLP-based support chatbot system</a:t>
            </a:r>
          </a:p>
        </p:txBody>
      </p:sp>
    </p:spTree>
    <p:extLst>
      <p:ext uri="{BB962C8B-B14F-4D97-AF65-F5344CB8AC3E}">
        <p14:creationId xmlns:p14="http://schemas.microsoft.com/office/powerpoint/2010/main" val="3236444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C85D34F4-9AA1-CB23-F7D7-F5A791DDB5B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Conclusion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3E352408-28D8-D8E9-575D-0D868853A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5349C3DE-1879-CDBE-52E9-87BABCB5965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1CAB23F-F82A-85CF-82FF-7822B575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BCAFF-6E0B-6958-599B-3579C5A9B1B8}"/>
              </a:ext>
            </a:extLst>
          </p:cNvPr>
          <p:cNvSpPr txBox="1"/>
          <p:nvPr/>
        </p:nvSpPr>
        <p:spPr>
          <a:xfrm>
            <a:off x="273075" y="2114024"/>
            <a:ext cx="101025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Successfully developed an end-to-end NLP system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Integrated multiple techniques (TF-IDF, RNN, RAG)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rgbClr val="0187CC"/>
                </a:solidFill>
                <a:latin typeface="HK Grotesk"/>
              </a:rPr>
              <a:t>Provides fast and automated support responses</a:t>
            </a:r>
          </a:p>
        </p:txBody>
      </p:sp>
    </p:spTree>
    <p:extLst>
      <p:ext uri="{BB962C8B-B14F-4D97-AF65-F5344CB8AC3E}">
        <p14:creationId xmlns:p14="http://schemas.microsoft.com/office/powerpoint/2010/main" val="2641513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5">
            <a:extLst>
              <a:ext uri="{FF2B5EF4-FFF2-40B4-BE49-F238E27FC236}">
                <a16:creationId xmlns:a16="http://schemas.microsoft.com/office/drawing/2014/main" id="{DAB50A82-40BE-00BA-64FA-1A1AB832F9C0}"/>
              </a:ext>
            </a:extLst>
          </p:cNvPr>
          <p:cNvSpPr/>
          <p:nvPr/>
        </p:nvSpPr>
        <p:spPr>
          <a:xfrm>
            <a:off x="1044717" y="2936557"/>
            <a:ext cx="1010256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000" b="1" dirty="0">
                <a:solidFill>
                  <a:srgbClr val="0187CC"/>
                </a:solidFill>
                <a:latin typeface="HK Grotesk Bold"/>
              </a:rPr>
              <a:t>THANK YOU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51B2C512-55C0-B499-C387-32D64FFBA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8DB3FF80-E50E-82F7-B56A-8905DBEE698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1F947D1-3671-642D-F557-9969AC48F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869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684</Words>
  <Application>Microsoft Office PowerPoint</Application>
  <PresentationFormat>Widescreen</PresentationFormat>
  <Paragraphs>146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Addala Siva</cp:lastModifiedBy>
  <cp:revision>19</cp:revision>
  <dcterms:created xsi:type="dcterms:W3CDTF">2024-05-04T13:11:57Z</dcterms:created>
  <dcterms:modified xsi:type="dcterms:W3CDTF">2026-06-16T19:22:11Z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MSIP_Label_ce7ded32-6a8c-48b8-8009-ebf9a4e0e083_Enabled">
    <vt:lpwstr>true</vt:lpwstr>
  </property>
  <property fmtid="{D5CDD505-2E9C-101B-9397-08002B2CF9AE}" pid="11" name="MSIP_Label_ce7ded32-6a8c-48b8-8009-ebf9a4e0e083_SetDate">
    <vt:lpwstr>2026-06-16T18:14:16Z</vt:lpwstr>
  </property>
  <property fmtid="{D5CDD505-2E9C-101B-9397-08002B2CF9AE}" pid="12" name="MSIP_Label_ce7ded32-6a8c-48b8-8009-ebf9a4e0e083_Method">
    <vt:lpwstr>Privileged</vt:lpwstr>
  </property>
  <property fmtid="{D5CDD505-2E9C-101B-9397-08002B2CF9AE}" pid="13" name="MSIP_Label_ce7ded32-6a8c-48b8-8009-ebf9a4e0e083_Name">
    <vt:lpwstr>Public - Public</vt:lpwstr>
  </property>
  <property fmtid="{D5CDD505-2E9C-101B-9397-08002B2CF9AE}" pid="14" name="MSIP_Label_ce7ded32-6a8c-48b8-8009-ebf9a4e0e083_SiteId">
    <vt:lpwstr>258ac4e4-146a-411e-9dc8-79a9e12fd6da</vt:lpwstr>
  </property>
  <property fmtid="{D5CDD505-2E9C-101B-9397-08002B2CF9AE}" pid="15" name="MSIP_Label_ce7ded32-6a8c-48b8-8009-ebf9a4e0e083_ActionId">
    <vt:lpwstr>e4e7b328-6ffe-48d6-9059-25b90e1a175d</vt:lpwstr>
  </property>
  <property fmtid="{D5CDD505-2E9C-101B-9397-08002B2CF9AE}" pid="16" name="MSIP_Label_ce7ded32-6a8c-48b8-8009-ebf9a4e0e083_ContentBits">
    <vt:lpwstr>2</vt:lpwstr>
  </property>
  <property fmtid="{D5CDD505-2E9C-101B-9397-08002B2CF9AE}" pid="17" name="MSIP_Label_ce7ded32-6a8c-48b8-8009-ebf9a4e0e083_Tag">
    <vt:lpwstr>10, 0, 1, 1</vt:lpwstr>
  </property>
  <property fmtid="{D5CDD505-2E9C-101B-9397-08002B2CF9AE}" pid="18" name="ClassificationContentMarkingFooterLocations">
    <vt:lpwstr>Office Theme:8</vt:lpwstr>
  </property>
  <property fmtid="{D5CDD505-2E9C-101B-9397-08002B2CF9AE}" pid="19" name="ClassificationContentMarkingFooterText">
    <vt:lpwstr>Public</vt:lpwstr>
  </property>
</Properties>
</file>