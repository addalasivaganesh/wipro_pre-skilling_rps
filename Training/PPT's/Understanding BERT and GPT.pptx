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Georgia" panose="02040502050405020303" pitchFamily="18" charset="0"/>
      <p:regular r:id="rId15"/>
      <p:bold r:id="rId16"/>
      <p:italic r:id="rId17"/>
      <p:boldItalic r:id="rId18"/>
    </p:embeddedFont>
    <p:embeddedFont>
      <p:font typeface="Lora" panose="020F0502020204030204" pitchFamily="2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0ED840-B376-0D66-56F6-87FA5FC23ADF}" v="371" dt="2026-06-04T10:10:36.5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dala Siva" userId="a23dfad1-8213-4535-8fc3-e3426e27c416" providerId="ADAL" clId="{DD49B685-E37C-468F-9600-200C2B9FA0BC}"/>
    <pc:docChg chg="modSld">
      <pc:chgData name="Addala Siva" userId="a23dfad1-8213-4535-8fc3-e3426e27c416" providerId="ADAL" clId="{DD49B685-E37C-468F-9600-200C2B9FA0BC}" dt="2026-06-04T10:27:05.101" v="31" actId="20577"/>
      <pc:docMkLst>
        <pc:docMk/>
      </pc:docMkLst>
      <pc:sldChg chg="modNotesTx">
        <pc:chgData name="Addala Siva" userId="a23dfad1-8213-4535-8fc3-e3426e27c416" providerId="ADAL" clId="{DD49B685-E37C-468F-9600-200C2B9FA0BC}" dt="2026-06-04T10:27:05.101" v="31" actId="20577"/>
        <pc:sldMkLst>
          <pc:docMk/>
          <pc:sldMk cId="0" sldId="256"/>
        </pc:sldMkLst>
      </pc:sldChg>
    </pc:docChg>
  </pc:docChgLst>
</pc:chgInfo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200" b="1">
                <a:solidFill>
                  <a:srgbClr val="3B593A"/>
                </a:solidFill>
                <a:latin typeface="Georgia"/>
              </a:rPr>
              <a:t>GPT Autoregressive Generation Process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Generation Progress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B86918"/>
              </a:solidFill>
            </c:spPr>
            <c:extLst>
              <c:ext xmlns:c16="http://schemas.microsoft.com/office/drawing/2014/chart" uri="{C3380CC4-5D6E-409C-BE32-E72D297353CC}">
                <c16:uniqueId val="{00000001-A47A-47C2-AD04-F68ABA84C49B}"/>
              </c:ext>
            </c:extLst>
          </c:dPt>
          <c:dPt>
            <c:idx val="1"/>
            <c:invertIfNegative val="1"/>
            <c:bubble3D val="0"/>
            <c:spPr>
              <a:solidFill>
                <a:srgbClr val="D49100"/>
              </a:solidFill>
            </c:spPr>
            <c:extLst>
              <c:ext xmlns:c16="http://schemas.microsoft.com/office/drawing/2014/chart" uri="{C3380CC4-5D6E-409C-BE32-E72D297353CC}">
                <c16:uniqueId val="{00000003-A47A-47C2-AD04-F68ABA84C49B}"/>
              </c:ext>
            </c:extLst>
          </c:dPt>
          <c:dPt>
            <c:idx val="2"/>
            <c:invertIfNegative val="1"/>
            <c:bubble3D val="0"/>
            <c:spPr>
              <a:solidFill>
                <a:srgbClr val="5E3410"/>
              </a:solidFill>
            </c:spPr>
            <c:extLst>
              <c:ext xmlns:c16="http://schemas.microsoft.com/office/drawing/2014/chart" uri="{C3380CC4-5D6E-409C-BE32-E72D297353CC}">
                <c16:uniqueId val="{00000005-A47A-47C2-AD04-F68ABA84C49B}"/>
              </c:ext>
            </c:extLst>
          </c:dPt>
          <c:dPt>
            <c:idx val="3"/>
            <c:invertIfNegative val="1"/>
            <c:bubble3D val="0"/>
            <c:spPr>
              <a:solidFill>
                <a:srgbClr val="3B5E3B"/>
              </a:solidFill>
            </c:spPr>
            <c:extLst>
              <c:ext xmlns:c16="http://schemas.microsoft.com/office/drawing/2014/chart" uri="{C3380CC4-5D6E-409C-BE32-E72D297353CC}">
                <c16:uniqueId val="{00000007-A47A-47C2-AD04-F68ABA84C49B}"/>
              </c:ext>
            </c:extLst>
          </c:dPt>
          <c:cat>
            <c:strRef>
              <c:f>Sheet1!$A$2:$A$5</c:f>
              <c:strCache>
                <c:ptCount val="4"/>
                <c:pt idx="0">
                  <c:v>Step 4</c:v>
                </c:pt>
                <c:pt idx="1">
                  <c:v>Step 3</c:v>
                </c:pt>
                <c:pt idx="2">
                  <c:v>Step 2</c:v>
                </c:pt>
                <c:pt idx="3">
                  <c:v>Step 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47A-47C2-AD04-F68ABA84C4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Gridlines>
          <c:spPr>
            <a:ln w="9525">
              <a:solidFill>
                <a:srgbClr val="BEB19C"/>
              </a:solidFill>
            </a:ln>
          </c:spPr>
        </c:majorGridlines>
        <c:numFmt formatCode="General" sourceLinked="0"/>
        <c:majorTickMark val="out"/>
        <c:minorTickMark val="none"/>
        <c:tickLblPos val="nextTo"/>
        <c:spPr>
          <a:ln>
            <a:solidFill>
              <a:srgbClr val="BEB19C"/>
            </a:solidFill>
          </a:ln>
        </c:spPr>
        <c:txPr>
          <a:bodyPr/>
          <a:lstStyle/>
          <a:p>
            <a:pPr>
              <a:defRPr sz="900">
                <a:solidFill>
                  <a:srgbClr val="40401E"/>
                </a:solidFill>
                <a:latin typeface="Apto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"/>
          <c:min val="0"/>
        </c:scaling>
        <c:delete val="1"/>
        <c:axPos val="b"/>
        <c:numFmt formatCode="0.0" sourceLinked="0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BB05E0-E783-4CEF-8152-AC3BB11CCF2D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76268B-4C43-4AAF-ACAE-1D4BDDB4EC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9000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76268B-4C43-4AAF-ACAE-1D4BDDB4ECA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7031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768823-6C3B-FB30-19F6-57D7D09511E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3714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C5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96588" y="1760592"/>
            <a:ext cx="8998369" cy="6694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350" b="1" i="0">
                <a:solidFill>
                  <a:srgbClr val="2F5233"/>
                </a:solidFill>
                <a:latin typeface="Lora"/>
              </a:rPr>
              <a:t>Understanding BERT and GPT</a:t>
            </a:r>
            <a:endParaRPr lang="en-US" sz="4350" b="1" i="0">
              <a:solidFill>
                <a:srgbClr val="2F5233"/>
              </a:solidFill>
              <a:latin typeface="Lor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14124" y="3565504"/>
            <a:ext cx="6963445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0" i="0">
                <a:solidFill>
                  <a:schemeClr val="bg2">
                    <a:lumMod val="10000"/>
                  </a:schemeClr>
                </a:solidFill>
                <a:latin typeface="Aptos"/>
              </a:rPr>
              <a:t>Exploring Encoders, Decoders, and What Makes Them Different</a:t>
            </a:r>
            <a:endParaRPr lang="en-US" sz="2000" b="0" i="0">
              <a:solidFill>
                <a:schemeClr val="bg2">
                  <a:lumMod val="10000"/>
                </a:schemeClr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6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95068" cy="6858000"/>
          </a:xfrm>
          <a:prstGeom prst="rect">
            <a:avLst/>
          </a:prstGeom>
          <a:solidFill>
            <a:srgbClr val="D4C5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04800" y="818257"/>
            <a:ext cx="3985468" cy="848171"/>
          </a:xfrm>
          <a:prstGeom prst="roundRect">
            <a:avLst>
              <a:gd name="adj" fmla="val 17968"/>
            </a:avLst>
          </a:prstGeom>
          <a:solidFill>
            <a:srgbClr val="EDDA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11646" y="1871169"/>
            <a:ext cx="171512" cy="20000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04800" y="2276028"/>
            <a:ext cx="3985468" cy="848171"/>
          </a:xfrm>
          <a:prstGeom prst="roundRect">
            <a:avLst>
              <a:gd name="adj" fmla="val 17968"/>
            </a:avLst>
          </a:prstGeom>
          <a:solidFill>
            <a:srgbClr val="EDDA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11646" y="3328904"/>
            <a:ext cx="171512" cy="2000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04800" y="3733799"/>
            <a:ext cx="3985468" cy="848171"/>
          </a:xfrm>
          <a:prstGeom prst="roundRect">
            <a:avLst>
              <a:gd name="adj" fmla="val 17968"/>
            </a:avLst>
          </a:prstGeom>
          <a:solidFill>
            <a:srgbClr val="EDDA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11646" y="4786639"/>
            <a:ext cx="171512" cy="20000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04800" y="5191571"/>
            <a:ext cx="3985468" cy="848171"/>
          </a:xfrm>
          <a:prstGeom prst="roundRect">
            <a:avLst>
              <a:gd name="adj" fmla="val 17968"/>
            </a:avLst>
          </a:prstGeom>
          <a:solidFill>
            <a:srgbClr val="EDDA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3386" y="1000992"/>
            <a:ext cx="837732" cy="21906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66" b="1" i="0">
                <a:solidFill>
                  <a:srgbClr val="3B593A"/>
                </a:solidFill>
                <a:latin typeface="Lora"/>
              </a:rPr>
              <a:t>Input 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386" y="1290456"/>
            <a:ext cx="3392898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25" b="0" i="0">
                <a:solidFill>
                  <a:srgbClr val="40401E"/>
                </a:solidFill>
                <a:latin typeface="Aptos"/>
              </a:rPr>
              <a:t>Words converted to numerical tokens and embeddings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386" y="2458727"/>
            <a:ext cx="1142971" cy="21906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66" b="1" i="0">
                <a:solidFill>
                  <a:srgbClr val="3B593A"/>
                </a:solidFill>
                <a:latin typeface="Lora"/>
              </a:rPr>
              <a:t>Self-Attention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386" y="2748191"/>
            <a:ext cx="3505856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25" b="0" i="0">
                <a:solidFill>
                  <a:srgbClr val="40401E"/>
                </a:solidFill>
                <a:latin typeface="Aptos"/>
              </a:rPr>
              <a:t>Model weighs importance of each word relative to others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386" y="3916462"/>
            <a:ext cx="1109783" cy="21906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66" b="1" i="0">
                <a:solidFill>
                  <a:srgbClr val="3B593A"/>
                </a:solidFill>
                <a:latin typeface="Lora"/>
              </a:rPr>
              <a:t>Feed-Forward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386" y="4205926"/>
            <a:ext cx="3528180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25" b="0" i="0">
                <a:solidFill>
                  <a:srgbClr val="40401E"/>
                </a:solidFill>
                <a:latin typeface="Aptos"/>
              </a:rPr>
              <a:t>Processes representations through neural network layers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386" y="5374197"/>
            <a:ext cx="573866" cy="21906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66" b="1" i="0">
                <a:solidFill>
                  <a:srgbClr val="3B593A"/>
                </a:solidFill>
                <a:latin typeface="Lora"/>
              </a:rP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386" y="5663661"/>
            <a:ext cx="3162220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25" b="0" i="0">
                <a:solidFill>
                  <a:srgbClr val="40401E"/>
                </a:solidFill>
                <a:latin typeface="Aptos"/>
              </a:rPr>
              <a:t>Generates contextual understanding or predictions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9745" y="832374"/>
            <a:ext cx="5153044" cy="1058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109" b="1" i="0">
                <a:solidFill>
                  <a:srgbClr val="3B593A"/>
                </a:solidFill>
                <a:latin typeface="Lora"/>
              </a:rPr>
              <a:t>The Foundation: What Are Transformers?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9745" y="2122980"/>
            <a:ext cx="6655724" cy="9274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84" b="0" i="0">
                <a:solidFill>
                  <a:srgbClr val="40401E"/>
                </a:solidFill>
                <a:latin typeface="Aptos"/>
              </a:rPr>
              <a:t>Transformers revolutionized natural language processing by introducing parallel processing and attention mechanisms that understand contextual relationships between words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9745" y="3318932"/>
            <a:ext cx="6987156" cy="22468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7005" indent="-167005" algn="l">
              <a:lnSpc>
                <a:spcPts val="2073"/>
              </a:lnSpc>
              <a:spcBef>
                <a:spcPts val="0"/>
              </a:spcBef>
              <a:spcAft>
                <a:spcPts val="0"/>
              </a:spcAft>
              <a:buClr>
                <a:srgbClr val="5C7C5C"/>
              </a:buClr>
              <a:buSzPct val="100000"/>
              <a:buFont typeface="Aptos" charset="0"/>
              <a:buChar char="●"/>
            </a:pPr>
            <a:r>
              <a:rPr sz="1250" b="0" i="0">
                <a:solidFill>
                  <a:srgbClr val="40401E"/>
                </a:solidFill>
                <a:latin typeface="Aptos"/>
              </a:rPr>
              <a:t>Introduced in 2017 paper "Attention is All You Need" by Vaswani et al., transformers replaced recurrent neural networks </a:t>
            </a:r>
            <a:r>
              <a:rPr sz="900" b="0" i="0" dirty="0">
                <a:solidFill>
                  <a:srgbClr val="3B593A"/>
                </a:solidFill>
                <a:latin typeface="Aptos"/>
              </a:rPr>
              <a:t> </a:t>
            </a:r>
            <a:endParaRPr lang="en-US" sz="900" dirty="0">
              <a:solidFill>
                <a:srgbClr val="3B593A"/>
              </a:solidFill>
              <a:latin typeface="Aptos"/>
            </a:endParaRPr>
          </a:p>
          <a:p>
            <a:pPr marL="167005" indent="-167005" algn="l">
              <a:lnSpc>
                <a:spcPts val="2073"/>
              </a:lnSpc>
              <a:spcBef>
                <a:spcPts val="959"/>
              </a:spcBef>
              <a:spcAft>
                <a:spcPts val="0"/>
              </a:spcAft>
              <a:buClr>
                <a:srgbClr val="5C7C5C"/>
              </a:buClr>
              <a:buSzPct val="100000"/>
              <a:buFont typeface="Aptos" charset="0"/>
              <a:buChar char="●"/>
            </a:pPr>
            <a:r>
              <a:rPr sz="1250" b="0" i="0">
                <a:solidFill>
                  <a:srgbClr val="40401E"/>
                </a:solidFill>
                <a:latin typeface="Aptos"/>
              </a:rPr>
              <a:t>Self-attention mechanism allows the model to weigh importance of different words when processing each word </a:t>
            </a:r>
            <a:r>
              <a:rPr sz="900" b="0" i="0" dirty="0">
                <a:solidFill>
                  <a:srgbClr val="3B593A"/>
                </a:solidFill>
                <a:latin typeface="Aptos"/>
              </a:rPr>
              <a:t> </a:t>
            </a:r>
          </a:p>
          <a:p>
            <a:pPr marL="167005" indent="-167005">
              <a:lnSpc>
                <a:spcPts val="2073"/>
              </a:lnSpc>
              <a:spcBef>
                <a:spcPts val="959"/>
              </a:spcBef>
              <a:buClr>
                <a:srgbClr val="5C7C5C"/>
              </a:buClr>
              <a:buSzPct val="100000"/>
              <a:buFont typeface="Aptos" charset="0"/>
              <a:buChar char="●"/>
            </a:pPr>
            <a:r>
              <a:rPr sz="1250" b="0" i="0" dirty="0">
                <a:solidFill>
                  <a:srgbClr val="40401E"/>
                </a:solidFill>
                <a:latin typeface="Aptos"/>
              </a:rPr>
              <a:t>Multi-head attention runs parallel operations, each focusing on </a:t>
            </a:r>
            <a:r>
              <a:rPr sz="1250" b="0" i="0">
                <a:solidFill>
                  <a:srgbClr val="40401E"/>
                </a:solidFill>
                <a:latin typeface="Aptos"/>
              </a:rPr>
              <a:t>different </a:t>
            </a:r>
            <a:r>
              <a:rPr lang="en-US" sz="1250" dirty="0">
                <a:solidFill>
                  <a:srgbClr val="40401E"/>
                </a:solidFill>
                <a:latin typeface="Aptos"/>
              </a:rPr>
              <a:t> </a:t>
            </a:r>
            <a:r>
              <a:rPr sz="1250" b="0" i="0">
                <a:solidFill>
                  <a:srgbClr val="40401E"/>
                </a:solidFill>
                <a:latin typeface="Aptos"/>
              </a:rPr>
              <a:t>aspects</a:t>
            </a:r>
            <a:r>
              <a:rPr sz="1250" b="0" i="0" dirty="0">
                <a:solidFill>
                  <a:srgbClr val="40401E"/>
                </a:solidFill>
                <a:latin typeface="Aptos"/>
              </a:rPr>
              <a:t> of word </a:t>
            </a:r>
            <a:r>
              <a:rPr sz="1250" b="0" i="0">
                <a:solidFill>
                  <a:srgbClr val="40401E"/>
                </a:solidFill>
                <a:latin typeface="Aptos"/>
              </a:rPr>
              <a:t>relationships </a:t>
            </a:r>
            <a:r>
              <a:rPr sz="900" b="0" i="0" dirty="0">
                <a:solidFill>
                  <a:srgbClr val="3B593A"/>
                </a:solidFill>
                <a:latin typeface="Aptos"/>
              </a:rPr>
              <a:t> </a:t>
            </a:r>
          </a:p>
          <a:p>
            <a:pPr marL="167005" indent="-167005" algn="l">
              <a:lnSpc>
                <a:spcPts val="2073"/>
              </a:lnSpc>
              <a:spcBef>
                <a:spcPts val="959"/>
              </a:spcBef>
              <a:spcAft>
                <a:spcPts val="0"/>
              </a:spcAft>
              <a:buClr>
                <a:srgbClr val="5C7C5C"/>
              </a:buClr>
              <a:buSzPct val="100000"/>
              <a:buFont typeface="Aptos" charset="0"/>
              <a:buChar char="●"/>
            </a:pPr>
            <a:r>
              <a:rPr sz="1250" b="0" i="0">
                <a:solidFill>
                  <a:srgbClr val="40401E"/>
                </a:solidFill>
                <a:latin typeface="Aptos"/>
              </a:rPr>
              <a:t>Position encoding injects word order information since transformers lack sequential processing </a:t>
            </a:r>
            <a:r>
              <a:rPr sz="900" b="0" i="0" dirty="0">
                <a:solidFill>
                  <a:srgbClr val="3B593A"/>
                </a:solidFill>
                <a:latin typeface="Aptos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6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D4C5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04800" y="1371600"/>
            <a:ext cx="5486400" cy="4114800"/>
          </a:xfrm>
          <a:prstGeom prst="rect">
            <a:avLst/>
          </a:prstGeom>
          <a:solidFill>
            <a:srgbClr val="D4C5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639" y="1037157"/>
            <a:ext cx="4352518" cy="15936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109" b="1" i="0">
                <a:solidFill>
                  <a:srgbClr val="3B593A"/>
                </a:solidFill>
                <a:latin typeface="Lora"/>
              </a:rPr>
              <a:t>Original Transformer: Encoder-Decoder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639" y="2870376"/>
            <a:ext cx="5486262" cy="25948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2725" indent="-212725" algn="l">
              <a:lnSpc>
                <a:spcPts val="2073"/>
              </a:lnSpc>
              <a:spcBef>
                <a:spcPts val="0"/>
              </a:spcBef>
              <a:spcAft>
                <a:spcPts val="0"/>
              </a:spcAft>
              <a:buClr>
                <a:srgbClr val="5C7C5C"/>
              </a:buClr>
              <a:buSzPct val="100000"/>
              <a:buFont typeface="Aptos" charset="0"/>
              <a:buChar char="●"/>
            </a:pPr>
            <a:r>
              <a:rPr sz="1250" b="0" i="0">
                <a:solidFill>
                  <a:srgbClr val="40401E"/>
                </a:solidFill>
                <a:latin typeface="Aptos"/>
              </a:rPr>
              <a:t>Encoder processes entire input simultaneously creating comprehensive understanding without sequential constraints</a:t>
            </a:r>
            <a:r>
              <a:rPr sz="900" b="0" i="0" dirty="0">
                <a:solidFill>
                  <a:srgbClr val="3B593A"/>
                </a:solidFill>
                <a:latin typeface="Aptos"/>
              </a:rPr>
              <a:t> </a:t>
            </a:r>
            <a:endParaRPr lang="en-US" sz="900" b="0" i="0" dirty="0">
              <a:solidFill>
                <a:srgbClr val="3B593A"/>
              </a:solidFill>
              <a:latin typeface="Aptos"/>
            </a:endParaRPr>
          </a:p>
          <a:p>
            <a:pPr marL="212725" indent="-212725">
              <a:lnSpc>
                <a:spcPts val="2073"/>
              </a:lnSpc>
              <a:spcBef>
                <a:spcPts val="1200"/>
              </a:spcBef>
              <a:buClr>
                <a:srgbClr val="5C7C5C"/>
              </a:buClr>
              <a:buSzPct val="100000"/>
              <a:buFont typeface="Aptos" charset="0"/>
              <a:buChar char="●"/>
            </a:pPr>
            <a:r>
              <a:rPr sz="1250" b="0" i="0" dirty="0">
                <a:solidFill>
                  <a:srgbClr val="40401E"/>
                </a:solidFill>
                <a:latin typeface="Aptos"/>
              </a:rPr>
              <a:t>Decoder generates output autoregressively, predicting one word at a time while attending to </a:t>
            </a:r>
            <a:r>
              <a:rPr sz="1250" b="0" i="0">
                <a:solidFill>
                  <a:srgbClr val="40401E"/>
                </a:solidFill>
                <a:latin typeface="Aptos"/>
              </a:rPr>
              <a:t>previous </a:t>
            </a:r>
            <a:r>
              <a:rPr lang="en-US" sz="1250" dirty="0">
                <a:solidFill>
                  <a:srgbClr val="40401E"/>
                </a:solidFill>
                <a:latin typeface="Aptos"/>
              </a:rPr>
              <a:t> </a:t>
            </a:r>
            <a:r>
              <a:rPr sz="1250" b="0" i="0" dirty="0">
                <a:solidFill>
                  <a:srgbClr val="40401E"/>
                </a:solidFill>
                <a:latin typeface="Aptos"/>
              </a:rPr>
              <a:t>words and encoder output</a:t>
            </a:r>
          </a:p>
          <a:p>
            <a:pPr marL="212725" indent="-212725" algn="l">
              <a:lnSpc>
                <a:spcPts val="2073"/>
              </a:lnSpc>
              <a:spcBef>
                <a:spcPts val="1200"/>
              </a:spcBef>
              <a:spcAft>
                <a:spcPts val="0"/>
              </a:spcAft>
              <a:buClr>
                <a:srgbClr val="5C7C5C"/>
              </a:buClr>
              <a:buSzPct val="100000"/>
              <a:buFont typeface="Aptos" charset="0"/>
              <a:buChar char="●"/>
            </a:pPr>
            <a:r>
              <a:rPr sz="1250" b="0" i="0">
                <a:solidFill>
                  <a:srgbClr val="40401E"/>
                </a:solidFill>
                <a:latin typeface="Aptos"/>
              </a:rPr>
              <a:t>Originally designed for machine translation where source language goes through encoder and target is generated by decoder</a:t>
            </a:r>
            <a:endParaRPr sz="900" b="0" i="0">
              <a:solidFill>
                <a:srgbClr val="3B593A"/>
              </a:solidFill>
              <a:latin typeface="Aptos"/>
            </a:endParaRPr>
          </a:p>
          <a:p>
            <a:pPr marL="212725" indent="-212725" algn="l">
              <a:lnSpc>
                <a:spcPts val="2073"/>
              </a:lnSpc>
              <a:spcBef>
                <a:spcPts val="1200"/>
              </a:spcBef>
              <a:spcAft>
                <a:spcPts val="0"/>
              </a:spcAft>
              <a:buClr>
                <a:srgbClr val="5C7C5C"/>
              </a:buClr>
              <a:buSzPct val="100000"/>
              <a:buFont typeface="Aptos" charset="0"/>
              <a:buChar char="●"/>
            </a:pPr>
            <a:r>
              <a:rPr sz="1295" b="0" i="0">
                <a:solidFill>
                  <a:srgbClr val="40401E"/>
                </a:solidFill>
                <a:latin typeface="Aptos"/>
              </a:rPr>
              <a:t>Both use stacked layers with self-attention, feed-forward networks, residual connections, and layer normalization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04792" y="1371565"/>
          <a:ext cx="5486262" cy="374531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71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36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66" b="1" i="0">
                          <a:solidFill>
                            <a:srgbClr val="3B593A"/>
                          </a:solidFill>
                          <a:latin typeface="Lora"/>
                        </a:rPr>
                        <a:t>Component</a:t>
                      </a:r>
                    </a:p>
                  </a:txBody>
                  <a:tcPr anchor="ctr">
                    <a:lnB w="19050" cmpd="sng">
                      <a:solidFill>
                        <a:srgbClr val="3B593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66" b="1" i="0">
                          <a:solidFill>
                            <a:srgbClr val="3B593A"/>
                          </a:solidFill>
                          <a:latin typeface="Lora"/>
                        </a:rPr>
                        <a:t>Purpose</a:t>
                      </a:r>
                    </a:p>
                  </a:txBody>
                  <a:tcPr anchor="ctr">
                    <a:lnB w="19050" cmpd="sng">
                      <a:solidFill>
                        <a:srgbClr val="3B593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66" b="1" i="0">
                          <a:solidFill>
                            <a:srgbClr val="3B593A"/>
                          </a:solidFill>
                          <a:latin typeface="Lora"/>
                        </a:rPr>
                        <a:t>Attention Type</a:t>
                      </a:r>
                    </a:p>
                  </a:txBody>
                  <a:tcPr anchor="ctr">
                    <a:lnB w="19050" cmpd="sng">
                      <a:solidFill>
                        <a:srgbClr val="3B593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66" b="1" i="0">
                          <a:solidFill>
                            <a:srgbClr val="3B593A"/>
                          </a:solidFill>
                          <a:latin typeface="Lora"/>
                        </a:rPr>
                        <a:t>Use Case</a:t>
                      </a:r>
                    </a:p>
                  </a:txBody>
                  <a:tcPr anchor="ctr">
                    <a:lnB w="19050" cmpd="sng">
                      <a:solidFill>
                        <a:srgbClr val="3B593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63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87" b="0" i="0">
                          <a:solidFill>
                            <a:srgbClr val="40401E"/>
                          </a:solidFill>
                          <a:latin typeface="Aptos"/>
                        </a:rPr>
                        <a:t>Encoder</a:t>
                      </a:r>
                    </a:p>
                  </a:txBody>
                  <a:tcPr anchor="ctr">
                    <a:lnT w="19050" cap="flat" cmpd="sng" algn="ctr">
                      <a:solidFill>
                        <a:srgbClr val="3B5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8D6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87" b="0" i="0">
                          <a:solidFill>
                            <a:srgbClr val="40401E"/>
                          </a:solidFill>
                          <a:latin typeface="Aptos"/>
                        </a:rPr>
                        <a:t>Process input sequence and create rich representations</a:t>
                      </a:r>
                    </a:p>
                  </a:txBody>
                  <a:tcPr anchor="ctr">
                    <a:lnT w="19050" cap="flat" cmpd="sng" algn="ctr">
                      <a:solidFill>
                        <a:srgbClr val="3B5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8D6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87" b="0" i="0">
                          <a:solidFill>
                            <a:srgbClr val="40401E"/>
                          </a:solidFill>
                          <a:latin typeface="Aptos"/>
                        </a:rPr>
                        <a:t>Bidirectional (sees all words)</a:t>
                      </a:r>
                    </a:p>
                  </a:txBody>
                  <a:tcPr anchor="ctr">
                    <a:lnT w="19050" cap="flat" cmpd="sng" algn="ctr">
                      <a:solidFill>
                        <a:srgbClr val="3B5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8D6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87" b="0" i="0">
                          <a:solidFill>
                            <a:srgbClr val="40401E"/>
                          </a:solidFill>
                          <a:latin typeface="Aptos"/>
                        </a:rPr>
                        <a:t>Understanding input context</a:t>
                      </a:r>
                    </a:p>
                  </a:txBody>
                  <a:tcPr anchor="ctr">
                    <a:lnT w="19050" cap="flat" cmpd="sng" algn="ctr">
                      <a:solidFill>
                        <a:srgbClr val="3B5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8D6D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63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87" b="0" i="0">
                          <a:solidFill>
                            <a:srgbClr val="40401E"/>
                          </a:solidFill>
                          <a:latin typeface="Aptos"/>
                        </a:rPr>
                        <a:t>Decoder</a:t>
                      </a:r>
                    </a:p>
                  </a:txBody>
                  <a:tcPr anchor="ctr">
                    <a:lnT w="9525" cap="flat" cmpd="sng" algn="ctr">
                      <a:solidFill>
                        <a:srgbClr val="D8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FC1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87" b="0" i="0">
                          <a:solidFill>
                            <a:srgbClr val="40401E"/>
                          </a:solidFill>
                          <a:latin typeface="Aptos"/>
                        </a:rPr>
                        <a:t>Generate output sequence one token at a time</a:t>
                      </a:r>
                    </a:p>
                  </a:txBody>
                  <a:tcPr anchor="ctr">
                    <a:lnT w="9525" cap="flat" cmpd="sng" algn="ctr">
                      <a:solidFill>
                        <a:srgbClr val="D8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FC1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87" b="0" i="0">
                          <a:solidFill>
                            <a:srgbClr val="40401E"/>
                          </a:solidFill>
                          <a:latin typeface="Aptos"/>
                        </a:rPr>
                        <a:t>Causal (only sees past words)</a:t>
                      </a:r>
                    </a:p>
                  </a:txBody>
                  <a:tcPr anchor="ctr">
                    <a:lnT w="9525" cap="flat" cmpd="sng" algn="ctr">
                      <a:solidFill>
                        <a:srgbClr val="D8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FC1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87" b="0" i="0">
                          <a:solidFill>
                            <a:srgbClr val="40401E"/>
                          </a:solidFill>
                          <a:latin typeface="Aptos"/>
                        </a:rPr>
                        <a:t>Text generation and translation</a:t>
                      </a:r>
                    </a:p>
                  </a:txBody>
                  <a:tcPr anchor="ctr">
                    <a:lnT w="9525" cap="flat" cmpd="sng" algn="ctr">
                      <a:solidFill>
                        <a:srgbClr val="D8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FC1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63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87" b="0" i="0">
                          <a:solidFill>
                            <a:srgbClr val="40401E"/>
                          </a:solidFill>
                          <a:latin typeface="Aptos"/>
                        </a:rPr>
                        <a:t>Cross-Attention</a:t>
                      </a:r>
                    </a:p>
                  </a:txBody>
                  <a:tcPr anchor="ctr">
                    <a:lnB w="9525" cmpd="sng">
                      <a:solidFill>
                        <a:srgbClr val="D8D6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87" b="0" i="0">
                          <a:solidFill>
                            <a:srgbClr val="40401E"/>
                          </a:solidFill>
                          <a:latin typeface="Aptos"/>
                        </a:rPr>
                        <a:t>Decoder attends to encoder outputs</a:t>
                      </a:r>
                    </a:p>
                  </a:txBody>
                  <a:tcPr anchor="ctr">
                    <a:lnB w="9525" cmpd="sng">
                      <a:solidFill>
                        <a:srgbClr val="D8D6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87" b="0" i="0">
                          <a:solidFill>
                            <a:srgbClr val="40401E"/>
                          </a:solidFill>
                          <a:latin typeface="Aptos"/>
                        </a:rPr>
                        <a:t>Decoder-to-encoder</a:t>
                      </a:r>
                    </a:p>
                  </a:txBody>
                  <a:tcPr anchor="ctr">
                    <a:lnB w="9525" cmpd="sng">
                      <a:solidFill>
                        <a:srgbClr val="D8D6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87" b="0" i="0">
                          <a:solidFill>
                            <a:srgbClr val="40401E"/>
                          </a:solidFill>
                          <a:latin typeface="Aptos"/>
                        </a:rPr>
                        <a:t>Connect input and output sequences</a:t>
                      </a:r>
                    </a:p>
                  </a:txBody>
                  <a:tcPr anchor="ctr">
                    <a:lnB w="9525" cmpd="sng">
                      <a:solidFill>
                        <a:srgbClr val="D8D6D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6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solidFill>
            <a:srgbClr val="E9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09" y="0"/>
            <a:ext cx="4571885" cy="68578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4792" y="1426481"/>
            <a:ext cx="6425344" cy="1058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109" b="1" i="0">
                <a:solidFill>
                  <a:srgbClr val="3B593A"/>
                </a:solidFill>
                <a:latin typeface="Lora"/>
              </a:rPr>
              <a:t>BERT: The Bidirectional Encoder Champion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792" y="2724825"/>
            <a:ext cx="7010224" cy="25178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7485" indent="-197485" algn="l">
              <a:lnSpc>
                <a:spcPts val="2073"/>
              </a:lnSpc>
              <a:spcBef>
                <a:spcPts val="0"/>
              </a:spcBef>
              <a:spcAft>
                <a:spcPts val="0"/>
              </a:spcAft>
              <a:buClr>
                <a:srgbClr val="5C7C5C"/>
              </a:buClr>
              <a:buSzPct val="100000"/>
              <a:buFont typeface="Aptos" charset="0"/>
              <a:buChar char="●"/>
            </a:pPr>
            <a:r>
              <a:rPr sz="1250" b="0" i="0">
                <a:solidFill>
                  <a:srgbClr val="40401E"/>
                </a:solidFill>
                <a:latin typeface="Aptos"/>
              </a:rPr>
              <a:t>Developed by Google in 2018, BERT stands for Bidirectional Encoder Representations from Transformers </a:t>
            </a:r>
            <a:endParaRPr lang="en-US" sz="900">
              <a:solidFill>
                <a:srgbClr val="3B593A"/>
              </a:solidFill>
              <a:latin typeface="Aptos"/>
            </a:endParaRPr>
          </a:p>
          <a:p>
            <a:pPr marL="197485" indent="-197485" algn="l">
              <a:lnSpc>
                <a:spcPts val="2073"/>
              </a:lnSpc>
              <a:spcBef>
                <a:spcPts val="959"/>
              </a:spcBef>
              <a:spcAft>
                <a:spcPts val="0"/>
              </a:spcAft>
              <a:buClr>
                <a:srgbClr val="5C7C5C"/>
              </a:buClr>
              <a:buSzPct val="100000"/>
              <a:buFont typeface="Aptos" charset="0"/>
              <a:buChar char="●"/>
            </a:pPr>
            <a:r>
              <a:rPr sz="1250" b="0" i="0">
                <a:solidFill>
                  <a:srgbClr val="40401E"/>
                </a:solidFill>
                <a:latin typeface="Aptos"/>
              </a:rPr>
              <a:t>Uses 12 layers in base model and 24 layers in large model, consisting entirely of stacked transformer encoders </a:t>
            </a:r>
            <a:r>
              <a:rPr sz="900" b="0" i="0" dirty="0">
                <a:solidFill>
                  <a:srgbClr val="3B593A"/>
                </a:solidFill>
                <a:latin typeface="Aptos"/>
              </a:rPr>
              <a:t> </a:t>
            </a:r>
          </a:p>
          <a:p>
            <a:pPr marL="197485" indent="-197485" algn="l">
              <a:lnSpc>
                <a:spcPts val="2073"/>
              </a:lnSpc>
              <a:spcBef>
                <a:spcPts val="959"/>
              </a:spcBef>
              <a:spcAft>
                <a:spcPts val="0"/>
              </a:spcAft>
              <a:buClr>
                <a:srgbClr val="5C7C5C"/>
              </a:buClr>
              <a:buSzPct val="100000"/>
              <a:buFont typeface="Aptos" charset="0"/>
              <a:buChar char="●"/>
            </a:pPr>
            <a:r>
              <a:rPr sz="1250" b="0" i="0">
                <a:solidFill>
                  <a:srgbClr val="40401E"/>
                </a:solidFill>
                <a:latin typeface="Aptos"/>
              </a:rPr>
              <a:t>Bidirectional training allows model to consider context from both directions when processing each word </a:t>
            </a:r>
            <a:r>
              <a:rPr sz="900" b="0" i="0" dirty="0">
                <a:solidFill>
                  <a:srgbClr val="3B593A"/>
                </a:solidFill>
                <a:latin typeface="Aptos"/>
              </a:rPr>
              <a:t> </a:t>
            </a:r>
          </a:p>
          <a:p>
            <a:pPr marL="197485" indent="-197485" algn="l">
              <a:lnSpc>
                <a:spcPts val="2073"/>
              </a:lnSpc>
              <a:spcBef>
                <a:spcPts val="959"/>
              </a:spcBef>
              <a:spcAft>
                <a:spcPts val="0"/>
              </a:spcAft>
              <a:buClr>
                <a:srgbClr val="5C7C5C"/>
              </a:buClr>
              <a:buSzPct val="100000"/>
              <a:buFont typeface="Aptos" charset="0"/>
              <a:buChar char="●"/>
            </a:pPr>
            <a:r>
              <a:rPr sz="1250" b="0" i="0">
                <a:solidFill>
                  <a:srgbClr val="40401E"/>
                </a:solidFill>
                <a:latin typeface="Aptos"/>
              </a:rPr>
              <a:t>Self-attention mechanism enables each word to see and learn from every other word in sentence simultaneously </a:t>
            </a:r>
            <a:r>
              <a:rPr sz="900" b="0" i="0" dirty="0">
                <a:solidFill>
                  <a:srgbClr val="3B593A"/>
                </a:solidFill>
                <a:latin typeface="Aptos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6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51514" y="0"/>
            <a:ext cx="4840485" cy="6858000"/>
          </a:xfrm>
          <a:prstGeom prst="rect">
            <a:avLst/>
          </a:prstGeom>
          <a:solidFill>
            <a:srgbClr val="D4C5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56314" y="92273"/>
            <a:ext cx="4230885" cy="908000"/>
          </a:xfrm>
          <a:prstGeom prst="roundRect">
            <a:avLst>
              <a:gd name="adj" fmla="val 16784"/>
            </a:avLst>
          </a:prstGeom>
          <a:solidFill>
            <a:srgbClr val="EDDA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85756" y="1166932"/>
            <a:ext cx="171513" cy="20000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56314" y="1533673"/>
            <a:ext cx="4230885" cy="908000"/>
          </a:xfrm>
          <a:prstGeom prst="roundRect">
            <a:avLst>
              <a:gd name="adj" fmla="val 16784"/>
            </a:avLst>
          </a:prstGeom>
          <a:solidFill>
            <a:srgbClr val="EDDA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85756" y="2608296"/>
            <a:ext cx="171513" cy="2000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56314" y="2975074"/>
            <a:ext cx="4230885" cy="908000"/>
          </a:xfrm>
          <a:prstGeom prst="roundRect">
            <a:avLst>
              <a:gd name="adj" fmla="val 16784"/>
            </a:avLst>
          </a:prstGeom>
          <a:solidFill>
            <a:srgbClr val="EDDA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85756" y="4049660"/>
            <a:ext cx="171513" cy="20000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56314" y="4416474"/>
            <a:ext cx="4230885" cy="908000"/>
          </a:xfrm>
          <a:prstGeom prst="roundRect">
            <a:avLst>
              <a:gd name="adj" fmla="val 16784"/>
            </a:avLst>
          </a:prstGeom>
          <a:solidFill>
            <a:srgbClr val="EDDA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85756" y="5491025"/>
            <a:ext cx="171513" cy="20000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656314" y="5857875"/>
            <a:ext cx="4230885" cy="908000"/>
          </a:xfrm>
          <a:prstGeom prst="roundRect">
            <a:avLst>
              <a:gd name="adj" fmla="val 16784"/>
            </a:avLst>
          </a:prstGeom>
          <a:solidFill>
            <a:srgbClr val="EDDA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4792" y="1280187"/>
            <a:ext cx="5242786" cy="1058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109" b="1" i="0">
                <a:solidFill>
                  <a:srgbClr val="3B593A"/>
                </a:solidFill>
                <a:latin typeface="Lora"/>
              </a:rPr>
              <a:t>How BERT Learns: Masked Language Modeling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8878" y="275027"/>
            <a:ext cx="913633" cy="22859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81" b="1" i="0">
                <a:solidFill>
                  <a:srgbClr val="3B593A"/>
                </a:solidFill>
                <a:latin typeface="Lora"/>
              </a:rPr>
              <a:t>Input 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8878" y="607947"/>
            <a:ext cx="1770266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79" b="0" i="0">
                <a:solidFill>
                  <a:srgbClr val="40401E"/>
                </a:solidFill>
                <a:latin typeface="Aptos"/>
              </a:rPr>
              <a:t>"The cat sat on the [MASK]"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8878" y="1716391"/>
            <a:ext cx="1513692" cy="22859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81" b="1" i="0">
                <a:solidFill>
                  <a:srgbClr val="3B593A"/>
                </a:solidFill>
                <a:latin typeface="Lora"/>
              </a:rPr>
              <a:t>Random Masking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8878" y="2049312"/>
            <a:ext cx="2746703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79" b="0" i="0">
                <a:solidFill>
                  <a:srgbClr val="40401E"/>
                </a:solidFill>
                <a:latin typeface="Aptos"/>
              </a:rPr>
              <a:t>15% of tokens replaced with [MASK] token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38878" y="3157756"/>
            <a:ext cx="2137416" cy="22859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81" b="1" i="0">
                <a:solidFill>
                  <a:srgbClr val="3B593A"/>
                </a:solidFill>
                <a:latin typeface="Lora"/>
              </a:rPr>
              <a:t>Bidirectional 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38878" y="3490676"/>
            <a:ext cx="2898504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79" b="0" i="0">
                <a:solidFill>
                  <a:srgbClr val="40401E"/>
                </a:solidFill>
                <a:latin typeface="Aptos"/>
              </a:rPr>
              <a:t>Model analyzes context from both directions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38878" y="4599120"/>
            <a:ext cx="920032" cy="22859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81" b="1" i="0">
                <a:solidFill>
                  <a:srgbClr val="3B593A"/>
                </a:solidFill>
                <a:latin typeface="Lora"/>
              </a:rPr>
              <a:t>Prediction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8878" y="4932040"/>
            <a:ext cx="2770366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79" b="0" i="0">
                <a:solidFill>
                  <a:srgbClr val="40401E"/>
                </a:solidFill>
                <a:latin typeface="Aptos"/>
              </a:rPr>
              <a:t>Uses left and right context to predict "mat"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38878" y="6040484"/>
            <a:ext cx="786983" cy="22859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81" b="1" i="0">
                <a:solidFill>
                  <a:srgbClr val="3B593A"/>
                </a:solidFill>
                <a:latin typeface="Lora"/>
              </a:rPr>
              <a:t>Learning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38878" y="6373405"/>
            <a:ext cx="3865267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79" b="0" i="0">
                <a:solidFill>
                  <a:srgbClr val="40401E"/>
                </a:solidFill>
                <a:latin typeface="Aptos"/>
              </a:rPr>
              <a:t>Develops rich representations capturing word relationships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4792" y="2578531"/>
            <a:ext cx="6741745" cy="25178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9865" indent="-189865" algn="l">
              <a:lnSpc>
                <a:spcPts val="2073"/>
              </a:lnSpc>
              <a:spcBef>
                <a:spcPts val="0"/>
              </a:spcBef>
              <a:spcAft>
                <a:spcPts val="0"/>
              </a:spcAft>
              <a:buClr>
                <a:srgbClr val="5C7C5C"/>
              </a:buClr>
              <a:buSzPct val="100000"/>
              <a:buFont typeface="Aptos" charset="0"/>
              <a:buChar char="●"/>
            </a:pPr>
            <a:r>
              <a:rPr sz="1250" b="0" i="0">
                <a:solidFill>
                  <a:srgbClr val="40401E"/>
                </a:solidFill>
                <a:latin typeface="Aptos"/>
              </a:rPr>
              <a:t>During training approximately 15% of tokens are randomly masked, forcing model to develop rich representations that capture deep relationships between words </a:t>
            </a:r>
            <a:r>
              <a:rPr sz="900" b="0" i="0" dirty="0">
                <a:solidFill>
                  <a:srgbClr val="3B593A"/>
                </a:solidFill>
                <a:latin typeface="Aptos"/>
              </a:rPr>
              <a:t> </a:t>
            </a:r>
            <a:endParaRPr lang="en-US" sz="900" b="0" i="0" dirty="0">
              <a:solidFill>
                <a:srgbClr val="3B593A"/>
              </a:solidFill>
              <a:latin typeface="Aptos"/>
            </a:endParaRPr>
          </a:p>
          <a:p>
            <a:pPr marL="189865" indent="-189865" algn="l">
              <a:lnSpc>
                <a:spcPts val="2073"/>
              </a:lnSpc>
              <a:spcBef>
                <a:spcPts val="959"/>
              </a:spcBef>
              <a:spcAft>
                <a:spcPts val="0"/>
              </a:spcAft>
              <a:buClr>
                <a:srgbClr val="5C7C5C"/>
              </a:buClr>
              <a:buSzPct val="100000"/>
              <a:buFont typeface="Aptos" charset="0"/>
              <a:buChar char="●"/>
            </a:pPr>
            <a:r>
              <a:rPr sz="1250" b="0" i="0">
                <a:solidFill>
                  <a:srgbClr val="40401E"/>
                </a:solidFill>
                <a:latin typeface="Aptos"/>
              </a:rPr>
              <a:t>Unlike sequential models, BERT can use words from both left and right of each masked token, creating much richer understanding than unidirectional approaches </a:t>
            </a:r>
            <a:endParaRPr sz="1250" b="0" i="0">
              <a:solidFill>
                <a:srgbClr val="3B593A"/>
              </a:solidFill>
              <a:latin typeface="Aptos"/>
            </a:endParaRPr>
          </a:p>
          <a:p>
            <a:pPr marL="189865" indent="-189865" algn="l">
              <a:lnSpc>
                <a:spcPts val="2073"/>
              </a:lnSpc>
              <a:spcBef>
                <a:spcPts val="959"/>
              </a:spcBef>
              <a:spcAft>
                <a:spcPts val="0"/>
              </a:spcAft>
              <a:buClr>
                <a:srgbClr val="5C7C5C"/>
              </a:buClr>
              <a:buSzPct val="100000"/>
              <a:buFont typeface="Aptos" charset="0"/>
              <a:buChar char="●"/>
            </a:pPr>
            <a:r>
              <a:rPr sz="1250" b="0" i="0">
                <a:solidFill>
                  <a:srgbClr val="40401E"/>
                </a:solidFill>
                <a:latin typeface="Aptos"/>
              </a:rPr>
              <a:t>Masked Language Modeling enables parallel processing where all positions are processed simultaneously during training making it highly efficient </a:t>
            </a:r>
            <a:endParaRPr sz="1250" b="0" i="0">
              <a:solidFill>
                <a:srgbClr val="3B593A"/>
              </a:solidFill>
              <a:latin typeface="Aptos"/>
            </a:endParaRPr>
          </a:p>
          <a:p>
            <a:pPr marL="189865" indent="-189865" algn="l">
              <a:lnSpc>
                <a:spcPts val="2073"/>
              </a:lnSpc>
              <a:spcBef>
                <a:spcPts val="959"/>
              </a:spcBef>
              <a:spcAft>
                <a:spcPts val="0"/>
              </a:spcAft>
              <a:buClr>
                <a:srgbClr val="5C7C5C"/>
              </a:buClr>
              <a:buSzPct val="100000"/>
              <a:buFont typeface="Aptos" charset="0"/>
              <a:buChar char="●"/>
            </a:pPr>
            <a:r>
              <a:rPr sz="1250" b="0" i="0">
                <a:solidFill>
                  <a:srgbClr val="40401E"/>
                </a:solidFill>
                <a:latin typeface="Aptos"/>
              </a:rPr>
              <a:t>Additional Next Sentence Prediction task trains BERT to understand relationships between sentence pairs for better contextual comprehension </a:t>
            </a:r>
            <a:endParaRPr sz="900" b="0" i="0">
              <a:solidFill>
                <a:srgbClr val="3B593A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6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04800" y="1144488"/>
            <a:ext cx="5638800" cy="1286916"/>
          </a:xfrm>
          <a:prstGeom prst="roundRect">
            <a:avLst>
              <a:gd name="adj" fmla="val 11842"/>
            </a:avLst>
          </a:prstGeom>
          <a:solidFill>
            <a:srgbClr val="F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1144488"/>
            <a:ext cx="5638800" cy="1286916"/>
          </a:xfrm>
          <a:prstGeom prst="roundRect">
            <a:avLst>
              <a:gd name="adj" fmla="val 11842"/>
            </a:avLst>
          </a:prstGeom>
          <a:solidFill>
            <a:srgbClr val="F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04792" y="304792"/>
            <a:ext cx="6215204" cy="52386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109" b="1" i="0">
                <a:solidFill>
                  <a:srgbClr val="3B593A"/>
                </a:solidFill>
                <a:latin typeface="Lora"/>
              </a:rPr>
              <a:t>BERT's Real-World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1334954"/>
            <a:ext cx="2539688" cy="533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167" b="1" i="0">
                <a:solidFill>
                  <a:srgbClr val="C97950"/>
                </a:solidFill>
                <a:latin typeface="Lora"/>
              </a:rPr>
              <a:t>11 NLP Tasks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386" y="1938735"/>
            <a:ext cx="3931974" cy="192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40401E"/>
                </a:solidFill>
                <a:latin typeface="Aptos"/>
              </a:rPr>
              <a:t>BERT set new benchmarks across diverse language tasks</a:t>
            </a:r>
            <a:r>
              <a:rPr sz="900" b="0" i="0" dirty="0">
                <a:solidFill>
                  <a:srgbClr val="3B593A"/>
                </a:solidFill>
                <a:latin typeface="Aptos"/>
              </a:rPr>
              <a:t> </a:t>
            </a:r>
            <a:endParaRPr lang="en-US" sz="900" b="0" i="0" dirty="0">
              <a:solidFill>
                <a:srgbClr val="3B593A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76837" y="1334954"/>
            <a:ext cx="2521680" cy="533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167" b="1" i="0">
                <a:solidFill>
                  <a:srgbClr val="C97950"/>
                </a:solidFill>
                <a:latin typeface="Lora"/>
              </a:rPr>
              <a:t>2018 Release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6837" y="1938735"/>
            <a:ext cx="4081245" cy="192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40401E"/>
                </a:solidFill>
                <a:latin typeface="Aptos"/>
              </a:rPr>
              <a:t>Adopted by Google to improve search query understanding</a:t>
            </a:r>
            <a:r>
              <a:rPr sz="900" b="0" i="0" dirty="0">
                <a:solidFill>
                  <a:srgbClr val="3B593A"/>
                </a:solidFill>
                <a:latin typeface="Aptos"/>
              </a:rPr>
              <a:t> </a:t>
            </a:r>
            <a:endParaRPr lang="en-US" sz="900" b="0" i="0" dirty="0">
              <a:solidFill>
                <a:srgbClr val="3B593A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4792" y="2812334"/>
            <a:ext cx="5638658" cy="1851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7005" indent="-167005">
              <a:lnSpc>
                <a:spcPts val="2073"/>
              </a:lnSpc>
              <a:buClr>
                <a:srgbClr val="5C7C5C"/>
              </a:buClr>
              <a:buSzPct val="100000"/>
              <a:buFont typeface="Aptos" charset="0"/>
              <a:buChar char="●"/>
            </a:pPr>
            <a:r>
              <a:rPr sz="1250" b="0" i="0" dirty="0">
                <a:solidFill>
                  <a:srgbClr val="40401E"/>
                </a:solidFill>
                <a:latin typeface="Aptos"/>
              </a:rPr>
              <a:t>Sentiment analysis and text classification </a:t>
            </a:r>
            <a:r>
              <a:rPr sz="1250" b="0" i="0">
                <a:solidFill>
                  <a:srgbClr val="40401E"/>
                </a:solidFill>
                <a:latin typeface="Aptos"/>
              </a:rPr>
              <a:t>leveraging </a:t>
            </a:r>
            <a:r>
              <a:rPr lang="en-US" sz="1250" dirty="0">
                <a:solidFill>
                  <a:srgbClr val="40401E"/>
                </a:solidFill>
                <a:latin typeface="Aptos"/>
              </a:rPr>
              <a:t> </a:t>
            </a:r>
            <a:r>
              <a:rPr sz="1250" b="0" i="0" dirty="0">
                <a:solidFill>
                  <a:srgbClr val="40401E"/>
                </a:solidFill>
                <a:latin typeface="Aptos"/>
              </a:rPr>
              <a:t>bidirectional context to </a:t>
            </a:r>
            <a:r>
              <a:rPr sz="1250" b="0" i="0">
                <a:solidFill>
                  <a:srgbClr val="40401E"/>
                </a:solidFill>
                <a:latin typeface="Aptos"/>
              </a:rPr>
              <a:t>understand nuanced meaning and emotional tone</a:t>
            </a:r>
            <a:endParaRPr lang="en-US" sz="900">
              <a:solidFill>
                <a:srgbClr val="3B593A"/>
              </a:solidFill>
              <a:latin typeface="Aptos"/>
            </a:endParaRPr>
          </a:p>
          <a:p>
            <a:pPr marL="167005" indent="-167005" algn="l">
              <a:lnSpc>
                <a:spcPts val="2073"/>
              </a:lnSpc>
              <a:spcBef>
                <a:spcPts val="959"/>
              </a:spcBef>
              <a:spcAft>
                <a:spcPts val="0"/>
              </a:spcAft>
              <a:buClr>
                <a:srgbClr val="5C7C5C"/>
              </a:buClr>
              <a:buSzPct val="100000"/>
              <a:buFont typeface="Aptos" charset="0"/>
              <a:buChar char="●"/>
            </a:pPr>
            <a:r>
              <a:rPr sz="1250" b="0" i="0">
                <a:solidFill>
                  <a:srgbClr val="40401E"/>
                </a:solidFill>
                <a:latin typeface="Aptos"/>
              </a:rPr>
              <a:t>Question answering systems where BERT reads passages and extracts precise answers by understanding relationships</a:t>
            </a:r>
            <a:r>
              <a:rPr sz="900" b="0" i="0" dirty="0">
                <a:solidFill>
                  <a:srgbClr val="3B593A"/>
                </a:solidFill>
                <a:latin typeface="Aptos"/>
              </a:rPr>
              <a:t> </a:t>
            </a:r>
          </a:p>
          <a:p>
            <a:pPr marL="167005" indent="-167005" algn="l">
              <a:lnSpc>
                <a:spcPts val="2073"/>
              </a:lnSpc>
              <a:spcBef>
                <a:spcPts val="959"/>
              </a:spcBef>
              <a:spcAft>
                <a:spcPts val="0"/>
              </a:spcAft>
              <a:buClr>
                <a:srgbClr val="5C7C5C"/>
              </a:buClr>
              <a:buSzPct val="100000"/>
              <a:buFont typeface="Aptos" charset="0"/>
              <a:buChar char="●"/>
            </a:pPr>
            <a:r>
              <a:rPr sz="1250" b="0" i="0">
                <a:solidFill>
                  <a:srgbClr val="40401E"/>
                </a:solidFill>
                <a:latin typeface="Aptos"/>
              </a:rPr>
              <a:t>Google Search integration improves query understanding by analyzing search terms bidirectionally for more relevant results</a:t>
            </a:r>
            <a:r>
              <a:rPr sz="900" b="0" i="0" dirty="0">
                <a:solidFill>
                  <a:srgbClr val="3B593A"/>
                </a:solidFill>
                <a:latin typeface="Aptos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8243" y="2812334"/>
            <a:ext cx="5638658" cy="1851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7005" indent="-167005">
              <a:lnSpc>
                <a:spcPts val="2073"/>
              </a:lnSpc>
              <a:buClr>
                <a:srgbClr val="5C7C5C"/>
              </a:buClr>
              <a:buSzPct val="100000"/>
              <a:buFont typeface="Aptos" charset="0"/>
              <a:buChar char="●"/>
            </a:pPr>
            <a:r>
              <a:rPr sz="1250" b="0" i="0">
                <a:solidFill>
                  <a:srgbClr val="40401E"/>
                </a:solidFill>
                <a:latin typeface="Aptos"/>
              </a:rPr>
              <a:t>Named Entity Recognition </a:t>
            </a:r>
            <a:r>
              <a:rPr lang="en-US" sz="1250" dirty="0">
                <a:solidFill>
                  <a:srgbClr val="40401E"/>
                </a:solidFill>
                <a:latin typeface="Aptos"/>
              </a:rPr>
              <a:t> </a:t>
            </a:r>
            <a:r>
              <a:rPr sz="1250" b="0" i="0" dirty="0">
                <a:solidFill>
                  <a:srgbClr val="40401E"/>
                </a:solidFill>
                <a:latin typeface="Aptos"/>
              </a:rPr>
              <a:t>identifies </a:t>
            </a:r>
            <a:r>
              <a:rPr lang="en-US" sz="1250" dirty="0">
                <a:solidFill>
                  <a:srgbClr val="40401E"/>
                </a:solidFill>
                <a:latin typeface="Aptos"/>
              </a:rPr>
              <a:t>  </a:t>
            </a:r>
            <a:r>
              <a:rPr sz="1250" b="0" i="0" dirty="0">
                <a:solidFill>
                  <a:srgbClr val="40401E"/>
                </a:solidFill>
                <a:latin typeface="Aptos"/>
              </a:rPr>
              <a:t>people, places, organizations in text by </a:t>
            </a:r>
            <a:r>
              <a:rPr sz="1250" b="0" i="0">
                <a:solidFill>
                  <a:srgbClr val="40401E"/>
                </a:solidFill>
                <a:latin typeface="Aptos"/>
              </a:rPr>
              <a:t>understanding contextual clues from surrounding words</a:t>
            </a:r>
            <a:endParaRPr lang="en-US" sz="900">
              <a:solidFill>
                <a:srgbClr val="3B593A"/>
              </a:solidFill>
              <a:latin typeface="Aptos"/>
            </a:endParaRPr>
          </a:p>
          <a:p>
            <a:pPr marL="167005" indent="-167005" algn="l">
              <a:lnSpc>
                <a:spcPts val="2073"/>
              </a:lnSpc>
              <a:spcBef>
                <a:spcPts val="959"/>
              </a:spcBef>
              <a:spcAft>
                <a:spcPts val="0"/>
              </a:spcAft>
              <a:buClr>
                <a:srgbClr val="5C7C5C"/>
              </a:buClr>
              <a:buSzPct val="100000"/>
              <a:buFont typeface="Aptos" charset="0"/>
              <a:buChar char="●"/>
            </a:pPr>
            <a:r>
              <a:rPr sz="1295" b="0" i="0">
                <a:solidFill>
                  <a:srgbClr val="40401E"/>
                </a:solidFill>
                <a:latin typeface="Aptos"/>
              </a:rPr>
              <a:t>Semantic search and information retrieval matching user intent with relevant documents based on deep contextual understanding</a:t>
            </a:r>
          </a:p>
          <a:p>
            <a:pPr marL="167005" indent="-167005">
              <a:lnSpc>
                <a:spcPts val="2073"/>
              </a:lnSpc>
              <a:spcBef>
                <a:spcPts val="959"/>
              </a:spcBef>
              <a:buClr>
                <a:srgbClr val="5C7C5C"/>
              </a:buClr>
              <a:buSzPct val="100000"/>
              <a:buFont typeface="Aptos" charset="0"/>
              <a:buChar char="●"/>
            </a:pPr>
            <a:r>
              <a:rPr sz="1250" b="0" i="0" dirty="0">
                <a:solidFill>
                  <a:srgbClr val="40401E"/>
                </a:solidFill>
                <a:latin typeface="Aptos"/>
              </a:rPr>
              <a:t>Text summarization and extractive tasks where understanding full document context helps </a:t>
            </a:r>
            <a:r>
              <a:rPr sz="1250" b="0" i="0">
                <a:solidFill>
                  <a:srgbClr val="40401E"/>
                </a:solidFill>
                <a:latin typeface="Aptos"/>
              </a:rPr>
              <a:t>identify </a:t>
            </a:r>
            <a:r>
              <a:rPr lang="en-US" sz="1250" dirty="0">
                <a:solidFill>
                  <a:srgbClr val="40401E"/>
                </a:solidFill>
                <a:latin typeface="Aptos"/>
              </a:rPr>
              <a:t> </a:t>
            </a:r>
            <a:r>
              <a:rPr sz="1250" b="0" i="0">
                <a:solidFill>
                  <a:srgbClr val="40401E"/>
                </a:solidFill>
                <a:latin typeface="Aptos"/>
              </a:rPr>
              <a:t>most important </a:t>
            </a:r>
            <a:r>
              <a:rPr lang="en-US" sz="1250" dirty="0">
                <a:solidFill>
                  <a:srgbClr val="40401E"/>
                </a:solidFill>
                <a:latin typeface="Aptos"/>
              </a:rPr>
              <a:t> </a:t>
            </a:r>
            <a:r>
              <a:rPr sz="1250" b="0" i="0">
                <a:solidFill>
                  <a:srgbClr val="40401E"/>
                </a:solidFill>
                <a:latin typeface="Aptos"/>
              </a:rPr>
              <a:t>information</a:t>
            </a:r>
            <a:endParaRPr sz="1250" b="0" i="0" dirty="0">
              <a:solidFill>
                <a:srgbClr val="40401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6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1885" cy="68578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76678" y="1426481"/>
            <a:ext cx="6605124" cy="1058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109" b="1" i="0">
                <a:solidFill>
                  <a:srgbClr val="3B593A"/>
                </a:solidFill>
                <a:latin typeface="Lora"/>
              </a:rPr>
              <a:t>GPT: The Autoregressive Decoder Master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678" y="2724825"/>
            <a:ext cx="7010224" cy="25178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7485" indent="-197485" algn="l">
              <a:lnSpc>
                <a:spcPts val="2073"/>
              </a:lnSpc>
              <a:spcBef>
                <a:spcPts val="0"/>
              </a:spcBef>
              <a:spcAft>
                <a:spcPts val="0"/>
              </a:spcAft>
              <a:buClr>
                <a:srgbClr val="5C7C5C"/>
              </a:buClr>
              <a:buSzPct val="100000"/>
              <a:buFont typeface="Aptos" charset="0"/>
              <a:buChar char="●"/>
            </a:pPr>
            <a:r>
              <a:rPr sz="1250" b="0" i="0">
                <a:solidFill>
                  <a:srgbClr val="40401E"/>
                </a:solidFill>
                <a:latin typeface="Aptos"/>
              </a:rPr>
              <a:t>GPT stands for Generative Pre-trained Transformer, using language models pre-trained on large datasets to generate human-like text</a:t>
            </a:r>
            <a:r>
              <a:rPr sz="900" b="0" i="0" dirty="0">
                <a:solidFill>
                  <a:srgbClr val="3B593A"/>
                </a:solidFill>
                <a:latin typeface="Aptos"/>
              </a:rPr>
              <a:t> </a:t>
            </a:r>
            <a:endParaRPr lang="en-US" sz="900" b="0" i="0" dirty="0">
              <a:solidFill>
                <a:srgbClr val="3B593A"/>
              </a:solidFill>
              <a:latin typeface="Aptos"/>
            </a:endParaRPr>
          </a:p>
          <a:p>
            <a:pPr marL="197485" indent="-197485">
              <a:lnSpc>
                <a:spcPts val="2073"/>
              </a:lnSpc>
              <a:spcBef>
                <a:spcPts val="959"/>
              </a:spcBef>
              <a:buClr>
                <a:srgbClr val="5C7C5C"/>
              </a:buClr>
              <a:buSzPct val="100000"/>
              <a:buFont typeface="Aptos" charset="0"/>
              <a:buChar char="●"/>
            </a:pPr>
            <a:r>
              <a:rPr sz="1250" b="0" i="0">
                <a:solidFill>
                  <a:srgbClr val="40401E"/>
                </a:solidFill>
                <a:latin typeface="Aptos"/>
              </a:rPr>
              <a:t>Uses masked multi-head attention hiding future tokens during training, forcing GPT to look only at</a:t>
            </a:r>
            <a:r>
              <a:rPr lang="en-US" sz="1250">
                <a:solidFill>
                  <a:srgbClr val="40401E"/>
                </a:solidFill>
                <a:latin typeface="Aptos"/>
              </a:rPr>
              <a:t>  </a:t>
            </a:r>
            <a:r>
              <a:rPr sz="1250" b="0" i="0">
                <a:solidFill>
                  <a:srgbClr val="40401E"/>
                </a:solidFill>
                <a:latin typeface="Aptos"/>
              </a:rPr>
              <a:t>previous</a:t>
            </a:r>
            <a:r>
              <a:rPr lang="en-US" sz="1250">
                <a:solidFill>
                  <a:srgbClr val="40401E"/>
                </a:solidFill>
                <a:latin typeface="Aptos"/>
              </a:rPr>
              <a:t> </a:t>
            </a:r>
            <a:r>
              <a:rPr sz="1250" b="0" i="0">
                <a:solidFill>
                  <a:srgbClr val="40401E"/>
                </a:solidFill>
                <a:latin typeface="Aptos"/>
              </a:rPr>
              <a:t> words</a:t>
            </a:r>
            <a:endParaRPr sz="900" b="0" i="0">
              <a:solidFill>
                <a:srgbClr val="3B593A"/>
              </a:solidFill>
              <a:latin typeface="Aptos"/>
            </a:endParaRPr>
          </a:p>
          <a:p>
            <a:pPr marL="197485" indent="-197485" algn="l">
              <a:lnSpc>
                <a:spcPts val="2073"/>
              </a:lnSpc>
              <a:spcBef>
                <a:spcPts val="959"/>
              </a:spcBef>
              <a:spcAft>
                <a:spcPts val="0"/>
              </a:spcAft>
              <a:buClr>
                <a:srgbClr val="5C7C5C"/>
              </a:buClr>
              <a:buSzPct val="100000"/>
              <a:buFont typeface="Aptos" charset="0"/>
              <a:buChar char="●"/>
            </a:pPr>
            <a:r>
              <a:rPr sz="1250" b="0" i="0">
                <a:solidFill>
                  <a:srgbClr val="40401E"/>
                </a:solidFill>
                <a:latin typeface="Aptos"/>
              </a:rPr>
              <a:t>Autoregressive approach means each output becomes the next input in sequence, naturally learning to predict next word</a:t>
            </a:r>
            <a:r>
              <a:rPr sz="900" b="0" i="0" dirty="0">
                <a:solidFill>
                  <a:srgbClr val="3B593A"/>
                </a:solidFill>
                <a:latin typeface="Aptos"/>
              </a:rPr>
              <a:t> </a:t>
            </a:r>
          </a:p>
          <a:p>
            <a:pPr marL="197485" indent="-197485">
              <a:lnSpc>
                <a:spcPts val="2073"/>
              </a:lnSpc>
              <a:spcBef>
                <a:spcPts val="959"/>
              </a:spcBef>
              <a:buClr>
                <a:srgbClr val="5C7C5C"/>
              </a:buClr>
              <a:buSzPct val="100000"/>
              <a:buFont typeface="Aptos" charset="0"/>
              <a:buChar char="●"/>
            </a:pPr>
            <a:r>
              <a:rPr sz="1250" b="0" i="0">
                <a:solidFill>
                  <a:srgbClr val="40401E"/>
                </a:solidFill>
                <a:latin typeface="Aptos"/>
              </a:rPr>
              <a:t>Causal self-attention prevents each token from attending to future positions,</a:t>
            </a:r>
            <a:r>
              <a:rPr lang="en-US" sz="1250" dirty="0">
                <a:solidFill>
                  <a:srgbClr val="40401E"/>
                </a:solidFill>
                <a:latin typeface="Aptos"/>
              </a:rPr>
              <a:t>  </a:t>
            </a:r>
            <a:r>
              <a:rPr sz="1250" b="0" i="0" dirty="0">
                <a:solidFill>
                  <a:srgbClr val="40401E"/>
                </a:solidFill>
                <a:latin typeface="Aptos"/>
              </a:rPr>
              <a:t>maintaining temporal order essential for generation</a:t>
            </a:r>
            <a:r>
              <a:rPr sz="900" b="0" i="0" dirty="0">
                <a:solidFill>
                  <a:srgbClr val="3B593A"/>
                </a:solidFill>
                <a:latin typeface="Aptos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6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5847" y="0"/>
            <a:ext cx="6095847" cy="6857828"/>
          </a:xfrm>
          <a:prstGeom prst="rect">
            <a:avLst/>
          </a:prstGeom>
          <a:solidFill>
            <a:srgbClr val="D4C5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04792" y="1749579"/>
            <a:ext cx="5464087" cy="1058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109" b="1" i="0">
                <a:solidFill>
                  <a:srgbClr val="3B593A"/>
                </a:solidFill>
                <a:latin typeface="Lora"/>
              </a:rPr>
              <a:t>How GPT Generates: Causal Language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792" y="3047923"/>
            <a:ext cx="5486262" cy="19023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2725" indent="-212725" algn="l">
              <a:lnSpc>
                <a:spcPts val="2073"/>
              </a:lnSpc>
              <a:spcBef>
                <a:spcPts val="0"/>
              </a:spcBef>
              <a:spcAft>
                <a:spcPts val="0"/>
              </a:spcAft>
              <a:buClr>
                <a:srgbClr val="5C7C5C"/>
              </a:buClr>
              <a:buSzPct val="100000"/>
              <a:buFont typeface="Aptos" charset="0"/>
              <a:buChar char="●"/>
            </a:pPr>
            <a:r>
              <a:rPr sz="1250" b="0" i="0">
                <a:solidFill>
                  <a:srgbClr val="40401E"/>
                </a:solidFill>
                <a:latin typeface="Aptos"/>
              </a:rPr>
              <a:t>Training uses causal language modeling where the model predicts the next word based only on past words</a:t>
            </a:r>
            <a:r>
              <a:rPr sz="900" b="0" i="0" dirty="0">
                <a:solidFill>
                  <a:srgbClr val="3B593A"/>
                </a:solidFill>
                <a:latin typeface="Aptos"/>
              </a:rPr>
              <a:t> </a:t>
            </a:r>
            <a:endParaRPr lang="en-US" sz="900" dirty="0">
              <a:solidFill>
                <a:srgbClr val="3B593A"/>
              </a:solidFill>
              <a:latin typeface="Aptos"/>
            </a:endParaRPr>
          </a:p>
          <a:p>
            <a:pPr marL="212725" indent="-212725">
              <a:lnSpc>
                <a:spcPts val="2073"/>
              </a:lnSpc>
              <a:spcBef>
                <a:spcPts val="1199"/>
              </a:spcBef>
              <a:buClr>
                <a:srgbClr val="5C7C5C"/>
              </a:buClr>
              <a:buSzPct val="100000"/>
              <a:buFont typeface="Aptos" charset="0"/>
              <a:buChar char="●"/>
            </a:pPr>
            <a:r>
              <a:rPr sz="1250" b="0" i="0" dirty="0">
                <a:solidFill>
                  <a:srgbClr val="40401E"/>
                </a:solidFill>
                <a:latin typeface="Aptos"/>
              </a:rPr>
              <a:t>Each decoder block uses masked multi-head self-attention ensuring </a:t>
            </a:r>
            <a:r>
              <a:rPr sz="1250" b="0" i="0">
                <a:solidFill>
                  <a:srgbClr val="40401E"/>
                </a:solidFill>
                <a:latin typeface="Aptos"/>
              </a:rPr>
              <a:t>predictions depend only on</a:t>
            </a:r>
            <a:r>
              <a:rPr lang="en-US" sz="1250" dirty="0">
                <a:solidFill>
                  <a:srgbClr val="40401E"/>
                </a:solidFill>
                <a:latin typeface="Aptos"/>
              </a:rPr>
              <a:t>  </a:t>
            </a:r>
            <a:r>
              <a:rPr sz="1250" b="0" i="0" dirty="0">
                <a:solidFill>
                  <a:srgbClr val="40401E"/>
                </a:solidFill>
                <a:latin typeface="Aptos"/>
              </a:rPr>
              <a:t>previous positions</a:t>
            </a:r>
            <a:r>
              <a:rPr sz="900" b="0" i="0" dirty="0">
                <a:solidFill>
                  <a:srgbClr val="3B593A"/>
                </a:solidFill>
                <a:latin typeface="Aptos"/>
              </a:rPr>
              <a:t> </a:t>
            </a:r>
          </a:p>
          <a:p>
            <a:pPr marL="212725" indent="-212725" algn="l">
              <a:lnSpc>
                <a:spcPts val="2073"/>
              </a:lnSpc>
              <a:spcBef>
                <a:spcPts val="1199"/>
              </a:spcBef>
              <a:spcAft>
                <a:spcPts val="0"/>
              </a:spcAft>
              <a:buClr>
                <a:srgbClr val="5C7C5C"/>
              </a:buClr>
              <a:buSzPct val="100000"/>
              <a:buFont typeface="Aptos" charset="0"/>
              <a:buChar char="●"/>
            </a:pPr>
            <a:r>
              <a:rPr sz="1250" b="0" i="0">
                <a:solidFill>
                  <a:srgbClr val="40401E"/>
                </a:solidFill>
                <a:latin typeface="Aptos"/>
              </a:rPr>
              <a:t>Model generates coherent text autoregressively by learning robust language patterns during pre-training</a:t>
            </a:r>
            <a:r>
              <a:rPr sz="900" b="0" i="0" dirty="0">
                <a:solidFill>
                  <a:srgbClr val="3B593A"/>
                </a:solidFill>
                <a:latin typeface="Aptos"/>
              </a:rPr>
              <a:t> 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639" y="1371565"/>
          <a:ext cx="5486262" cy="41146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6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6057" y="1068261"/>
            <a:ext cx="379725" cy="3797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67086" y="1106360"/>
            <a:ext cx="380977" cy="30479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77017" y="1068261"/>
            <a:ext cx="285742" cy="3809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4792" y="304792"/>
            <a:ext cx="5981996" cy="52386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109" b="1" i="0">
                <a:solidFill>
                  <a:srgbClr val="3B593A"/>
                </a:solidFill>
                <a:latin typeface="Lora"/>
              </a:rPr>
              <a:t>GPT's Real-World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792" y="1647337"/>
            <a:ext cx="3657508" cy="2261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7005" indent="-167005">
              <a:lnSpc>
                <a:spcPts val="2073"/>
              </a:lnSpc>
              <a:buClr>
                <a:srgbClr val="5C7C5C"/>
              </a:buClr>
              <a:buSzPct val="100000"/>
              <a:buFont typeface="Aptos" charset="0"/>
              <a:buChar char="●"/>
            </a:pPr>
            <a:r>
              <a:rPr sz="1250" b="0" i="0" dirty="0">
                <a:solidFill>
                  <a:srgbClr val="40401E"/>
                </a:solidFill>
                <a:latin typeface="Aptos"/>
              </a:rPr>
              <a:t>Creative writing and storytelling where GPT generates coherent narratives, articles, and long-</a:t>
            </a:r>
            <a:r>
              <a:rPr sz="1250" b="0" i="0">
                <a:solidFill>
                  <a:srgbClr val="40401E"/>
                </a:solidFill>
                <a:latin typeface="Aptos"/>
              </a:rPr>
              <a:t>form content that</a:t>
            </a:r>
            <a:r>
              <a:rPr lang="en-US" sz="1250" dirty="0">
                <a:solidFill>
                  <a:srgbClr val="40401E"/>
                </a:solidFill>
                <a:latin typeface="Aptos"/>
              </a:rPr>
              <a:t>  </a:t>
            </a:r>
            <a:r>
              <a:rPr sz="1250" b="0" i="0" dirty="0">
                <a:solidFill>
                  <a:srgbClr val="40401E"/>
                </a:solidFill>
                <a:latin typeface="Aptos"/>
              </a:rPr>
              <a:t>maintains context and logical flow</a:t>
            </a:r>
            <a:r>
              <a:rPr sz="900" b="0" i="0" dirty="0">
                <a:solidFill>
                  <a:srgbClr val="3B593A"/>
                </a:solidFill>
                <a:latin typeface="Aptos"/>
              </a:rPr>
              <a:t> </a:t>
            </a:r>
            <a:endParaRPr lang="en-US" sz="900" dirty="0">
              <a:solidFill>
                <a:srgbClr val="3B593A"/>
              </a:solidFill>
              <a:latin typeface="Aptos"/>
            </a:endParaRPr>
          </a:p>
          <a:p>
            <a:pPr marL="167005" indent="-167005" algn="l">
              <a:lnSpc>
                <a:spcPts val="2073"/>
              </a:lnSpc>
              <a:spcBef>
                <a:spcPts val="959"/>
              </a:spcBef>
              <a:spcAft>
                <a:spcPts val="0"/>
              </a:spcAft>
              <a:buClr>
                <a:srgbClr val="5C7C5C"/>
              </a:buClr>
              <a:buSzPct val="100000"/>
              <a:buFont typeface="Aptos" charset="0"/>
              <a:buChar char="●"/>
            </a:pPr>
            <a:r>
              <a:rPr sz="1250" b="0" i="0">
                <a:solidFill>
                  <a:srgbClr val="40401E"/>
                </a:solidFill>
                <a:latin typeface="Aptos"/>
              </a:rPr>
              <a:t>Few-shot and zero-shot learning capabilities allowing GPT to perform new tasks from just examples or instructions without task-specific fine-tuning</a:t>
            </a:r>
            <a:r>
              <a:rPr sz="900" b="0" i="0">
                <a:solidFill>
                  <a:srgbClr val="3B593A"/>
                </a:solidFill>
                <a:latin typeface="Aptos"/>
              </a:rPr>
              <a:t> </a:t>
            </a:r>
            <a:endParaRPr lang="en-US" sz="900" b="0" i="0">
              <a:solidFill>
                <a:srgbClr val="3B593A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67093" y="1647337"/>
            <a:ext cx="3657508" cy="2261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7005" indent="-167005">
              <a:lnSpc>
                <a:spcPts val="2073"/>
              </a:lnSpc>
              <a:buClr>
                <a:srgbClr val="5C7C5C"/>
              </a:buClr>
              <a:buSzPct val="100000"/>
              <a:buFont typeface="Aptos" charset="0"/>
              <a:buChar char="●"/>
            </a:pPr>
            <a:r>
              <a:rPr sz="1250" b="0" i="0" dirty="0">
                <a:solidFill>
                  <a:srgbClr val="40401E"/>
                </a:solidFill>
                <a:latin typeface="Aptos"/>
              </a:rPr>
              <a:t>Conversational AI powering chatbots like ChatGPT that generate natural human-like responses in </a:t>
            </a:r>
            <a:r>
              <a:rPr lang="en-US" sz="1250">
                <a:solidFill>
                  <a:srgbClr val="40401E"/>
                </a:solidFill>
                <a:latin typeface="Aptos"/>
              </a:rPr>
              <a:t>dialogue  </a:t>
            </a:r>
            <a:r>
              <a:rPr lang="en-US" sz="1250" dirty="0">
                <a:solidFill>
                  <a:srgbClr val="40401E"/>
                </a:solidFill>
                <a:latin typeface="Aptos"/>
              </a:rPr>
              <a:t>maintaining</a:t>
            </a:r>
            <a:r>
              <a:rPr sz="1250" b="0" i="0">
                <a:solidFill>
                  <a:srgbClr val="40401E"/>
                </a:solidFill>
                <a:latin typeface="Aptos"/>
              </a:rPr>
              <a:t> context across conversation turns</a:t>
            </a:r>
            <a:r>
              <a:rPr sz="900" b="0" i="0" dirty="0">
                <a:solidFill>
                  <a:srgbClr val="3B593A"/>
                </a:solidFill>
                <a:latin typeface="Aptos"/>
              </a:rPr>
              <a:t> </a:t>
            </a:r>
            <a:endParaRPr lang="en-US" sz="900" dirty="0">
              <a:solidFill>
                <a:srgbClr val="3B593A"/>
              </a:solidFill>
              <a:latin typeface="Aptos"/>
              <a:ea typeface="Calibri"/>
              <a:cs typeface="Calibri"/>
            </a:endParaRPr>
          </a:p>
          <a:p>
            <a:pPr marL="167005" indent="-167005">
              <a:lnSpc>
                <a:spcPts val="2073"/>
              </a:lnSpc>
              <a:spcBef>
                <a:spcPts val="959"/>
              </a:spcBef>
              <a:buClr>
                <a:srgbClr val="5C7C5C"/>
              </a:buClr>
              <a:buSzPct val="100000"/>
              <a:buFont typeface="Aptos" charset="0"/>
              <a:buChar char="●"/>
            </a:pPr>
            <a:r>
              <a:rPr sz="1250" b="0" i="0">
                <a:solidFill>
                  <a:srgbClr val="40401E"/>
                </a:solidFill>
                <a:latin typeface="Aptos"/>
              </a:rPr>
              <a:t>Code generation and programming</a:t>
            </a:r>
            <a:r>
              <a:rPr lang="en-US" sz="1250" dirty="0">
                <a:solidFill>
                  <a:srgbClr val="40401E"/>
                </a:solidFill>
                <a:latin typeface="Aptos"/>
              </a:rPr>
              <a:t>  </a:t>
            </a:r>
            <a:r>
              <a:rPr sz="1250" b="0" i="0" dirty="0">
                <a:solidFill>
                  <a:srgbClr val="40401E"/>
                </a:solidFill>
                <a:latin typeface="Aptos"/>
              </a:rPr>
              <a:t>assistance translating natural language descriptions into functional code across multiple programming languages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394" y="1647337"/>
            <a:ext cx="3657508" cy="17227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7005" indent="-167005">
              <a:lnSpc>
                <a:spcPts val="2073"/>
              </a:lnSpc>
              <a:buClr>
                <a:srgbClr val="5C7C5C"/>
              </a:buClr>
              <a:buSzPct val="100000"/>
              <a:buFont typeface="Aptos" charset="0"/>
              <a:buChar char="●"/>
            </a:pPr>
            <a:r>
              <a:rPr sz="1250" b="0" i="0" dirty="0">
                <a:solidFill>
                  <a:srgbClr val="40401E"/>
                </a:solidFill>
                <a:latin typeface="Aptos"/>
              </a:rPr>
              <a:t>Text completion and summarization generating concise summaries or continuing partial text while </a:t>
            </a:r>
            <a:r>
              <a:rPr lang="en-US" sz="1250" dirty="0">
                <a:solidFill>
                  <a:srgbClr val="40401E"/>
                </a:solidFill>
                <a:latin typeface="Aptos"/>
              </a:rPr>
              <a:t>               </a:t>
            </a:r>
            <a:r>
              <a:rPr sz="1250" b="0" i="0" dirty="0">
                <a:solidFill>
                  <a:srgbClr val="40401E"/>
                </a:solidFill>
                <a:latin typeface="Aptos"/>
              </a:rPr>
              <a:t>maintaining stylistic and semantic consistency</a:t>
            </a:r>
            <a:r>
              <a:rPr sz="900" b="0" i="0" dirty="0">
                <a:solidFill>
                  <a:srgbClr val="3B593A"/>
                </a:solidFill>
                <a:latin typeface="Aptos"/>
              </a:rPr>
              <a:t> </a:t>
            </a:r>
            <a:endParaRPr lang="en-US" sz="900" dirty="0">
              <a:solidFill>
                <a:srgbClr val="3B593A"/>
              </a:solidFill>
              <a:latin typeface="Aptos"/>
            </a:endParaRPr>
          </a:p>
          <a:p>
            <a:pPr marL="167005" indent="-167005" algn="l">
              <a:lnSpc>
                <a:spcPts val="2073"/>
              </a:lnSpc>
              <a:spcBef>
                <a:spcPts val="959"/>
              </a:spcBef>
              <a:spcAft>
                <a:spcPts val="0"/>
              </a:spcAft>
              <a:buClr>
                <a:srgbClr val="5C7C5C"/>
              </a:buClr>
              <a:buSzPct val="100000"/>
              <a:buFont typeface="Aptos" charset="0"/>
              <a:buChar char="●"/>
            </a:pPr>
            <a:r>
              <a:rPr sz="1295" b="0" i="0">
                <a:solidFill>
                  <a:srgbClr val="40401E"/>
                </a:solidFill>
                <a:latin typeface="Aptos"/>
              </a:rPr>
              <a:t>Machine translation tasks generating fluent target language text though encoder-decoder models often perform better for translation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6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D4C5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93501" y="773440"/>
            <a:ext cx="5108844" cy="352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072" b="1" i="0">
                <a:solidFill>
                  <a:srgbClr val="3B593A"/>
                </a:solidFill>
                <a:latin typeface="Lora"/>
              </a:rPr>
              <a:t>BERT vs GPT Architecture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639" y="1627692"/>
            <a:ext cx="5252608" cy="1058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109" b="1" i="0">
                <a:solidFill>
                  <a:srgbClr val="3B593A"/>
                </a:solidFill>
                <a:latin typeface="Lora"/>
              </a:rPr>
              <a:t>The Key Differences: BERT vs GPT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639" y="2926036"/>
            <a:ext cx="5486262" cy="2171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2725" indent="-212725" algn="l">
              <a:lnSpc>
                <a:spcPts val="2073"/>
              </a:lnSpc>
              <a:spcBef>
                <a:spcPts val="0"/>
              </a:spcBef>
              <a:spcAft>
                <a:spcPts val="0"/>
              </a:spcAft>
              <a:buClr>
                <a:srgbClr val="5C7C5C"/>
              </a:buClr>
              <a:buSzPct val="100000"/>
              <a:buFont typeface="Aptos" charset="0"/>
              <a:buChar char="●"/>
            </a:pPr>
            <a:r>
              <a:rPr sz="1295" b="0" i="0">
                <a:solidFill>
                  <a:srgbClr val="40401E"/>
                </a:solidFill>
                <a:latin typeface="Aptos"/>
              </a:rPr>
              <a:t>BERT processes complete sentences simultaneously seeing full context making it ideal for comprehension tasks requiring understanding of relationships</a:t>
            </a:r>
            <a:endParaRPr lang="en-US"/>
          </a:p>
          <a:p>
            <a:pPr marL="212725" indent="-212725" algn="l">
              <a:lnSpc>
                <a:spcPts val="2073"/>
              </a:lnSpc>
              <a:spcBef>
                <a:spcPts val="1199"/>
              </a:spcBef>
              <a:spcAft>
                <a:spcPts val="0"/>
              </a:spcAft>
              <a:buClr>
                <a:srgbClr val="5C7C5C"/>
              </a:buClr>
              <a:buSzPct val="100000"/>
              <a:buFont typeface="Aptos" charset="0"/>
              <a:buChar char="●"/>
            </a:pPr>
            <a:r>
              <a:rPr sz="1295" b="0" i="0">
                <a:solidFill>
                  <a:srgbClr val="40401E"/>
                </a:solidFill>
                <a:latin typeface="Aptos"/>
              </a:rPr>
              <a:t>GPT generates sequences step-by-step predicting one token at a time making it naturally suited for text generation and creative tasks</a:t>
            </a:r>
          </a:p>
          <a:p>
            <a:pPr marL="212725" indent="-212725" algn="l">
              <a:lnSpc>
                <a:spcPts val="2073"/>
              </a:lnSpc>
              <a:spcBef>
                <a:spcPts val="1199"/>
              </a:spcBef>
              <a:spcAft>
                <a:spcPts val="0"/>
              </a:spcAft>
              <a:buClr>
                <a:srgbClr val="5C7C5C"/>
              </a:buClr>
              <a:buSzPct val="100000"/>
              <a:buFont typeface="Aptos" charset="0"/>
              <a:buChar char="●"/>
            </a:pPr>
            <a:r>
              <a:rPr sz="1250" b="0" i="0" dirty="0">
                <a:solidFill>
                  <a:srgbClr val="40401E"/>
                </a:solidFill>
                <a:latin typeface="Aptos"/>
              </a:rPr>
              <a:t>Both share transformer architecture foundation with self-attention and feed-forward layers but apply them in fundamentally different ways </a:t>
            </a:r>
            <a:r>
              <a:rPr sz="900" b="0" i="0" dirty="0">
                <a:solidFill>
                  <a:srgbClr val="3B593A"/>
                </a:solidFill>
                <a:latin typeface="Aptos"/>
              </a:rPr>
              <a:t> 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04792" y="1358469"/>
          <a:ext cx="5486262" cy="439240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7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748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66" b="1" i="0">
                          <a:solidFill>
                            <a:srgbClr val="3B593A"/>
                          </a:solidFill>
                          <a:latin typeface="Lora"/>
                        </a:rPr>
                        <a:t>Feature</a:t>
                      </a:r>
                    </a:p>
                  </a:txBody>
                  <a:tcPr anchor="ctr">
                    <a:solidFill>
                      <a:srgbClr val="D4C5A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66" b="1" i="0">
                          <a:solidFill>
                            <a:srgbClr val="3B593A"/>
                          </a:solidFill>
                          <a:latin typeface="Lora"/>
                        </a:rPr>
                        <a:t>BERT</a:t>
                      </a:r>
                    </a:p>
                  </a:txBody>
                  <a:tcPr anchor="ctr">
                    <a:solidFill>
                      <a:srgbClr val="D4C5A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66" b="1" i="0">
                          <a:solidFill>
                            <a:srgbClr val="3B593A"/>
                          </a:solidFill>
                          <a:latin typeface="Lora"/>
                        </a:rPr>
                        <a:t>GPT</a:t>
                      </a:r>
                    </a:p>
                  </a:txBody>
                  <a:tcPr anchor="ctr">
                    <a:solidFill>
                      <a:srgbClr val="D4C5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4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3" b="1" i="0">
                          <a:solidFill>
                            <a:srgbClr val="3B593A"/>
                          </a:solidFill>
                          <a:latin typeface="Aptos"/>
                        </a:rPr>
                        <a:t>Architecture</a:t>
                      </a:r>
                    </a:p>
                  </a:txBody>
                  <a:tcPr anchor="ctr">
                    <a:lnB w="9525" cmpd="sng">
                      <a:solidFill>
                        <a:srgbClr val="D8D6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79" b="0" i="0">
                          <a:solidFill>
                            <a:srgbClr val="40401E"/>
                          </a:solidFill>
                          <a:latin typeface="Aptos"/>
                        </a:rPr>
                        <a:t>Encoder-only transformers</a:t>
                      </a:r>
                    </a:p>
                  </a:txBody>
                  <a:tcPr anchor="ctr">
                    <a:lnB w="9525" cmpd="sng">
                      <a:solidFill>
                        <a:srgbClr val="D8D6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79" b="0" i="0">
                          <a:solidFill>
                            <a:srgbClr val="40401E"/>
                          </a:solidFill>
                          <a:latin typeface="Aptos"/>
                        </a:rPr>
                        <a:t>Decoder-only transformers</a:t>
                      </a:r>
                    </a:p>
                  </a:txBody>
                  <a:tcPr anchor="ctr">
                    <a:lnB w="9525" cmpd="sng">
                      <a:solidFill>
                        <a:srgbClr val="D8D6D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4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3" b="1" i="0">
                          <a:solidFill>
                            <a:srgbClr val="3B593A"/>
                          </a:solidFill>
                          <a:latin typeface="Aptos"/>
                        </a:rPr>
                        <a:t>Attention Type</a:t>
                      </a:r>
                    </a:p>
                  </a:txBody>
                  <a:tcPr anchor="ctr">
                    <a:lnT w="9525" cmpd="sng">
                      <a:solidFill>
                        <a:srgbClr val="D8D6D1"/>
                      </a:solidFill>
                    </a:lnT>
                    <a:lnB w="9525" cmpd="sng">
                      <a:solidFill>
                        <a:srgbClr val="D8D6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79" b="0" i="0">
                          <a:solidFill>
                            <a:srgbClr val="40401E"/>
                          </a:solidFill>
                          <a:latin typeface="Aptos"/>
                        </a:rPr>
                        <a:t>Bidirectional multi-head attention</a:t>
                      </a:r>
                    </a:p>
                  </a:txBody>
                  <a:tcPr anchor="ctr">
                    <a:lnT w="9525" cmpd="sng">
                      <a:solidFill>
                        <a:srgbClr val="D8D6D1"/>
                      </a:solidFill>
                    </a:lnT>
                    <a:lnB w="9525" cmpd="sng">
                      <a:solidFill>
                        <a:srgbClr val="D8D6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79" b="0" i="0">
                          <a:solidFill>
                            <a:srgbClr val="40401E"/>
                          </a:solidFill>
                          <a:latin typeface="Aptos"/>
                        </a:rPr>
                        <a:t>Masked causal attention</a:t>
                      </a:r>
                    </a:p>
                  </a:txBody>
                  <a:tcPr anchor="ctr">
                    <a:lnT w="9525" cmpd="sng">
                      <a:solidFill>
                        <a:srgbClr val="D8D6D1"/>
                      </a:solidFill>
                    </a:lnT>
                    <a:lnB w="9525" cmpd="sng">
                      <a:solidFill>
                        <a:srgbClr val="D8D6D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4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3" b="1" i="0">
                          <a:solidFill>
                            <a:srgbClr val="3B593A"/>
                          </a:solidFill>
                          <a:latin typeface="Aptos"/>
                        </a:rPr>
                        <a:t>Context Direction</a:t>
                      </a:r>
                    </a:p>
                  </a:txBody>
                  <a:tcPr anchor="ctr">
                    <a:lnT w="9525" cmpd="sng">
                      <a:solidFill>
                        <a:srgbClr val="D8D6D1"/>
                      </a:solidFill>
                    </a:lnT>
                    <a:lnB w="9525" cmpd="sng">
                      <a:solidFill>
                        <a:srgbClr val="D8D6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79" b="0" i="0">
                          <a:solidFill>
                            <a:srgbClr val="40401E"/>
                          </a:solidFill>
                          <a:latin typeface="Aptos"/>
                        </a:rPr>
                        <a:t>Both left and right simultaneously</a:t>
                      </a:r>
                    </a:p>
                  </a:txBody>
                  <a:tcPr anchor="ctr">
                    <a:lnT w="9525" cmpd="sng">
                      <a:solidFill>
                        <a:srgbClr val="D8D6D1"/>
                      </a:solidFill>
                    </a:lnT>
                    <a:lnB w="9525" cmpd="sng">
                      <a:solidFill>
                        <a:srgbClr val="D8D6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79" b="0" i="0">
                          <a:solidFill>
                            <a:srgbClr val="40401E"/>
                          </a:solidFill>
                          <a:latin typeface="Aptos"/>
                        </a:rPr>
                        <a:t>Only left (previous tokens)</a:t>
                      </a:r>
                    </a:p>
                  </a:txBody>
                  <a:tcPr anchor="ctr">
                    <a:lnT w="9525" cmpd="sng">
                      <a:solidFill>
                        <a:srgbClr val="D8D6D1"/>
                      </a:solidFill>
                    </a:lnT>
                    <a:lnB w="9525" cmpd="sng">
                      <a:solidFill>
                        <a:srgbClr val="D8D6D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4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3" b="1" i="0">
                          <a:solidFill>
                            <a:srgbClr val="3B593A"/>
                          </a:solidFill>
                          <a:latin typeface="Aptos"/>
                        </a:rPr>
                        <a:t>Training Method</a:t>
                      </a:r>
                    </a:p>
                  </a:txBody>
                  <a:tcPr anchor="ctr">
                    <a:lnT w="9525" cmpd="sng">
                      <a:solidFill>
                        <a:srgbClr val="D8D6D1"/>
                      </a:solidFill>
                    </a:lnT>
                    <a:lnB w="9525" cmpd="sng">
                      <a:solidFill>
                        <a:srgbClr val="D8D6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79" b="0" i="0">
                          <a:solidFill>
                            <a:srgbClr val="40401E"/>
                          </a:solidFill>
                          <a:latin typeface="Aptos"/>
                        </a:rPr>
                        <a:t>Masked Language Modeling</a:t>
                      </a:r>
                    </a:p>
                  </a:txBody>
                  <a:tcPr anchor="ctr">
                    <a:lnT w="9525" cmpd="sng">
                      <a:solidFill>
                        <a:srgbClr val="D8D6D1"/>
                      </a:solidFill>
                    </a:lnT>
                    <a:lnB w="9525" cmpd="sng">
                      <a:solidFill>
                        <a:srgbClr val="D8D6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79" b="0" i="0">
                          <a:solidFill>
                            <a:srgbClr val="40401E"/>
                          </a:solidFill>
                          <a:latin typeface="Aptos"/>
                        </a:rPr>
                        <a:t>Causal Language Modeling</a:t>
                      </a:r>
                    </a:p>
                  </a:txBody>
                  <a:tcPr anchor="ctr">
                    <a:lnT w="9525" cmpd="sng">
                      <a:solidFill>
                        <a:srgbClr val="D8D6D1"/>
                      </a:solidFill>
                    </a:lnT>
                    <a:lnB w="9525" cmpd="sng">
                      <a:solidFill>
                        <a:srgbClr val="D8D6D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4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3" b="1" i="0">
                          <a:solidFill>
                            <a:srgbClr val="3B593A"/>
                          </a:solidFill>
                          <a:latin typeface="Aptos"/>
                        </a:rPr>
                        <a:t>Primary Purpose</a:t>
                      </a:r>
                    </a:p>
                  </a:txBody>
                  <a:tcPr anchor="ctr">
                    <a:lnT w="9525" cmpd="sng">
                      <a:solidFill>
                        <a:srgbClr val="D8D6D1"/>
                      </a:solidFill>
                    </a:lnT>
                    <a:lnB w="9525" cmpd="sng">
                      <a:solidFill>
                        <a:srgbClr val="D8D6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79" b="0" i="0">
                          <a:solidFill>
                            <a:srgbClr val="40401E"/>
                          </a:solidFill>
                          <a:latin typeface="Aptos"/>
                        </a:rPr>
                        <a:t>Understanding and extracting meaning</a:t>
                      </a:r>
                    </a:p>
                  </a:txBody>
                  <a:tcPr anchor="ctr">
                    <a:lnT w="9525" cmpd="sng">
                      <a:solidFill>
                        <a:srgbClr val="D8D6D1"/>
                      </a:solidFill>
                    </a:lnT>
                    <a:lnB w="9525" cmpd="sng">
                      <a:solidFill>
                        <a:srgbClr val="D8D6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79" b="0" i="0">
                          <a:solidFill>
                            <a:srgbClr val="40401E"/>
                          </a:solidFill>
                          <a:latin typeface="Aptos"/>
                        </a:rPr>
                        <a:t>Generating coherent text</a:t>
                      </a:r>
                    </a:p>
                  </a:txBody>
                  <a:tcPr anchor="ctr">
                    <a:lnT w="9525" cmpd="sng">
                      <a:solidFill>
                        <a:srgbClr val="D8D6D1"/>
                      </a:solidFill>
                    </a:lnT>
                    <a:lnB w="9525" cmpd="sng">
                      <a:solidFill>
                        <a:srgbClr val="D8D6D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4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3" b="1" i="0">
                          <a:solidFill>
                            <a:srgbClr val="3B593A"/>
                          </a:solidFill>
                          <a:latin typeface="Aptos"/>
                        </a:rPr>
                        <a:t>Best Use Cases</a:t>
                      </a:r>
                    </a:p>
                  </a:txBody>
                  <a:tcPr anchor="ctr">
                    <a:lnT w="9525" cmpd="sng">
                      <a:solidFill>
                        <a:srgbClr val="D8D6D1"/>
                      </a:solidFill>
                    </a:lnT>
                    <a:lnB w="9525" cmpd="sng">
                      <a:solidFill>
                        <a:srgbClr val="D8D6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79" b="0" i="0">
                          <a:solidFill>
                            <a:srgbClr val="40401E"/>
                          </a:solidFill>
                          <a:latin typeface="Aptos"/>
                        </a:rPr>
                        <a:t>Classification, QA, NER, search</a:t>
                      </a:r>
                    </a:p>
                  </a:txBody>
                  <a:tcPr anchor="ctr">
                    <a:lnT w="9525" cmpd="sng">
                      <a:solidFill>
                        <a:srgbClr val="D8D6D1"/>
                      </a:solidFill>
                    </a:lnT>
                    <a:lnB w="9525" cmpd="sng">
                      <a:solidFill>
                        <a:srgbClr val="D8D6D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79" b="0" i="0">
                          <a:solidFill>
                            <a:srgbClr val="40401E"/>
                          </a:solidFill>
                          <a:latin typeface="Aptos"/>
                        </a:rPr>
                        <a:t>Writing, chatbots, completion</a:t>
                      </a:r>
                    </a:p>
                  </a:txBody>
                  <a:tcPr anchor="ctr">
                    <a:lnT w="9525" cmpd="sng">
                      <a:solidFill>
                        <a:srgbClr val="D8D6D1"/>
                      </a:solidFill>
                    </a:lnT>
                    <a:lnB w="9525" cmpd="sng">
                      <a:solidFill>
                        <a:srgbClr val="D8D6D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6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792" y="304792"/>
            <a:ext cx="6379357" cy="52386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109" b="1" i="0">
                <a:solidFill>
                  <a:srgbClr val="3B593A"/>
                </a:solidFill>
                <a:latin typeface="Lora"/>
              </a:rPr>
              <a:t>Choosing the Right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792" y="1144459"/>
            <a:ext cx="5638658" cy="1851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7005" indent="-167005" algn="l">
              <a:lnSpc>
                <a:spcPts val="2073"/>
              </a:lnSpc>
              <a:spcBef>
                <a:spcPts val="0"/>
              </a:spcBef>
              <a:spcAft>
                <a:spcPts val="0"/>
              </a:spcAft>
              <a:buClr>
                <a:srgbClr val="5C7C5C"/>
              </a:buClr>
              <a:buSzPct val="100000"/>
              <a:buFont typeface="Aptos" charset="0"/>
              <a:buChar char="●"/>
            </a:pPr>
            <a:r>
              <a:rPr sz="1250" b="0" i="0">
                <a:solidFill>
                  <a:srgbClr val="40401E"/>
                </a:solidFill>
                <a:latin typeface="Aptos"/>
              </a:rPr>
              <a:t>Use BERT for analyzing existing text like sentiment analysis, classification, entity extraction, or search</a:t>
            </a:r>
            <a:r>
              <a:rPr sz="900" b="0" i="0" dirty="0">
                <a:solidFill>
                  <a:srgbClr val="3B593A"/>
                </a:solidFill>
                <a:latin typeface="Aptos"/>
              </a:rPr>
              <a:t> </a:t>
            </a:r>
            <a:endParaRPr lang="en-US" sz="900" dirty="0">
              <a:solidFill>
                <a:srgbClr val="3B593A"/>
              </a:solidFill>
              <a:latin typeface="Aptos"/>
            </a:endParaRPr>
          </a:p>
          <a:p>
            <a:pPr marL="167005" indent="-167005" algn="l">
              <a:lnSpc>
                <a:spcPts val="2073"/>
              </a:lnSpc>
              <a:spcBef>
                <a:spcPts val="959"/>
              </a:spcBef>
              <a:spcAft>
                <a:spcPts val="0"/>
              </a:spcAft>
              <a:buClr>
                <a:srgbClr val="5C7C5C"/>
              </a:buClr>
              <a:buSzPct val="100000"/>
              <a:buFont typeface="Aptos" charset="0"/>
              <a:buChar char="●"/>
            </a:pPr>
            <a:r>
              <a:rPr sz="1250" b="0" i="0">
                <a:solidFill>
                  <a:srgbClr val="40401E"/>
                </a:solidFill>
                <a:latin typeface="Aptos"/>
              </a:rPr>
              <a:t>BERT's bidirectional nature excels when full context matters like question answering with simultaneous understanding</a:t>
            </a:r>
            <a:r>
              <a:rPr sz="900" b="0" i="0" dirty="0">
                <a:solidFill>
                  <a:srgbClr val="3B593A"/>
                </a:solidFill>
                <a:latin typeface="Aptos"/>
              </a:rPr>
              <a:t> </a:t>
            </a:r>
            <a:endParaRPr lang="en-US" sz="900" b="0" i="0" dirty="0">
              <a:solidFill>
                <a:srgbClr val="3B593A"/>
              </a:solidFill>
              <a:latin typeface="Aptos"/>
            </a:endParaRPr>
          </a:p>
          <a:p>
            <a:pPr marL="167005" indent="-167005">
              <a:lnSpc>
                <a:spcPts val="2073"/>
              </a:lnSpc>
              <a:spcBef>
                <a:spcPts val="959"/>
              </a:spcBef>
              <a:buClr>
                <a:srgbClr val="5C7C5C"/>
              </a:buClr>
              <a:buSzPct val="100000"/>
              <a:buFont typeface="Aptos" charset="0"/>
              <a:buChar char="●"/>
            </a:pPr>
            <a:r>
              <a:rPr sz="1250" b="0" i="0">
                <a:solidFill>
                  <a:srgbClr val="40401E"/>
                </a:solidFill>
                <a:latin typeface="Aptos"/>
              </a:rPr>
              <a:t>Pre-training on large data followed by task-specific fine-tuning achieves</a:t>
            </a:r>
            <a:r>
              <a:rPr lang="en-US" sz="1250" dirty="0">
                <a:solidFill>
                  <a:srgbClr val="40401E"/>
                </a:solidFill>
                <a:latin typeface="Aptos"/>
              </a:rPr>
              <a:t>  </a:t>
            </a:r>
            <a:r>
              <a:rPr sz="1250" b="0" i="0">
                <a:solidFill>
                  <a:srgbClr val="40401E"/>
                </a:solidFill>
                <a:latin typeface="Aptos"/>
              </a:rPr>
              <a:t>state-of-the-art results with small labeled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48243" y="1144459"/>
            <a:ext cx="5638658" cy="1851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7005" indent="-167005" algn="l">
              <a:lnSpc>
                <a:spcPts val="2073"/>
              </a:lnSpc>
              <a:spcBef>
                <a:spcPts val="0"/>
              </a:spcBef>
              <a:spcAft>
                <a:spcPts val="0"/>
              </a:spcAft>
              <a:buClr>
                <a:srgbClr val="5C7C5C"/>
              </a:buClr>
              <a:buSzPct val="100000"/>
              <a:buFont typeface="Aptos" charset="0"/>
              <a:buChar char="●"/>
            </a:pPr>
            <a:r>
              <a:rPr sz="1250" b="0" i="0">
                <a:solidFill>
                  <a:srgbClr val="40401E"/>
                </a:solidFill>
                <a:latin typeface="Aptos"/>
              </a:rPr>
              <a:t>Use GPT for generating new text like creative writing, dialogue systems, code generation, or completion</a:t>
            </a:r>
            <a:r>
              <a:rPr sz="900" b="0" i="0" dirty="0">
                <a:solidFill>
                  <a:srgbClr val="3B593A"/>
                </a:solidFill>
                <a:latin typeface="Aptos"/>
              </a:rPr>
              <a:t> </a:t>
            </a:r>
            <a:endParaRPr lang="en-US" sz="900" dirty="0">
              <a:solidFill>
                <a:srgbClr val="3B593A"/>
              </a:solidFill>
              <a:latin typeface="Aptos"/>
            </a:endParaRPr>
          </a:p>
          <a:p>
            <a:pPr marL="167005" indent="-167005">
              <a:lnSpc>
                <a:spcPts val="2073"/>
              </a:lnSpc>
              <a:spcBef>
                <a:spcPts val="959"/>
              </a:spcBef>
              <a:buClr>
                <a:srgbClr val="5C7C5C"/>
              </a:buClr>
              <a:buSzPct val="100000"/>
              <a:buFont typeface="Aptos" charset="0"/>
              <a:buChar char="●"/>
            </a:pPr>
            <a:r>
              <a:rPr sz="1250" b="0" i="0" dirty="0">
                <a:solidFill>
                  <a:srgbClr val="40401E"/>
                </a:solidFill>
                <a:latin typeface="Aptos"/>
              </a:rPr>
              <a:t>GPT's autoregressive training naturally aligns with generation, producing </a:t>
            </a:r>
            <a:r>
              <a:rPr sz="1250" b="0" i="0">
                <a:solidFill>
                  <a:srgbClr val="40401E"/>
                </a:solidFill>
                <a:latin typeface="Aptos"/>
              </a:rPr>
              <a:t>fluent coherent sequences </a:t>
            </a:r>
            <a:r>
              <a:rPr lang="en-US" sz="1250" dirty="0">
                <a:solidFill>
                  <a:srgbClr val="40401E"/>
                </a:solidFill>
                <a:latin typeface="Aptos"/>
              </a:rPr>
              <a:t> </a:t>
            </a:r>
            <a:r>
              <a:rPr sz="1250" b="0" i="0">
                <a:solidFill>
                  <a:srgbClr val="40401E"/>
                </a:solidFill>
                <a:latin typeface="Aptos"/>
              </a:rPr>
              <a:t>maintaining context and style</a:t>
            </a:r>
            <a:r>
              <a:rPr sz="900" b="0" i="0" dirty="0">
                <a:solidFill>
                  <a:srgbClr val="3B593A"/>
                </a:solidFill>
                <a:latin typeface="Aptos"/>
              </a:rPr>
              <a:t> </a:t>
            </a:r>
          </a:p>
          <a:p>
            <a:pPr marL="167005" indent="-167005" algn="l">
              <a:lnSpc>
                <a:spcPts val="2073"/>
              </a:lnSpc>
              <a:spcBef>
                <a:spcPts val="959"/>
              </a:spcBef>
              <a:spcAft>
                <a:spcPts val="0"/>
              </a:spcAft>
              <a:buClr>
                <a:srgbClr val="5C7C5C"/>
              </a:buClr>
              <a:buSzPct val="100000"/>
              <a:buFont typeface="Aptos" charset="0"/>
              <a:buChar char="●"/>
            </a:pPr>
            <a:r>
              <a:rPr sz="1250" b="0" i="0">
                <a:solidFill>
                  <a:srgbClr val="40401E"/>
                </a:solidFill>
                <a:latin typeface="Aptos"/>
              </a:rPr>
              <a:t>Modern hybrid approaches combine strengths with encoder-decoder models like T5 and BART for conditional generation tasks</a:t>
            </a:r>
            <a:r>
              <a:rPr sz="900" b="0" i="0" dirty="0">
                <a:solidFill>
                  <a:srgbClr val="3B593A"/>
                </a:solidFill>
                <a:latin typeface="Aptos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6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05729" y="2860868"/>
            <a:ext cx="2597186" cy="56938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3100" b="1">
                <a:solidFill>
                  <a:srgbClr val="3B593A"/>
                </a:solidFill>
                <a:latin typeface="Lora"/>
              </a:rPr>
              <a:t>THANK YOU</a:t>
            </a:r>
            <a:endParaRPr lang="en-US" sz="3100" b="1" i="0" dirty="0">
              <a:solidFill>
                <a:srgbClr val="3B593A"/>
              </a:solidFill>
              <a:latin typeface="Lor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1052</Words>
  <Application>Microsoft Office PowerPoint</Application>
  <PresentationFormat>Widescreen</PresentationFormat>
  <Paragraphs>120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Calibri</vt:lpstr>
      <vt:lpstr>Georgia</vt:lpstr>
      <vt:lpstr>Lora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Addala Siva</cp:lastModifiedBy>
  <cp:revision>68</cp:revision>
  <dcterms:created xsi:type="dcterms:W3CDTF">2026-06-04T09:55:34Z</dcterms:created>
  <dcterms:modified xsi:type="dcterms:W3CDTF">2026-06-04T10:27:13Z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e7ded32-6a8c-48b8-8009-ebf9a4e0e083_Enabled">
    <vt:lpwstr>true</vt:lpwstr>
  </property>
  <property fmtid="{D5CDD505-2E9C-101B-9397-08002B2CF9AE}" pid="3" name="MSIP_Label_ce7ded32-6a8c-48b8-8009-ebf9a4e0e083_SetDate">
    <vt:lpwstr>2026-06-04T10:00:44Z</vt:lpwstr>
  </property>
  <property fmtid="{D5CDD505-2E9C-101B-9397-08002B2CF9AE}" pid="4" name="MSIP_Label_ce7ded32-6a8c-48b8-8009-ebf9a4e0e083_Method">
    <vt:lpwstr>Privileged</vt:lpwstr>
  </property>
  <property fmtid="{D5CDD505-2E9C-101B-9397-08002B2CF9AE}" pid="5" name="MSIP_Label_ce7ded32-6a8c-48b8-8009-ebf9a4e0e083_Name">
    <vt:lpwstr>Public - Public</vt:lpwstr>
  </property>
  <property fmtid="{D5CDD505-2E9C-101B-9397-08002B2CF9AE}" pid="6" name="MSIP_Label_ce7ded32-6a8c-48b8-8009-ebf9a4e0e083_SiteId">
    <vt:lpwstr>258ac4e4-146a-411e-9dc8-79a9e12fd6da</vt:lpwstr>
  </property>
  <property fmtid="{D5CDD505-2E9C-101B-9397-08002B2CF9AE}" pid="7" name="MSIP_Label_ce7ded32-6a8c-48b8-8009-ebf9a4e0e083_ActionId">
    <vt:lpwstr>2c2a6598-4086-47c8-8270-40a24cac2ed5</vt:lpwstr>
  </property>
  <property fmtid="{D5CDD505-2E9C-101B-9397-08002B2CF9AE}" pid="8" name="MSIP_Label_ce7ded32-6a8c-48b8-8009-ebf9a4e0e083_ContentBits">
    <vt:lpwstr>2</vt:lpwstr>
  </property>
  <property fmtid="{D5CDD505-2E9C-101B-9397-08002B2CF9AE}" pid="9" name="MSIP_Label_ce7ded32-6a8c-48b8-8009-ebf9a4e0e083_Tag">
    <vt:lpwstr>10, 0, 1, 2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Public</vt:lpwstr>
  </property>
</Properties>
</file>