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ree Major Types of Machine Learning" id="{3448C8AD-70DE-4B95-B392-4D61AD7BBD13}">
          <p14:sldIdLst>
            <p14:sldId id="2561"/>
          </p14:sldIdLst>
        </p14:section>
        <p14:section name="Understanding the Three Major Types of Machine Learning" id="{676AB1A1-5836-4B24-8C93-3282D06070B2}">
          <p14:sldIdLst>
            <p14:sldId id="2562"/>
            <p14:sldId id="2563"/>
            <p14:sldId id="2564"/>
            <p14:sldId id="2565"/>
            <p14:sldId id="2566"/>
            <p14:sldId id="2567"/>
            <p14:sldId id="2568"/>
            <p14:sldId id="2569"/>
            <p14:sldId id="2570"/>
            <p14:sldId id="2571"/>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dala Siva" userId="a23dfad1-8213-4535-8fc3-e3426e27c416" providerId="ADAL" clId="{DD49B685-E37C-468F-9600-200C2B9FA0BC}"/>
    <pc:docChg chg="mod modMainMaster">
      <pc:chgData name="Addala Siva" userId="a23dfad1-8213-4535-8fc3-e3426e27c416" providerId="ADAL" clId="{DD49B685-E37C-468F-9600-200C2B9FA0BC}" dt="2026-05-19T11:18:40.363" v="1" actId="33475"/>
      <pc:docMkLst>
        <pc:docMk/>
      </pc:docMkLst>
      <pc:sldMasterChg chg="addSp mod">
        <pc:chgData name="Addala Siva" userId="a23dfad1-8213-4535-8fc3-e3426e27c416" providerId="ADAL" clId="{DD49B685-E37C-468F-9600-200C2B9FA0BC}" dt="2026-05-19T11:18:40.360" v="0" actId="33475"/>
        <pc:sldMasterMkLst>
          <pc:docMk/>
          <pc:sldMasterMk cId="2891895538" sldId="2147483648"/>
        </pc:sldMasterMkLst>
        <pc:spChg chg="add">
          <ac:chgData name="Addala Siva" userId="a23dfad1-8213-4535-8fc3-e3426e27c416" providerId="ADAL" clId="{DD49B685-E37C-468F-9600-200C2B9FA0BC}" dt="2026-05-19T11:18:40.360" v="0" actId="33475"/>
          <ac:spMkLst>
            <pc:docMk/>
            <pc:sldMasterMk cId="2891895538" sldId="2147483648"/>
            <ac:spMk id="5" creationId="{BFB4FF78-802F-210B-3582-29B6A7D49099}"/>
          </ac:spMkLst>
        </pc:sp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775433-0AFC-4A3C-BE7A-1091D60E18A6}"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E31794EF-4E6E-4686-92CA-2D2AC1C0CFAB}">
      <dgm:prSet/>
      <dgm:spPr/>
      <dgm:t>
        <a:bodyPr/>
        <a:lstStyle/>
        <a:p>
          <a:pPr>
            <a:lnSpc>
              <a:spcPct val="100000"/>
            </a:lnSpc>
            <a:defRPr b="1"/>
          </a:pPr>
          <a:r>
            <a:rPr lang="en-US"/>
            <a:t>Types of Machine Learning</a:t>
          </a:r>
        </a:p>
      </dgm:t>
    </dgm:pt>
    <dgm:pt modelId="{AF4F965F-EDA2-465F-9217-EAAC3D3F7B59}" type="parTrans" cxnId="{74A6B19F-A568-44DD-B1FD-33252F911FA6}">
      <dgm:prSet/>
      <dgm:spPr/>
      <dgm:t>
        <a:bodyPr/>
        <a:lstStyle/>
        <a:p>
          <a:endParaRPr lang="en-US"/>
        </a:p>
      </dgm:t>
    </dgm:pt>
    <dgm:pt modelId="{DAEA9944-E8BA-4E6F-9367-FEBB5CD2F346}" type="sibTrans" cxnId="{74A6B19F-A568-44DD-B1FD-33252F911FA6}">
      <dgm:prSet/>
      <dgm:spPr/>
      <dgm:t>
        <a:bodyPr/>
        <a:lstStyle/>
        <a:p>
          <a:pPr>
            <a:lnSpc>
              <a:spcPct val="100000"/>
            </a:lnSpc>
            <a:defRPr b="1"/>
          </a:pPr>
          <a:endParaRPr lang="en-US"/>
        </a:p>
      </dgm:t>
    </dgm:pt>
    <dgm:pt modelId="{1C28FAE1-1570-4099-B93B-D2BA996DE85A}">
      <dgm:prSet/>
      <dgm:spPr/>
      <dgm:t>
        <a:bodyPr/>
        <a:lstStyle/>
        <a:p>
          <a:pPr>
            <a:lnSpc>
              <a:spcPct val="100000"/>
            </a:lnSpc>
          </a:pPr>
          <a:r>
            <a:rPr lang="en-US"/>
            <a:t>Supervised, unsupervised, and reinforcement learning are key paradigms with unique roles in data analysis and decision making.</a:t>
          </a:r>
        </a:p>
      </dgm:t>
    </dgm:pt>
    <dgm:pt modelId="{E3073E23-4EC1-4B62-A3A7-4872E2F0B758}" type="parTrans" cxnId="{CA3E3939-26AB-47C5-B9CF-E86D0DF6E557}">
      <dgm:prSet/>
      <dgm:spPr/>
      <dgm:t>
        <a:bodyPr/>
        <a:lstStyle/>
        <a:p>
          <a:endParaRPr lang="en-US"/>
        </a:p>
      </dgm:t>
    </dgm:pt>
    <dgm:pt modelId="{E0EA70C9-F3E0-42CB-BDC4-3E554D183254}" type="sibTrans" cxnId="{CA3E3939-26AB-47C5-B9CF-E86D0DF6E557}">
      <dgm:prSet/>
      <dgm:spPr/>
      <dgm:t>
        <a:bodyPr/>
        <a:lstStyle/>
        <a:p>
          <a:endParaRPr lang="en-US"/>
        </a:p>
      </dgm:t>
    </dgm:pt>
    <dgm:pt modelId="{4F3D0E7B-9BCF-4682-9EF8-27C7D3F10675}">
      <dgm:prSet/>
      <dgm:spPr/>
      <dgm:t>
        <a:bodyPr/>
        <a:lstStyle/>
        <a:p>
          <a:pPr>
            <a:lnSpc>
              <a:spcPct val="100000"/>
            </a:lnSpc>
            <a:defRPr b="1"/>
          </a:pPr>
          <a:r>
            <a:rPr lang="en-US"/>
            <a:t>Choosing Learning Paradigm</a:t>
          </a:r>
        </a:p>
      </dgm:t>
    </dgm:pt>
    <dgm:pt modelId="{70F9DBBC-4CD8-4C46-9964-C585A4F9C736}" type="parTrans" cxnId="{0468F81A-86CB-4330-8EA7-015FFACD9200}">
      <dgm:prSet/>
      <dgm:spPr/>
      <dgm:t>
        <a:bodyPr/>
        <a:lstStyle/>
        <a:p>
          <a:endParaRPr lang="en-US"/>
        </a:p>
      </dgm:t>
    </dgm:pt>
    <dgm:pt modelId="{C65B2F02-0997-45DF-9711-E3A7EB2763DC}" type="sibTrans" cxnId="{0468F81A-86CB-4330-8EA7-015FFACD9200}">
      <dgm:prSet/>
      <dgm:spPr/>
      <dgm:t>
        <a:bodyPr/>
        <a:lstStyle/>
        <a:p>
          <a:pPr>
            <a:lnSpc>
              <a:spcPct val="100000"/>
            </a:lnSpc>
            <a:defRPr b="1"/>
          </a:pPr>
          <a:endParaRPr lang="en-US"/>
        </a:p>
      </dgm:t>
    </dgm:pt>
    <dgm:pt modelId="{F73CA550-3EF9-4E49-84A2-777665C775F0}">
      <dgm:prSet/>
      <dgm:spPr/>
      <dgm:t>
        <a:bodyPr/>
        <a:lstStyle/>
        <a:p>
          <a:pPr>
            <a:lnSpc>
              <a:spcPct val="100000"/>
            </a:lnSpc>
          </a:pPr>
          <a:r>
            <a:rPr lang="en-US"/>
            <a:t>Selecting the appropriate type depends on labeled data availability, problem nature, and expected outcomes.</a:t>
          </a:r>
        </a:p>
      </dgm:t>
    </dgm:pt>
    <dgm:pt modelId="{84E67206-B0AC-49F6-BB8F-6D1E4364E072}" type="parTrans" cxnId="{E8D330F7-AD9F-4206-8B8A-1BBAD8AAE9FD}">
      <dgm:prSet/>
      <dgm:spPr/>
      <dgm:t>
        <a:bodyPr/>
        <a:lstStyle/>
        <a:p>
          <a:endParaRPr lang="en-US"/>
        </a:p>
      </dgm:t>
    </dgm:pt>
    <dgm:pt modelId="{7273B211-0D22-4C3F-B84D-6C9B75319154}" type="sibTrans" cxnId="{E8D330F7-AD9F-4206-8B8A-1BBAD8AAE9FD}">
      <dgm:prSet/>
      <dgm:spPr/>
      <dgm:t>
        <a:bodyPr/>
        <a:lstStyle/>
        <a:p>
          <a:endParaRPr lang="en-US"/>
        </a:p>
      </dgm:t>
    </dgm:pt>
    <dgm:pt modelId="{887AED78-8700-43FF-AC2B-89872079358F}">
      <dgm:prSet/>
      <dgm:spPr/>
      <dgm:t>
        <a:bodyPr/>
        <a:lstStyle/>
        <a:p>
          <a:pPr>
            <a:lnSpc>
              <a:spcPct val="100000"/>
            </a:lnSpc>
            <a:defRPr b="1"/>
          </a:pPr>
          <a:r>
            <a:rPr lang="en-US"/>
            <a:t>Practical Impact</a:t>
          </a:r>
        </a:p>
      </dgm:t>
    </dgm:pt>
    <dgm:pt modelId="{2D6F3385-F516-449B-B56C-15C713BCFF3F}" type="parTrans" cxnId="{17BA4A8A-0270-4829-BA73-39B1987AF757}">
      <dgm:prSet/>
      <dgm:spPr/>
      <dgm:t>
        <a:bodyPr/>
        <a:lstStyle/>
        <a:p>
          <a:endParaRPr lang="en-US"/>
        </a:p>
      </dgm:t>
    </dgm:pt>
    <dgm:pt modelId="{5227C3D9-9F3A-4CBA-A859-C46D489C198C}" type="sibTrans" cxnId="{17BA4A8A-0270-4829-BA73-39B1987AF757}">
      <dgm:prSet/>
      <dgm:spPr/>
      <dgm:t>
        <a:bodyPr/>
        <a:lstStyle/>
        <a:p>
          <a:endParaRPr lang="en-US"/>
        </a:p>
      </dgm:t>
    </dgm:pt>
    <dgm:pt modelId="{A892209C-871D-4119-8E15-2F20A960E59F}">
      <dgm:prSet/>
      <dgm:spPr/>
      <dgm:t>
        <a:bodyPr/>
        <a:lstStyle/>
        <a:p>
          <a:pPr>
            <a:lnSpc>
              <a:spcPct val="100000"/>
            </a:lnSpc>
          </a:pPr>
          <a:r>
            <a:rPr lang="en-US"/>
            <a:t>Understanding these ML types enables designing effective, real-world AI solutions and confident professional communication.</a:t>
          </a:r>
        </a:p>
      </dgm:t>
    </dgm:pt>
    <dgm:pt modelId="{D9621EEF-CDDF-46CB-A5F0-9F600D31D99F}" type="parTrans" cxnId="{F82D5B87-06B6-49FA-B1E2-1A041E24F264}">
      <dgm:prSet/>
      <dgm:spPr/>
      <dgm:t>
        <a:bodyPr/>
        <a:lstStyle/>
        <a:p>
          <a:endParaRPr lang="en-US"/>
        </a:p>
      </dgm:t>
    </dgm:pt>
    <dgm:pt modelId="{D344C869-3D06-472F-BE52-F75FEBF380E1}" type="sibTrans" cxnId="{F82D5B87-06B6-49FA-B1E2-1A041E24F264}">
      <dgm:prSet/>
      <dgm:spPr/>
      <dgm:t>
        <a:bodyPr/>
        <a:lstStyle/>
        <a:p>
          <a:endParaRPr lang="en-US"/>
        </a:p>
      </dgm:t>
    </dgm:pt>
    <dgm:pt modelId="{90C02FE7-608B-4582-9DEE-C38A409DBD0E}" type="pres">
      <dgm:prSet presAssocID="{7C775433-0AFC-4A3C-BE7A-1091D60E18A6}" presName="Root" presStyleCnt="0">
        <dgm:presLayoutVars>
          <dgm:dir/>
          <dgm:resizeHandles val="exact"/>
        </dgm:presLayoutVars>
      </dgm:prSet>
      <dgm:spPr/>
    </dgm:pt>
    <dgm:pt modelId="{3AC709CE-8418-4CE7-A1E3-FE273116EA64}" type="pres">
      <dgm:prSet presAssocID="{E31794EF-4E6E-4686-92CA-2D2AC1C0CFAB}" presName="Composite" presStyleCnt="0"/>
      <dgm:spPr/>
    </dgm:pt>
    <dgm:pt modelId="{799487CC-99DA-472B-93D5-47F0693FBE07}" type="pres">
      <dgm:prSet presAssocID="{E31794EF-4E6E-4686-92CA-2D2AC1C0CFAB}"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5503" r="19497" b="-1"/>
          <a:stretch/>
        </a:blipFill>
      </dgm:spPr>
      <dgm:extLst>
        <a:ext uri="{E40237B7-FDA0-4F09-8148-C483321AD2D9}">
          <dgm14:cNvPr xmlns:dgm14="http://schemas.microsoft.com/office/drawing/2010/diagram" id="0" name="" descr="Idea light bulb success inspiration crumpled paper"/>
        </a:ext>
      </dgm:extLst>
    </dgm:pt>
    <dgm:pt modelId="{6AF9D696-F386-4A3E-A777-74B7005C58A5}" type="pres">
      <dgm:prSet presAssocID="{E31794EF-4E6E-4686-92CA-2D2AC1C0CFAB}" presName="Subtitle" presStyleLbl="revTx" presStyleIdx="0" presStyleCnt="6">
        <dgm:presLayoutVars>
          <dgm:chMax val="0"/>
          <dgm:bulletEnabled/>
        </dgm:presLayoutVars>
      </dgm:prSet>
      <dgm:spPr/>
    </dgm:pt>
    <dgm:pt modelId="{F23D32DA-04F4-4C88-A083-63A3EC4C7E44}" type="pres">
      <dgm:prSet presAssocID="{E31794EF-4E6E-4686-92CA-2D2AC1C0CFAB}" presName="Description" presStyleLbl="revTx" presStyleIdx="1" presStyleCnt="6">
        <dgm:presLayoutVars>
          <dgm:bulletEnabled/>
        </dgm:presLayoutVars>
      </dgm:prSet>
      <dgm:spPr/>
    </dgm:pt>
    <dgm:pt modelId="{F3A0FF00-C737-4140-8C51-740C2AA7DDC6}" type="pres">
      <dgm:prSet presAssocID="{DAEA9944-E8BA-4E6F-9367-FEBB5CD2F346}" presName="sibTrans" presStyleLbl="sibTrans2D1" presStyleIdx="0" presStyleCnt="0"/>
      <dgm:spPr/>
    </dgm:pt>
    <dgm:pt modelId="{C5489BCE-0841-4E32-91F1-C2AB4F55B937}" type="pres">
      <dgm:prSet presAssocID="{4F3D0E7B-9BCF-4682-9EF8-27C7D3F10675}" presName="Composite" presStyleCnt="0"/>
      <dgm:spPr/>
    </dgm:pt>
    <dgm:pt modelId="{DD877F38-9CC0-4B97-AE0B-90F0086F4EA0}" type="pres">
      <dgm:prSet presAssocID="{4F3D0E7B-9BCF-4682-9EF8-27C7D3F10675}"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5068" r="19434" b="4"/>
          <a:stretch/>
        </a:blipFill>
      </dgm:spPr>
      <dgm:extLst>
        <a:ext uri="{E40237B7-FDA0-4F09-8148-C483321AD2D9}">
          <dgm14:cNvPr xmlns:dgm14="http://schemas.microsoft.com/office/drawing/2010/diagram" id="0" name="" descr="Female drawing flow chart"/>
        </a:ext>
      </dgm:extLst>
    </dgm:pt>
    <dgm:pt modelId="{35D0A291-AA35-4598-A17A-C80A8240631A}" type="pres">
      <dgm:prSet presAssocID="{4F3D0E7B-9BCF-4682-9EF8-27C7D3F10675}" presName="Subtitle" presStyleLbl="revTx" presStyleIdx="2" presStyleCnt="6">
        <dgm:presLayoutVars>
          <dgm:chMax val="0"/>
          <dgm:bulletEnabled/>
        </dgm:presLayoutVars>
      </dgm:prSet>
      <dgm:spPr/>
    </dgm:pt>
    <dgm:pt modelId="{0A187AC9-73EC-4B7D-854B-619F5FC21C46}" type="pres">
      <dgm:prSet presAssocID="{4F3D0E7B-9BCF-4682-9EF8-27C7D3F10675}" presName="Description" presStyleLbl="revTx" presStyleIdx="3" presStyleCnt="6">
        <dgm:presLayoutVars>
          <dgm:bulletEnabled/>
        </dgm:presLayoutVars>
      </dgm:prSet>
      <dgm:spPr/>
    </dgm:pt>
    <dgm:pt modelId="{6851E8BA-6FF2-4F3A-A2E0-B9B9B71F7D79}" type="pres">
      <dgm:prSet presAssocID="{C65B2F02-0997-45DF-9711-E3A7EB2763DC}" presName="sibTrans" presStyleLbl="sibTrans2D1" presStyleIdx="0" presStyleCnt="0"/>
      <dgm:spPr/>
    </dgm:pt>
    <dgm:pt modelId="{7B0225F0-4334-43B2-AC0E-26B202A3B207}" type="pres">
      <dgm:prSet presAssocID="{887AED78-8700-43FF-AC2B-89872079358F}" presName="Composite" presStyleCnt="0"/>
      <dgm:spPr/>
    </dgm:pt>
    <dgm:pt modelId="{9D04D3EE-0D1A-43B3-A1C1-DF61D0EB2083}" type="pres">
      <dgm:prSet presAssocID="{887AED78-8700-43FF-AC2B-89872079358F}"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4960" r="18292" b="2"/>
          <a:stretch/>
        </a:blipFill>
      </dgm:spPr>
      <dgm:extLst>
        <a:ext uri="{E40237B7-FDA0-4F09-8148-C483321AD2D9}">
          <dgm14:cNvPr xmlns:dgm14="http://schemas.microsoft.com/office/drawing/2010/diagram" id="0" name="" descr="In the near future, smart phones and tablet terminals are held in the hands of artificial intelligence robots. All information is available by cloud computing,&#10;Shopping, telemedicine, education, telecommuting, everything is automated. At the same time the monitoring system will be strengthened for safety."/>
        </a:ext>
      </dgm:extLst>
    </dgm:pt>
    <dgm:pt modelId="{8F4F0F92-EBF5-4B36-9BEB-A5CF00DFE182}" type="pres">
      <dgm:prSet presAssocID="{887AED78-8700-43FF-AC2B-89872079358F}" presName="Subtitle" presStyleLbl="revTx" presStyleIdx="4" presStyleCnt="6">
        <dgm:presLayoutVars>
          <dgm:chMax val="0"/>
          <dgm:bulletEnabled/>
        </dgm:presLayoutVars>
      </dgm:prSet>
      <dgm:spPr/>
    </dgm:pt>
    <dgm:pt modelId="{6AAE272C-41AF-466F-8953-6B386FBC7218}" type="pres">
      <dgm:prSet presAssocID="{887AED78-8700-43FF-AC2B-89872079358F}" presName="Description" presStyleLbl="revTx" presStyleIdx="5" presStyleCnt="6">
        <dgm:presLayoutVars>
          <dgm:bulletEnabled/>
        </dgm:presLayoutVars>
      </dgm:prSet>
      <dgm:spPr/>
    </dgm:pt>
  </dgm:ptLst>
  <dgm:cxnLst>
    <dgm:cxn modelId="{0468F81A-86CB-4330-8EA7-015FFACD9200}" srcId="{7C775433-0AFC-4A3C-BE7A-1091D60E18A6}" destId="{4F3D0E7B-9BCF-4682-9EF8-27C7D3F10675}" srcOrd="1" destOrd="0" parTransId="{70F9DBBC-4CD8-4C46-9964-C585A4F9C736}" sibTransId="{C65B2F02-0997-45DF-9711-E3A7EB2763DC}"/>
    <dgm:cxn modelId="{1F310832-5705-40D2-843D-BF45D0D91BD2}" type="presOf" srcId="{1C28FAE1-1570-4099-B93B-D2BA996DE85A}" destId="{F23D32DA-04F4-4C88-A083-63A3EC4C7E44}" srcOrd="0" destOrd="0" presId="urn:microsoft.com/office/officeart/2024/3/layout/verticalVisualTextBlock1"/>
    <dgm:cxn modelId="{CA3E3939-26AB-47C5-B9CF-E86D0DF6E557}" srcId="{E31794EF-4E6E-4686-92CA-2D2AC1C0CFAB}" destId="{1C28FAE1-1570-4099-B93B-D2BA996DE85A}" srcOrd="0" destOrd="0" parTransId="{E3073E23-4EC1-4B62-A3A7-4872E2F0B758}" sibTransId="{E0EA70C9-F3E0-42CB-BDC4-3E554D183254}"/>
    <dgm:cxn modelId="{9E938B5B-5BFE-4B62-8235-E0050B05F237}" type="presOf" srcId="{7C775433-0AFC-4A3C-BE7A-1091D60E18A6}" destId="{90C02FE7-608B-4582-9DEE-C38A409DBD0E}" srcOrd="0" destOrd="0" presId="urn:microsoft.com/office/officeart/2024/3/layout/verticalVisualTextBlock1"/>
    <dgm:cxn modelId="{9C8A8347-003E-4687-B5E1-B3B52CA8A3D1}" type="presOf" srcId="{A892209C-871D-4119-8E15-2F20A960E59F}" destId="{6AAE272C-41AF-466F-8953-6B386FBC7218}" srcOrd="0" destOrd="0" presId="urn:microsoft.com/office/officeart/2024/3/layout/verticalVisualTextBlock1"/>
    <dgm:cxn modelId="{9F69CD6C-2DF4-4881-A15A-AD127B83AA9A}" type="presOf" srcId="{DAEA9944-E8BA-4E6F-9367-FEBB5CD2F346}" destId="{F3A0FF00-C737-4140-8C51-740C2AA7DDC6}" srcOrd="0" destOrd="0" presId="urn:microsoft.com/office/officeart/2024/3/layout/verticalVisualTextBlock1"/>
    <dgm:cxn modelId="{195A7751-FC10-463B-85FE-93CD16E97951}" type="presOf" srcId="{E31794EF-4E6E-4686-92CA-2D2AC1C0CFAB}" destId="{6AF9D696-F386-4A3E-A777-74B7005C58A5}" srcOrd="0" destOrd="0" presId="urn:microsoft.com/office/officeart/2024/3/layout/verticalVisualTextBlock1"/>
    <dgm:cxn modelId="{F82D5B87-06B6-49FA-B1E2-1A041E24F264}" srcId="{887AED78-8700-43FF-AC2B-89872079358F}" destId="{A892209C-871D-4119-8E15-2F20A960E59F}" srcOrd="0" destOrd="0" parTransId="{D9621EEF-CDDF-46CB-A5F0-9F600D31D99F}" sibTransId="{D344C869-3D06-472F-BE52-F75FEBF380E1}"/>
    <dgm:cxn modelId="{17BA4A8A-0270-4829-BA73-39B1987AF757}" srcId="{7C775433-0AFC-4A3C-BE7A-1091D60E18A6}" destId="{887AED78-8700-43FF-AC2B-89872079358F}" srcOrd="2" destOrd="0" parTransId="{2D6F3385-F516-449B-B56C-15C713BCFF3F}" sibTransId="{5227C3D9-9F3A-4CBA-A859-C46D489C198C}"/>
    <dgm:cxn modelId="{74A6B19F-A568-44DD-B1FD-33252F911FA6}" srcId="{7C775433-0AFC-4A3C-BE7A-1091D60E18A6}" destId="{E31794EF-4E6E-4686-92CA-2D2AC1C0CFAB}" srcOrd="0" destOrd="0" parTransId="{AF4F965F-EDA2-465F-9217-EAAC3D3F7B59}" sibTransId="{DAEA9944-E8BA-4E6F-9367-FEBB5CD2F346}"/>
    <dgm:cxn modelId="{FC518DB2-A267-4FD1-A659-ADD93DD9A692}" type="presOf" srcId="{887AED78-8700-43FF-AC2B-89872079358F}" destId="{8F4F0F92-EBF5-4B36-9BEB-A5CF00DFE182}" srcOrd="0" destOrd="0" presId="urn:microsoft.com/office/officeart/2024/3/layout/verticalVisualTextBlock1"/>
    <dgm:cxn modelId="{571B9EE1-866E-448B-8F85-B828CC69254B}" type="presOf" srcId="{C65B2F02-0997-45DF-9711-E3A7EB2763DC}" destId="{6851E8BA-6FF2-4F3A-A2E0-B9B9B71F7D79}" srcOrd="0" destOrd="0" presId="urn:microsoft.com/office/officeart/2024/3/layout/verticalVisualTextBlock1"/>
    <dgm:cxn modelId="{E5EE28E8-4FAB-4C18-B3D9-F3B4E88E3DC2}" type="presOf" srcId="{4F3D0E7B-9BCF-4682-9EF8-27C7D3F10675}" destId="{35D0A291-AA35-4598-A17A-C80A8240631A}" srcOrd="0" destOrd="0" presId="urn:microsoft.com/office/officeart/2024/3/layout/verticalVisualTextBlock1"/>
    <dgm:cxn modelId="{6BDFFDEE-0D2D-42D5-BAA7-A1F935105F34}" type="presOf" srcId="{F73CA550-3EF9-4E49-84A2-777665C775F0}" destId="{0A187AC9-73EC-4B7D-854B-619F5FC21C46}" srcOrd="0" destOrd="0" presId="urn:microsoft.com/office/officeart/2024/3/layout/verticalVisualTextBlock1"/>
    <dgm:cxn modelId="{E8D330F7-AD9F-4206-8B8A-1BBAD8AAE9FD}" srcId="{4F3D0E7B-9BCF-4682-9EF8-27C7D3F10675}" destId="{F73CA550-3EF9-4E49-84A2-777665C775F0}" srcOrd="0" destOrd="0" parTransId="{84E67206-B0AC-49F6-BB8F-6D1E4364E072}" sibTransId="{7273B211-0D22-4C3F-B84D-6C9B75319154}"/>
    <dgm:cxn modelId="{6334610E-78AD-4F57-9DAC-A07C087B2356}" type="presParOf" srcId="{90C02FE7-608B-4582-9DEE-C38A409DBD0E}" destId="{3AC709CE-8418-4CE7-A1E3-FE273116EA64}" srcOrd="0" destOrd="0" presId="urn:microsoft.com/office/officeart/2024/3/layout/verticalVisualTextBlock1"/>
    <dgm:cxn modelId="{07DD8151-671F-48AB-8F0F-3D8D2FDA18E6}" type="presParOf" srcId="{3AC709CE-8418-4CE7-A1E3-FE273116EA64}" destId="{799487CC-99DA-472B-93D5-47F0693FBE07}" srcOrd="0" destOrd="0" presId="urn:microsoft.com/office/officeart/2024/3/layout/verticalVisualTextBlock1"/>
    <dgm:cxn modelId="{DB141E17-231A-41FA-B9E5-C892302DB4BB}" type="presParOf" srcId="{3AC709CE-8418-4CE7-A1E3-FE273116EA64}" destId="{6AF9D696-F386-4A3E-A777-74B7005C58A5}" srcOrd="1" destOrd="0" presId="urn:microsoft.com/office/officeart/2024/3/layout/verticalVisualTextBlock1"/>
    <dgm:cxn modelId="{813F8E52-2D4B-48C4-B67A-2DB2CA559416}" type="presParOf" srcId="{3AC709CE-8418-4CE7-A1E3-FE273116EA64}" destId="{F23D32DA-04F4-4C88-A083-63A3EC4C7E44}" srcOrd="2" destOrd="0" presId="urn:microsoft.com/office/officeart/2024/3/layout/verticalVisualTextBlock1"/>
    <dgm:cxn modelId="{C90CFEED-FE33-4932-A645-5834A76E8BE2}" type="presParOf" srcId="{90C02FE7-608B-4582-9DEE-C38A409DBD0E}" destId="{F3A0FF00-C737-4140-8C51-740C2AA7DDC6}" srcOrd="1" destOrd="0" presId="urn:microsoft.com/office/officeart/2024/3/layout/verticalVisualTextBlock1"/>
    <dgm:cxn modelId="{EADC55AD-5840-4AFD-98AD-B0DFA07C0F02}" type="presParOf" srcId="{90C02FE7-608B-4582-9DEE-C38A409DBD0E}" destId="{C5489BCE-0841-4E32-91F1-C2AB4F55B937}" srcOrd="2" destOrd="0" presId="urn:microsoft.com/office/officeart/2024/3/layout/verticalVisualTextBlock1"/>
    <dgm:cxn modelId="{53B2FDD3-DFA1-4FFA-BC1E-C599BFEDD939}" type="presParOf" srcId="{C5489BCE-0841-4E32-91F1-C2AB4F55B937}" destId="{DD877F38-9CC0-4B97-AE0B-90F0086F4EA0}" srcOrd="0" destOrd="0" presId="urn:microsoft.com/office/officeart/2024/3/layout/verticalVisualTextBlock1"/>
    <dgm:cxn modelId="{2C150D56-1C66-402E-9910-F212171ABD2C}" type="presParOf" srcId="{C5489BCE-0841-4E32-91F1-C2AB4F55B937}" destId="{35D0A291-AA35-4598-A17A-C80A8240631A}" srcOrd="1" destOrd="0" presId="urn:microsoft.com/office/officeart/2024/3/layout/verticalVisualTextBlock1"/>
    <dgm:cxn modelId="{3F6974D9-3D98-4275-9CC6-1D874B3FF25E}" type="presParOf" srcId="{C5489BCE-0841-4E32-91F1-C2AB4F55B937}" destId="{0A187AC9-73EC-4B7D-854B-619F5FC21C46}" srcOrd="2" destOrd="0" presId="urn:microsoft.com/office/officeart/2024/3/layout/verticalVisualTextBlock1"/>
    <dgm:cxn modelId="{BB9D08E3-90EB-450A-BED0-1CC06ECE7986}" type="presParOf" srcId="{90C02FE7-608B-4582-9DEE-C38A409DBD0E}" destId="{6851E8BA-6FF2-4F3A-A2E0-B9B9B71F7D79}" srcOrd="3" destOrd="0" presId="urn:microsoft.com/office/officeart/2024/3/layout/verticalVisualTextBlock1"/>
    <dgm:cxn modelId="{604F2D07-13C9-4FE4-98E7-82DA128B8F41}" type="presParOf" srcId="{90C02FE7-608B-4582-9DEE-C38A409DBD0E}" destId="{7B0225F0-4334-43B2-AC0E-26B202A3B207}" srcOrd="4" destOrd="0" presId="urn:microsoft.com/office/officeart/2024/3/layout/verticalVisualTextBlock1"/>
    <dgm:cxn modelId="{05472414-DC30-4AD9-9298-75950498D543}" type="presParOf" srcId="{7B0225F0-4334-43B2-AC0E-26B202A3B207}" destId="{9D04D3EE-0D1A-43B3-A1C1-DF61D0EB2083}" srcOrd="0" destOrd="0" presId="urn:microsoft.com/office/officeart/2024/3/layout/verticalVisualTextBlock1"/>
    <dgm:cxn modelId="{ADF6F068-AA14-4F72-9857-75013DA52D8D}" type="presParOf" srcId="{7B0225F0-4334-43B2-AC0E-26B202A3B207}" destId="{8F4F0F92-EBF5-4B36-9BEB-A5CF00DFE182}" srcOrd="1" destOrd="0" presId="urn:microsoft.com/office/officeart/2024/3/layout/verticalVisualTextBlock1"/>
    <dgm:cxn modelId="{244987CA-1C7B-4D37-A656-2D7AD553309E}" type="presParOf" srcId="{7B0225F0-4334-43B2-AC0E-26B202A3B207}" destId="{6AAE272C-41AF-466F-8953-6B386FBC7218}"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9487CC-99DA-472B-93D5-47F0693FBE07}">
      <dsp:nvSpPr>
        <dsp:cNvPr id="0" name=""/>
        <dsp:cNvSpPr/>
      </dsp:nvSpPr>
      <dsp:spPr>
        <a:xfrm>
          <a:off x="0" y="0"/>
          <a:ext cx="1453515" cy="145351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5503" r="19497" b="-1"/>
          <a:stretch/>
        </a:blipFill>
        <a:ln>
          <a:noFill/>
        </a:ln>
        <a:effectLst/>
      </dsp:spPr>
      <dsp:style>
        <a:lnRef idx="0">
          <a:scrgbClr r="0" g="0" b="0"/>
        </a:lnRef>
        <a:fillRef idx="3">
          <a:scrgbClr r="0" g="0" b="0"/>
        </a:fillRef>
        <a:effectRef idx="2">
          <a:scrgbClr r="0" g="0" b="0"/>
        </a:effectRef>
        <a:fontRef idx="minor">
          <a:schemeClr val="lt1"/>
        </a:fontRef>
      </dsp:style>
    </dsp:sp>
    <dsp:sp modelId="{6AF9D696-F386-4A3E-A777-74B7005C58A5}">
      <dsp:nvSpPr>
        <dsp:cNvPr id="0" name=""/>
        <dsp:cNvSpPr/>
      </dsp:nvSpPr>
      <dsp:spPr>
        <a:xfrm>
          <a:off x="1633515" y="0"/>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Types of Machine Learning</a:t>
          </a:r>
        </a:p>
      </dsp:txBody>
      <dsp:txXfrm>
        <a:off x="1633515" y="0"/>
        <a:ext cx="9330140" cy="369520"/>
      </dsp:txXfrm>
    </dsp:sp>
    <dsp:sp modelId="{F23D32DA-04F4-4C88-A083-63A3EC4C7E44}">
      <dsp:nvSpPr>
        <dsp:cNvPr id="0" name=""/>
        <dsp:cNvSpPr/>
      </dsp:nvSpPr>
      <dsp:spPr>
        <a:xfrm>
          <a:off x="1633515" y="369520"/>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Supervised, unsupervised, and reinforcement learning are key paradigms with unique roles in data analysis and decision making.</a:t>
          </a:r>
        </a:p>
      </dsp:txBody>
      <dsp:txXfrm>
        <a:off x="1633515" y="369520"/>
        <a:ext cx="9330140" cy="1083995"/>
      </dsp:txXfrm>
    </dsp:sp>
    <dsp:sp modelId="{DD877F38-9CC0-4B97-AE0B-90F0086F4EA0}">
      <dsp:nvSpPr>
        <dsp:cNvPr id="0" name=""/>
        <dsp:cNvSpPr/>
      </dsp:nvSpPr>
      <dsp:spPr>
        <a:xfrm>
          <a:off x="0" y="1569797"/>
          <a:ext cx="1453515" cy="145351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5068" r="19434" b="4"/>
          <a:stretch/>
        </a:blipFill>
        <a:ln>
          <a:noFill/>
        </a:ln>
        <a:effectLst/>
      </dsp:spPr>
      <dsp:style>
        <a:lnRef idx="0">
          <a:scrgbClr r="0" g="0" b="0"/>
        </a:lnRef>
        <a:fillRef idx="3">
          <a:scrgbClr r="0" g="0" b="0"/>
        </a:fillRef>
        <a:effectRef idx="2">
          <a:scrgbClr r="0" g="0" b="0"/>
        </a:effectRef>
        <a:fontRef idx="minor">
          <a:schemeClr val="lt1"/>
        </a:fontRef>
      </dsp:style>
    </dsp:sp>
    <dsp:sp modelId="{35D0A291-AA35-4598-A17A-C80A8240631A}">
      <dsp:nvSpPr>
        <dsp:cNvPr id="0" name=""/>
        <dsp:cNvSpPr/>
      </dsp:nvSpPr>
      <dsp:spPr>
        <a:xfrm>
          <a:off x="1633515" y="1569797"/>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Choosing Learning Paradigm</a:t>
          </a:r>
        </a:p>
      </dsp:txBody>
      <dsp:txXfrm>
        <a:off x="1633515" y="1569797"/>
        <a:ext cx="9330140" cy="369520"/>
      </dsp:txXfrm>
    </dsp:sp>
    <dsp:sp modelId="{0A187AC9-73EC-4B7D-854B-619F5FC21C46}">
      <dsp:nvSpPr>
        <dsp:cNvPr id="0" name=""/>
        <dsp:cNvSpPr/>
      </dsp:nvSpPr>
      <dsp:spPr>
        <a:xfrm>
          <a:off x="1633515" y="1939317"/>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Selecting the appropriate type depends on labeled data availability, problem nature, and expected outcomes.</a:t>
          </a:r>
        </a:p>
      </dsp:txBody>
      <dsp:txXfrm>
        <a:off x="1633515" y="1939317"/>
        <a:ext cx="9330140" cy="1083995"/>
      </dsp:txXfrm>
    </dsp:sp>
    <dsp:sp modelId="{9D04D3EE-0D1A-43B3-A1C1-DF61D0EB2083}">
      <dsp:nvSpPr>
        <dsp:cNvPr id="0" name=""/>
        <dsp:cNvSpPr/>
      </dsp:nvSpPr>
      <dsp:spPr>
        <a:xfrm>
          <a:off x="0" y="3139594"/>
          <a:ext cx="1453515" cy="145351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4960" r="18292" b="2"/>
          <a:stretch/>
        </a:blipFill>
        <a:ln>
          <a:noFill/>
        </a:ln>
        <a:effectLst/>
      </dsp:spPr>
      <dsp:style>
        <a:lnRef idx="0">
          <a:scrgbClr r="0" g="0" b="0"/>
        </a:lnRef>
        <a:fillRef idx="3">
          <a:scrgbClr r="0" g="0" b="0"/>
        </a:fillRef>
        <a:effectRef idx="2">
          <a:scrgbClr r="0" g="0" b="0"/>
        </a:effectRef>
        <a:fontRef idx="minor">
          <a:schemeClr val="lt1"/>
        </a:fontRef>
      </dsp:style>
    </dsp:sp>
    <dsp:sp modelId="{8F4F0F92-EBF5-4B36-9BEB-A5CF00DFE182}">
      <dsp:nvSpPr>
        <dsp:cNvPr id="0" name=""/>
        <dsp:cNvSpPr/>
      </dsp:nvSpPr>
      <dsp:spPr>
        <a:xfrm>
          <a:off x="1633515" y="3139594"/>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Practical Impact</a:t>
          </a:r>
        </a:p>
      </dsp:txBody>
      <dsp:txXfrm>
        <a:off x="1633515" y="3139594"/>
        <a:ext cx="9330140" cy="369520"/>
      </dsp:txXfrm>
    </dsp:sp>
    <dsp:sp modelId="{6AAE272C-41AF-466F-8953-6B386FBC7218}">
      <dsp:nvSpPr>
        <dsp:cNvPr id="0" name=""/>
        <dsp:cNvSpPr/>
      </dsp:nvSpPr>
      <dsp:spPr>
        <a:xfrm>
          <a:off x="1633515" y="3509114"/>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Understanding these ML types enables designing effective, real-world AI solutions and confident professional communication.</a:t>
          </a:r>
        </a:p>
      </dsp:txBody>
      <dsp:txXfrm>
        <a:off x="1633515" y="3509114"/>
        <a:ext cx="9330140" cy="108399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432678-4F8E-4ACC-A482-BE992D2F4036}" type="datetimeFigureOut">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C854D-1797-4639-95BD-B070839D4E99}" type="slidenum">
              <a:t>‹#›</a:t>
            </a:fld>
            <a:endParaRPr lang="en-US"/>
          </a:p>
        </p:txBody>
      </p:sp>
    </p:spTree>
    <p:extLst>
      <p:ext uri="{BB962C8B-B14F-4D97-AF65-F5344CB8AC3E}">
        <p14:creationId xmlns:p14="http://schemas.microsoft.com/office/powerpoint/2010/main" val="1329516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41913D1-977C-476A-9CEF-E75E1D6DD357}" type="slidenum">
              <a:t>1</a:t>
            </a:fld>
            <a:endParaRPr lang="en-US"/>
          </a:p>
        </p:txBody>
      </p:sp>
    </p:spTree>
    <p:extLst>
      <p:ext uri="{BB962C8B-B14F-4D97-AF65-F5344CB8AC3E}">
        <p14:creationId xmlns:p14="http://schemas.microsoft.com/office/powerpoint/2010/main" val="2695115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and Context: Three Major Types of Machine Learning, Introduction to Machine Learning and Learning Paradigms, High-Level Overview of the Three Learning Types, Supervised Learning: Core Concept and Intuition, Supervised Learning: Three Practical Use Cases, Unsupervised Learning: Core Concept and Intuition, Unsupervised Learning: Three Practical Use Cases, Reinforcement Learning: Core Concept and Intuition, Reinforcement Learning: Three Practical Use Cases, Comparison of Learning Types and Real-World Alignment, Conclusion and Key Takeaways</a:t>
            </a:r>
          </a:p>
        </p:txBody>
      </p:sp>
      <p:sp>
        <p:nvSpPr>
          <p:cNvPr id="4" name="Slide Number Placeholder 3"/>
          <p:cNvSpPr>
            <a:spLocks noGrp="1"/>
          </p:cNvSpPr>
          <p:nvPr>
            <p:ph type="sldNum" sz="quarter" idx="5"/>
          </p:nvPr>
        </p:nvSpPr>
        <p:spPr/>
        <p:txBody>
          <a:bodyPr/>
          <a:lstStyle/>
          <a:p>
            <a:fld id="{C41913D1-977C-476A-9CEF-E75E1D6DD357}" type="slidenum">
              <a:t>2</a:t>
            </a:fld>
            <a:endParaRPr lang="en-US"/>
          </a:p>
        </p:txBody>
      </p:sp>
    </p:spTree>
    <p:extLst>
      <p:ext uri="{BB962C8B-B14F-4D97-AF65-F5344CB8AC3E}">
        <p14:creationId xmlns:p14="http://schemas.microsoft.com/office/powerpoint/2010/main" val="290522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introduces the three major types of Machine Learning—Supervised Learning, Unsupervised Learning, and Reinforcement Learning—through a practical, show-and-tell-oriented narrative. Machine Learning, at its core, focuses on enabling systems to learn patterns from data and make decisions or predictions without being explicitly programmed for every scenario. The motivation for organizing learning approaches into these three categories comes from how data is provided to the model and how feedback is used to improve performance. Supervised Learning relies on labeled data, where the correct answers are known in advance. Unsupervised Learning works with unlabeled data and focuses on discovering hidden structures or patterns. Reinforcement Learning, in contrast, learns by interacting with an environment and receiving rewards or penalties for actions taken. This slide sets the stage by clarifying that these learning paradigms are not competing ideas but complementary tools used across industries. Real-world systems often combine more than one type, such as recommendation engines that use supervised models for prediction and unsupervised models for customer segmentation. By the end of this presentation, the audience should be able to clearly distinguish between the three types, understand when to use each, and confidently explain their real-world relevance using concrete examples and use cases.</a:t>
            </a:r>
          </a:p>
        </p:txBody>
      </p:sp>
      <p:sp>
        <p:nvSpPr>
          <p:cNvPr id="4" name="Slide Number Placeholder 3"/>
          <p:cNvSpPr>
            <a:spLocks noGrp="1"/>
          </p:cNvSpPr>
          <p:nvPr>
            <p:ph type="sldNum" sz="quarter" idx="5"/>
          </p:nvPr>
        </p:nvSpPr>
        <p:spPr/>
        <p:txBody>
          <a:bodyPr/>
          <a:lstStyle/>
          <a:p>
            <a:fld id="{C41913D1-977C-476A-9CEF-E75E1D6DD357}" type="slidenum">
              <a:t>3</a:t>
            </a:fld>
            <a:endParaRPr lang="en-US"/>
          </a:p>
        </p:txBody>
      </p:sp>
    </p:spTree>
    <p:extLst>
      <p:ext uri="{BB962C8B-B14F-4D97-AF65-F5344CB8AC3E}">
        <p14:creationId xmlns:p14="http://schemas.microsoft.com/office/powerpoint/2010/main" val="123931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Machine Learning is a subfield of artificial intelligence that focuses on building systems capable of learning from data and improving over time. Instead of writing fixed rules, developers provide data and allow algorithms to identify patterns and relationships. The way in which data is supplied to a model defines the learning paradigm. Broadly, Machine Learning problems can be grouped into three categories based on supervision and feedback. In supervised learning, the model is trained using historical data that includes both inputs and known outputs, making it suitable for prediction tasks. In unsupervised learning, the data contains only inputs, and the algorithm’s goal is to explore the structure of the data to find similarities, clusters, or associations. Reinforcement learning differs significantly, as it is based on interaction rather than static datasets; an agent learns by taking actions in an environment and observing the outcomes. This slide establishes why these paradigms exist and how they address different types of problems. Understanding this foundation is critical, as selecting the wrong learning type can lead to inefficient models, poor accuracy, or misleading insights in real-world applications.</a:t>
            </a:r>
          </a:p>
        </p:txBody>
      </p:sp>
      <p:sp>
        <p:nvSpPr>
          <p:cNvPr id="4" name="Slide Number Placeholder 3"/>
          <p:cNvSpPr>
            <a:spLocks noGrp="1"/>
          </p:cNvSpPr>
          <p:nvPr>
            <p:ph type="sldNum" sz="quarter" idx="5"/>
          </p:nvPr>
        </p:nvSpPr>
        <p:spPr/>
        <p:txBody>
          <a:bodyPr/>
          <a:lstStyle/>
          <a:p>
            <a:fld id="{C41913D1-977C-476A-9CEF-E75E1D6DD357}" type="slidenum">
              <a:t>4</a:t>
            </a:fld>
            <a:endParaRPr lang="en-US"/>
          </a:p>
        </p:txBody>
      </p:sp>
    </p:spTree>
    <p:extLst>
      <p:ext uri="{BB962C8B-B14F-4D97-AF65-F5344CB8AC3E}">
        <p14:creationId xmlns:p14="http://schemas.microsoft.com/office/powerpoint/2010/main" val="1049274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 high level, the three types of Machine Learning can be differentiated by the nature of data and feedback involved. Supervised Learning uses labeled datasets, meaning every training example includes an input and a correct output. The model’s objective is to learn a mapping function that can generalize to new, unseen data. Unsupervised Learning, on the other hand, deals with unlabeled data and aims to uncover hidden patterns, groupings, or relationships without predefined answers. Reinforcement Learning operates in a dynamic environment, where an agent repeatedly takes actions, observes the results, and receives rewards or penalties that guide future behavior. This overview helps frame the rest of the presentation by showing that each learning type solves a fundamentally different class of problems. Predictive tasks such as price estimation typically rely on supervised learning, exploratory tasks such as customer segmentation use unsupervised learning, and decision-making tasks such as game playing or robotics are best suited for reinforcement learning. This structured view allows practitioners to align business problems with the most appropriate Machine Learning approach.</a:t>
            </a:r>
          </a:p>
        </p:txBody>
      </p:sp>
      <p:sp>
        <p:nvSpPr>
          <p:cNvPr id="4" name="Slide Number Placeholder 3"/>
          <p:cNvSpPr>
            <a:spLocks noGrp="1"/>
          </p:cNvSpPr>
          <p:nvPr>
            <p:ph type="sldNum" sz="quarter" idx="5"/>
          </p:nvPr>
        </p:nvSpPr>
        <p:spPr/>
        <p:txBody>
          <a:bodyPr/>
          <a:lstStyle/>
          <a:p>
            <a:fld id="{C41913D1-977C-476A-9CEF-E75E1D6DD357}" type="slidenum">
              <a:t>5</a:t>
            </a:fld>
            <a:endParaRPr lang="en-US"/>
          </a:p>
        </p:txBody>
      </p:sp>
    </p:spTree>
    <p:extLst>
      <p:ext uri="{BB962C8B-B14F-4D97-AF65-F5344CB8AC3E}">
        <p14:creationId xmlns:p14="http://schemas.microsoft.com/office/powerpoint/2010/main" val="3533053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Supervised Learning is the most commonly used Machine Learning paradigm, primarily because labeled data is often available for many business problems. In supervised learning, each data point consists of an input and a known output, and the algorithm learns by comparing its predictions with the actual answers. Over time, the model adjusts itself to minimize prediction errors. A simple intuition is learning with a teacher: the model is shown the correct answer during training and is corrected when it makes mistakes. Supervised learning problems are further divided into regression, where the output is a continuous value, and classification, where the output belongs to a category. The strength of supervised learning lies in its ability to produce highly accurate predictive models when sufficient labeled data is available. However, it also has limitations, such as the cost and effort required to label large datasets. This slide ensures the audience understands both the intuition and the practical implications of supervised learning.</a:t>
            </a:r>
          </a:p>
        </p:txBody>
      </p:sp>
      <p:sp>
        <p:nvSpPr>
          <p:cNvPr id="4" name="Slide Number Placeholder 3"/>
          <p:cNvSpPr>
            <a:spLocks noGrp="1"/>
          </p:cNvSpPr>
          <p:nvPr>
            <p:ph type="sldNum" sz="quarter" idx="5"/>
          </p:nvPr>
        </p:nvSpPr>
        <p:spPr/>
        <p:txBody>
          <a:bodyPr/>
          <a:lstStyle/>
          <a:p>
            <a:fld id="{C41913D1-977C-476A-9CEF-E75E1D6DD357}" type="slidenum">
              <a:t>6</a:t>
            </a:fld>
            <a:endParaRPr lang="en-US"/>
          </a:p>
        </p:txBody>
      </p:sp>
    </p:spTree>
    <p:extLst>
      <p:ext uri="{BB962C8B-B14F-4D97-AF65-F5344CB8AC3E}">
        <p14:creationId xmlns:p14="http://schemas.microsoft.com/office/powerpoint/2010/main" val="3178114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Supervised learning is widely adopted across industries due to its strong predictive capabilities. The first major use case is house price prediction, where historical data containing house features such as size, location, and number of rooms is used to predict market prices. The second use case is email spam detection, a classic classification problem in which labeled emails are used to train a model to distinguish between spam and legitimate messages. This directly improves user experience and cybersecurity. The third use case is salary prediction, where factors like years of experience, education level, and skill set are used to estimate an employee’s expected compensation. These examples highlight how supervised learning excels when past data with known outcomes is available. In all three cases, the model’s success depends heavily on data quality and proper feature selection, reinforcing why supervised learning is often the first choice for structured prediction problems.</a:t>
            </a:r>
          </a:p>
        </p:txBody>
      </p:sp>
      <p:sp>
        <p:nvSpPr>
          <p:cNvPr id="4" name="Slide Number Placeholder 3"/>
          <p:cNvSpPr>
            <a:spLocks noGrp="1"/>
          </p:cNvSpPr>
          <p:nvPr>
            <p:ph type="sldNum" sz="quarter" idx="5"/>
          </p:nvPr>
        </p:nvSpPr>
        <p:spPr/>
        <p:txBody>
          <a:bodyPr/>
          <a:lstStyle/>
          <a:p>
            <a:fld id="{C41913D1-977C-476A-9CEF-E75E1D6DD357}" type="slidenum">
              <a:t>7</a:t>
            </a:fld>
            <a:endParaRPr lang="en-US"/>
          </a:p>
        </p:txBody>
      </p:sp>
    </p:spTree>
    <p:extLst>
      <p:ext uri="{BB962C8B-B14F-4D97-AF65-F5344CB8AC3E}">
        <p14:creationId xmlns:p14="http://schemas.microsoft.com/office/powerpoint/2010/main" val="1688621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Unsupervised Learning focuses on extracting insights from data without labeled outputs. Unlike supervised learning, there is no predefined notion of correctness. Instead, the algorithm explores the data to identify patterns, similarities, or structures that may not be immediately obvious. A helpful analogy is discovering natural groupings without guidance, such as organizing books by similarity without knowing their genres in advance. Common unsupervised techniques include clustering, association rule mining, and dimensionality reduction. The value of unsupervised learning lies in its ability to reveal hidden information, making it particularly useful during the exploratory phase of data analysis. However, evaluating the quality of unsupervised models can be challenging, as there is no single correct answer. This slide emphasizes why unsupervised learning is essential for understanding complex datasets where labels are unavailable or impractical to obtain.</a:t>
            </a:r>
          </a:p>
        </p:txBody>
      </p:sp>
      <p:sp>
        <p:nvSpPr>
          <p:cNvPr id="4" name="Slide Number Placeholder 3"/>
          <p:cNvSpPr>
            <a:spLocks noGrp="1"/>
          </p:cNvSpPr>
          <p:nvPr>
            <p:ph type="sldNum" sz="quarter" idx="5"/>
          </p:nvPr>
        </p:nvSpPr>
        <p:spPr/>
        <p:txBody>
          <a:bodyPr/>
          <a:lstStyle/>
          <a:p>
            <a:fld id="{C41913D1-977C-476A-9CEF-E75E1D6DD357}" type="slidenum">
              <a:t>8</a:t>
            </a:fld>
            <a:endParaRPr lang="en-US"/>
          </a:p>
        </p:txBody>
      </p:sp>
    </p:spTree>
    <p:extLst>
      <p:ext uri="{BB962C8B-B14F-4D97-AF65-F5344CB8AC3E}">
        <p14:creationId xmlns:p14="http://schemas.microsoft.com/office/powerpoint/2010/main" val="3338461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Unsupervised learning is commonly used to gain insights and discover patterns in raw data. One key use case is customer segmentation, where businesses group customers based on purchasing behavior, demographics, or engagement levels to tailor marketing strategies. Another use case is market basket analysis, which identifies associations between products frequently purchased together, helping retailers optimize store layouts and recommendation strategies. The third use case is fraud detection, where unusual patterns or anomalies in transaction data are identified without relying on predefined fraud labels. These examples demonstrate how unsupervised learning supports strategic decision-making by uncovering structures that guide further analysis or downstream supervised models.</a:t>
            </a:r>
          </a:p>
        </p:txBody>
      </p:sp>
      <p:sp>
        <p:nvSpPr>
          <p:cNvPr id="4" name="Slide Number Placeholder 3"/>
          <p:cNvSpPr>
            <a:spLocks noGrp="1"/>
          </p:cNvSpPr>
          <p:nvPr>
            <p:ph type="sldNum" sz="quarter" idx="5"/>
          </p:nvPr>
        </p:nvSpPr>
        <p:spPr/>
        <p:txBody>
          <a:bodyPr/>
          <a:lstStyle/>
          <a:p>
            <a:fld id="{C41913D1-977C-476A-9CEF-E75E1D6DD357}" type="slidenum">
              <a:t>9</a:t>
            </a:fld>
            <a:endParaRPr lang="en-US"/>
          </a:p>
        </p:txBody>
      </p:sp>
    </p:spTree>
    <p:extLst>
      <p:ext uri="{BB962C8B-B14F-4D97-AF65-F5344CB8AC3E}">
        <p14:creationId xmlns:p14="http://schemas.microsoft.com/office/powerpoint/2010/main" val="662628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Reinforcement Learning is a distinct Machine Learning paradigm centered on learning through interaction. Instead of learning from a fixed dataset, an agent interacts with an environment by taking actions and receiving feedback in the form of rewards or penalties. The objective is to learn a policy that maximizes cumulative reward over time. This approach closely mirrors how humans and animals learn from experience. Reinforcement learning is particularly powerful for sequential decision-making problems, where current actions influence future outcomes. While it can achieve impressive results, reinforcement learning often requires significant computational resources and careful environment design. This slide clarifies the intuition behind reinforcement learning and why it is uniquely suited for adaptive, real-time decision systems.</a:t>
            </a:r>
          </a:p>
        </p:txBody>
      </p:sp>
      <p:sp>
        <p:nvSpPr>
          <p:cNvPr id="4" name="Slide Number Placeholder 3"/>
          <p:cNvSpPr>
            <a:spLocks noGrp="1"/>
          </p:cNvSpPr>
          <p:nvPr>
            <p:ph type="sldNum" sz="quarter" idx="5"/>
          </p:nvPr>
        </p:nvSpPr>
        <p:spPr/>
        <p:txBody>
          <a:bodyPr/>
          <a:lstStyle/>
          <a:p>
            <a:fld id="{C41913D1-977C-476A-9CEF-E75E1D6DD357}" type="slidenum">
              <a:t>10</a:t>
            </a:fld>
            <a:endParaRPr lang="en-US"/>
          </a:p>
        </p:txBody>
      </p:sp>
    </p:spTree>
    <p:extLst>
      <p:ext uri="{BB962C8B-B14F-4D97-AF65-F5344CB8AC3E}">
        <p14:creationId xmlns:p14="http://schemas.microsoft.com/office/powerpoint/2010/main" val="21609483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Reinforcement learning has gained attention due to its success in complex, dynamic environments. One prominent use case is self-driving cars, where an agent learns driving strategies by continuously interacting with road conditions and traffic scenarios. Another use case is game-playing AI, such as chess or strategy games, where agents learn optimal moves through repeated gameplay and feedback. The third use case is robotics, where robots learn tasks like walking, grasping, or navigation through trial and error. These examples illustrate how reinforcement learning excels in environments that require continuous adaptation and long-term strategy optimization.</a:t>
            </a:r>
          </a:p>
        </p:txBody>
      </p:sp>
      <p:sp>
        <p:nvSpPr>
          <p:cNvPr id="4" name="Slide Number Placeholder 3"/>
          <p:cNvSpPr>
            <a:spLocks noGrp="1"/>
          </p:cNvSpPr>
          <p:nvPr>
            <p:ph type="sldNum" sz="quarter" idx="5"/>
          </p:nvPr>
        </p:nvSpPr>
        <p:spPr/>
        <p:txBody>
          <a:bodyPr/>
          <a:lstStyle/>
          <a:p>
            <a:fld id="{C41913D1-977C-476A-9CEF-E75E1D6DD357}" type="slidenum">
              <a:t>11</a:t>
            </a:fld>
            <a:endParaRPr lang="en-US"/>
          </a:p>
        </p:txBody>
      </p:sp>
    </p:spTree>
    <p:extLst>
      <p:ext uri="{BB962C8B-B14F-4D97-AF65-F5344CB8AC3E}">
        <p14:creationId xmlns:p14="http://schemas.microsoft.com/office/powerpoint/2010/main" val="3092374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Comparing the three Machine Learning types highlights their complementary nature. Supervised learning focuses on prediction with labeled data, unsupervised learning emphasizes pattern discovery in unlabeled data, and reinforcement learning targets optimal decision-making through feedback. Real-world systems often integrate multiple paradigms to achieve robust performance. For example, e-commerce platforms may use unsupervised learning for customer segmentation, supervised learning for product recommendations, and reinforcement learning for dynamic pricing strategies. This comparison reinforces the idea that understanding the strengths and limitations of each approach is critical for building effective Machine Learning solutions aligned with business and operational goals.</a:t>
            </a:r>
          </a:p>
        </p:txBody>
      </p:sp>
      <p:sp>
        <p:nvSpPr>
          <p:cNvPr id="4" name="Slide Number Placeholder 3"/>
          <p:cNvSpPr>
            <a:spLocks noGrp="1"/>
          </p:cNvSpPr>
          <p:nvPr>
            <p:ph type="sldNum" sz="quarter" idx="5"/>
          </p:nvPr>
        </p:nvSpPr>
        <p:spPr/>
        <p:txBody>
          <a:bodyPr/>
          <a:lstStyle/>
          <a:p>
            <a:fld id="{C41913D1-977C-476A-9CEF-E75E1D6DD357}" type="slidenum">
              <a:t>12</a:t>
            </a:fld>
            <a:endParaRPr lang="en-US"/>
          </a:p>
        </p:txBody>
      </p:sp>
    </p:spTree>
    <p:extLst>
      <p:ext uri="{BB962C8B-B14F-4D97-AF65-F5344CB8AC3E}">
        <p14:creationId xmlns:p14="http://schemas.microsoft.com/office/powerpoint/2010/main" val="627815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conclusion, the three major types of Machine Learning—Supervised, Unsupervised, and Reinforcement Learning—represent distinct yet interconnected approaches to learning from data. The choice of learning paradigm depends on the availability of labeled data, the nature of the problem, and the desired outcome. Supervised learning excels at prediction, unsupervised learning reveals hidden insights, and reinforcement learning enables adaptive decision-making. Together, they form the foundation of modern intelligent systems. A clear understanding of these concepts empowers practitioners to design solutions that are both technically sound and practically effective. This presentation equips the audience with a structured, real-world understanding that goes beyond definitions and supports confident explanation during interviews, presentations, and professional discussions.</a:t>
            </a:r>
          </a:p>
        </p:txBody>
      </p:sp>
      <p:sp>
        <p:nvSpPr>
          <p:cNvPr id="4" name="Slide Number Placeholder 3"/>
          <p:cNvSpPr>
            <a:spLocks noGrp="1"/>
          </p:cNvSpPr>
          <p:nvPr>
            <p:ph type="sldNum" sz="quarter" idx="5"/>
          </p:nvPr>
        </p:nvSpPr>
        <p:spPr/>
        <p:txBody>
          <a:bodyPr/>
          <a:lstStyle/>
          <a:p>
            <a:fld id="{C41913D1-977C-476A-9CEF-E75E1D6DD357}" type="slidenum">
              <a:t>13</a:t>
            </a:fld>
            <a:endParaRPr lang="en-US"/>
          </a:p>
        </p:txBody>
      </p:sp>
    </p:spTree>
    <p:extLst>
      <p:ext uri="{BB962C8B-B14F-4D97-AF65-F5344CB8AC3E}">
        <p14:creationId xmlns:p14="http://schemas.microsoft.com/office/powerpoint/2010/main" val="3431134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6498487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3833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385403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42949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096643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5577451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a:t>Click to edit Master subtitle style</a:t>
            </a:r>
          </a:p>
        </p:txBody>
      </p:sp>
    </p:spTree>
    <p:extLst>
      <p:ext uri="{BB962C8B-B14F-4D97-AF65-F5344CB8AC3E}">
        <p14:creationId xmlns:p14="http://schemas.microsoft.com/office/powerpoint/2010/main" val="37412605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5110191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410653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83076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660298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3883880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093600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56457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160121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349633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54406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26126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102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8786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8104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9585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1156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34901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03005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26943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199644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288697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9919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Tree>
    <p:extLst>
      <p:ext uri="{BB962C8B-B14F-4D97-AF65-F5344CB8AC3E}">
        <p14:creationId xmlns:p14="http://schemas.microsoft.com/office/powerpoint/2010/main" val="3347923902"/>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31539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214234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011445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595789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701107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11497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807454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0331338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53628215"/>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1891150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0336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004337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571547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961951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716139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40250835"/>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76143197"/>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4923156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5121525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32068541"/>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6597283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a:p>
        </p:txBody>
      </p:sp>
      <p:sp>
        <p:nvSpPr>
          <p:cNvPr id="5" name="TextBox 4">
            <a:extLst>
              <a:ext uri="{FF2B5EF4-FFF2-40B4-BE49-F238E27FC236}">
                <a16:creationId xmlns:a16="http://schemas.microsoft.com/office/drawing/2014/main" id="{BFB4FF78-802F-210B-3582-29B6A7D49099}"/>
              </a:ext>
            </a:extLst>
          </p:cNvPr>
          <p:cNvSpPr txBox="1"/>
          <p:nvPr userDrawn="1">
            <p:extLst>
              <p:ext uri="{1162E1C5-73C7-4A58-AE30-91384D911F3F}">
                <p184:classification xmlns:p184="http://schemas.microsoft.com/office/powerpoint/2018/4/main" val="ftr"/>
              </p:ext>
            </p:extLst>
          </p:nvPr>
        </p:nvSpPr>
        <p:spPr>
          <a:xfrm>
            <a:off x="63500" y="6642100"/>
            <a:ext cx="371475" cy="152400"/>
          </a:xfrm>
          <a:prstGeom prst="rect">
            <a:avLst/>
          </a:prstGeom>
        </p:spPr>
        <p:txBody>
          <a:bodyPr horzOverflow="overflow" lIns="0" tIns="0" rIns="0" bIns="0">
            <a:spAutoFit/>
          </a:bodyPr>
          <a:lstStyle/>
          <a:p>
            <a:pPr algn="l"/>
            <a:r>
              <a:rPr lang="en-IN" sz="1000">
                <a:solidFill>
                  <a:srgbClr val="000000">
                    <a:alpha val="50000"/>
                  </a:srgbClr>
                </a:solidFill>
                <a:latin typeface="Aptos" panose="020B0004020202020204" pitchFamily="34" charset="0"/>
              </a:rPr>
              <a:t>Public</a:t>
            </a:r>
          </a:p>
        </p:txBody>
      </p:sp>
    </p:spTree>
    <p:extLst>
      <p:ext uri="{BB962C8B-B14F-4D97-AF65-F5344CB8AC3E}">
        <p14:creationId xmlns:p14="http://schemas.microsoft.com/office/powerpoint/2010/main" val="28918955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166C-B5F8-725F-3046-5052BAD17DA6}"/>
              </a:ext>
            </a:extLst>
          </p:cNvPr>
          <p:cNvSpPr>
            <a:spLocks noGrp="1"/>
          </p:cNvSpPr>
          <p:nvPr>
            <p:ph type="title"/>
          </p:nvPr>
        </p:nvSpPr>
        <p:spPr>
          <a:xfrm>
            <a:off x="974845" y="935204"/>
            <a:ext cx="10036005" cy="3592628"/>
          </a:xfrm>
        </p:spPr>
        <p:txBody>
          <a:bodyPr anchor="b">
            <a:normAutofit/>
          </a:bodyPr>
          <a:lstStyle/>
          <a:p>
            <a:r>
              <a:rPr lang="en-US"/>
              <a:t>Three Major Types of Machine Learning</a:t>
            </a:r>
          </a:p>
        </p:txBody>
      </p:sp>
      <p:sp>
        <p:nvSpPr>
          <p:cNvPr id="3" name="Subtitle 2">
            <a:extLst>
              <a:ext uri="{FF2B5EF4-FFF2-40B4-BE49-F238E27FC236}">
                <a16:creationId xmlns:a16="http://schemas.microsoft.com/office/drawing/2014/main" id="{B8810D35-8A34-6B30-2D74-C041FF6898F4}"/>
              </a:ext>
            </a:extLst>
          </p:cNvPr>
          <p:cNvSpPr>
            <a:spLocks noGrp="1"/>
          </p:cNvSpPr>
          <p:nvPr>
            <p:ph type="subTitle" idx="1"/>
          </p:nvPr>
        </p:nvSpPr>
        <p:spPr>
          <a:xfrm>
            <a:off x="974845" y="4698103"/>
            <a:ext cx="10036005" cy="1014984"/>
          </a:xfrm>
        </p:spPr>
        <p:txBody>
          <a:bodyPr anchor="t">
            <a:normAutofit/>
          </a:bodyPr>
          <a:lstStyle/>
          <a:p>
            <a:r>
              <a:rPr lang="en-US"/>
              <a:t>Overview of main machine learning categories</a:t>
            </a:r>
          </a:p>
        </p:txBody>
      </p:sp>
    </p:spTree>
    <p:extLst>
      <p:ext uri="{BB962C8B-B14F-4D97-AF65-F5344CB8AC3E}">
        <p14:creationId xmlns:p14="http://schemas.microsoft.com/office/powerpoint/2010/main" val="825913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F782D-CF1C-FBE9-C046-6316D69BC088}"/>
              </a:ext>
            </a:extLst>
          </p:cNvPr>
          <p:cNvSpPr>
            <a:spLocks noGrp="1"/>
          </p:cNvSpPr>
          <p:nvPr>
            <p:ph type="ctrTitle"/>
          </p:nvPr>
        </p:nvSpPr>
        <p:spPr>
          <a:xfrm>
            <a:off x="1522013" y="1282325"/>
            <a:ext cx="8893834" cy="3988550"/>
          </a:xfrm>
        </p:spPr>
        <p:txBody>
          <a:bodyPr anchor="ctr">
            <a:normAutofit/>
          </a:bodyPr>
          <a:lstStyle/>
          <a:p>
            <a:r>
              <a:rPr lang="en-US"/>
              <a:t>Understanding the Three Major Types of Machine Learning</a:t>
            </a:r>
          </a:p>
        </p:txBody>
      </p:sp>
    </p:spTree>
    <p:extLst>
      <p:ext uri="{BB962C8B-B14F-4D97-AF65-F5344CB8AC3E}">
        <p14:creationId xmlns:p14="http://schemas.microsoft.com/office/powerpoint/2010/main" val="1436363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87C74-448B-CD63-555D-98032353DBF7}"/>
              </a:ext>
            </a:extLst>
          </p:cNvPr>
          <p:cNvSpPr>
            <a:spLocks noGrp="1"/>
          </p:cNvSpPr>
          <p:nvPr>
            <p:ph type="title"/>
          </p:nvPr>
        </p:nvSpPr>
        <p:spPr>
          <a:xfrm>
            <a:off x="612647" y="552478"/>
            <a:ext cx="6858000" cy="932688"/>
          </a:xfrm>
        </p:spPr>
        <p:txBody>
          <a:bodyPr anchor="b">
            <a:normAutofit/>
          </a:bodyPr>
          <a:lstStyle/>
          <a:p>
            <a:r>
              <a:rPr lang="en-US" sz="2800"/>
              <a:t>Title and Context: Three Major Types of Machine Learning</a:t>
            </a:r>
          </a:p>
        </p:txBody>
      </p:sp>
      <p:sp>
        <p:nvSpPr>
          <p:cNvPr id="3" name="Content Placeholder 2">
            <a:extLst>
              <a:ext uri="{FF2B5EF4-FFF2-40B4-BE49-F238E27FC236}">
                <a16:creationId xmlns:a16="http://schemas.microsoft.com/office/drawing/2014/main" id="{6DE65D14-0797-E2F3-53D2-410C3512061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Supervised Learning</a:t>
            </a:r>
          </a:p>
          <a:p>
            <a:pPr marL="0" lvl="1" indent="0">
              <a:buFont typeface="Arial" panose="020B0604020202020204" pitchFamily="34" charset="0"/>
              <a:buNone/>
            </a:pPr>
            <a:r>
              <a:rPr lang="en-US" sz="1400"/>
              <a:t>Supervised Learning uses labeled data to train models with known correct answers for accurate predictions.</a:t>
            </a:r>
          </a:p>
          <a:p>
            <a:pPr marL="0" indent="0">
              <a:spcBef>
                <a:spcPts val="2500"/>
              </a:spcBef>
              <a:buFont typeface="Arial" panose="020B0604020202020204" pitchFamily="34" charset="0"/>
              <a:buNone/>
            </a:pPr>
            <a:r>
              <a:rPr lang="en-US" sz="1400" b="1"/>
              <a:t>Unsupervised Learning</a:t>
            </a:r>
          </a:p>
          <a:p>
            <a:pPr marL="0" lvl="1" indent="0">
              <a:buFont typeface="Arial" panose="020B0604020202020204" pitchFamily="34" charset="0"/>
              <a:buNone/>
            </a:pPr>
            <a:r>
              <a:rPr lang="en-US" sz="1400"/>
              <a:t>Unsupervised Learning finds hidden patterns and structures within unlabeled data without predefined answers.</a:t>
            </a:r>
          </a:p>
          <a:p>
            <a:pPr marL="0" indent="0">
              <a:spcBef>
                <a:spcPts val="2500"/>
              </a:spcBef>
              <a:buFont typeface="Arial" panose="020B0604020202020204" pitchFamily="34" charset="0"/>
              <a:buNone/>
            </a:pPr>
            <a:r>
              <a:rPr lang="en-US" sz="1400" b="1"/>
              <a:t>Reinforcement Learning</a:t>
            </a:r>
          </a:p>
          <a:p>
            <a:pPr marL="0" lvl="1" indent="0">
              <a:buFont typeface="Arial" panose="020B0604020202020204" pitchFamily="34" charset="0"/>
              <a:buNone/>
            </a:pPr>
            <a:r>
              <a:rPr lang="en-US" sz="1400"/>
              <a:t>Reinforcement Learning learns by interacting with environments and receiving rewards or penalties for decisions.</a:t>
            </a:r>
          </a:p>
          <a:p>
            <a:pPr marL="0" indent="0">
              <a:spcBef>
                <a:spcPts val="2500"/>
              </a:spcBef>
              <a:buFont typeface="Arial" panose="020B0604020202020204" pitchFamily="34" charset="0"/>
              <a:buNone/>
            </a:pPr>
            <a:r>
              <a:rPr lang="en-US" sz="1400" b="1"/>
              <a:t>Complementary Paradigms</a:t>
            </a:r>
          </a:p>
          <a:p>
            <a:pPr marL="0" lvl="1" indent="0">
              <a:buFont typeface="Arial" panose="020B0604020202020204" pitchFamily="34" charset="0"/>
              <a:buNone/>
            </a:pPr>
            <a:r>
              <a:rPr lang="en-US" sz="1400"/>
              <a:t>These learning types are complementary and often combined in real-world applications like recommendation systems.</a:t>
            </a:r>
          </a:p>
        </p:txBody>
      </p:sp>
      <p:pic>
        <p:nvPicPr>
          <p:cNvPr id="5" name="Content Placeholder 4" descr="Graduation cap, book, light bulb, magnifying glass on a blue background. 3d illustration">
            <a:extLst>
              <a:ext uri="{FF2B5EF4-FFF2-40B4-BE49-F238E27FC236}">
                <a16:creationId xmlns:a16="http://schemas.microsoft.com/office/drawing/2014/main" id="{DFC068E1-7D38-43CF-8FE0-D4B2669B3F46}"/>
              </a:ext>
            </a:extLst>
          </p:cNvPr>
          <p:cNvPicPr>
            <a:picLocks noGrp="1" noChangeAspect="1"/>
          </p:cNvPicPr>
          <p:nvPr>
            <p:ph type="pic" sz="quarter" idx="13"/>
          </p:nvPr>
        </p:nvPicPr>
        <p:blipFill>
          <a:blip r:embed="rId3"/>
          <a:srcRect l="30160" r="24999"/>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40225103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4F2EC-E935-D20E-65C4-906AAF64352A}"/>
              </a:ext>
            </a:extLst>
          </p:cNvPr>
          <p:cNvSpPr>
            <a:spLocks noGrp="1"/>
          </p:cNvSpPr>
          <p:nvPr>
            <p:ph type="title"/>
          </p:nvPr>
        </p:nvSpPr>
        <p:spPr>
          <a:xfrm>
            <a:off x="612647" y="552478"/>
            <a:ext cx="6858000" cy="932688"/>
          </a:xfrm>
        </p:spPr>
        <p:txBody>
          <a:bodyPr anchor="b">
            <a:normAutofit/>
          </a:bodyPr>
          <a:lstStyle/>
          <a:p>
            <a:r>
              <a:rPr lang="en-US" sz="2800"/>
              <a:t>Introduction to Machine Learning and Learning Paradigms</a:t>
            </a:r>
          </a:p>
        </p:txBody>
      </p:sp>
      <p:sp>
        <p:nvSpPr>
          <p:cNvPr id="3" name="Content Placeholder 2">
            <a:extLst>
              <a:ext uri="{FF2B5EF4-FFF2-40B4-BE49-F238E27FC236}">
                <a16:creationId xmlns:a16="http://schemas.microsoft.com/office/drawing/2014/main" id="{D69F2C6B-5323-33F8-98A3-2B0DE2014CD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Machine Learning Overview</a:t>
            </a:r>
          </a:p>
          <a:p>
            <a:pPr marL="0" lvl="1" indent="0">
              <a:buFont typeface="Arial" panose="020B0604020202020204" pitchFamily="34" charset="0"/>
              <a:buNone/>
            </a:pPr>
            <a:r>
              <a:rPr lang="en-US" sz="1400"/>
              <a:t>Machine Learning builds systems that learn from data and improve without fixed rules.</a:t>
            </a:r>
          </a:p>
          <a:p>
            <a:pPr marL="0" indent="0">
              <a:spcBef>
                <a:spcPts val="2500"/>
              </a:spcBef>
              <a:buFont typeface="Arial" panose="020B0604020202020204" pitchFamily="34" charset="0"/>
              <a:buNone/>
            </a:pPr>
            <a:r>
              <a:rPr lang="en-US" sz="1400" b="1"/>
              <a:t>Supervised Learning</a:t>
            </a:r>
          </a:p>
          <a:p>
            <a:pPr marL="0" lvl="1" indent="0">
              <a:buFont typeface="Arial" panose="020B0604020202020204" pitchFamily="34" charset="0"/>
              <a:buNone/>
            </a:pPr>
            <a:r>
              <a:rPr lang="en-US" sz="1400"/>
              <a:t>Uses labeled data with known inputs and outputs for training predictive models.</a:t>
            </a:r>
          </a:p>
          <a:p>
            <a:pPr marL="0" indent="0">
              <a:spcBef>
                <a:spcPts val="2500"/>
              </a:spcBef>
              <a:buFont typeface="Arial" panose="020B0604020202020204" pitchFamily="34" charset="0"/>
              <a:buNone/>
            </a:pPr>
            <a:r>
              <a:rPr lang="en-US" sz="1400" b="1"/>
              <a:t>Unsupervised Learning</a:t>
            </a:r>
          </a:p>
          <a:p>
            <a:pPr marL="0" lvl="1" indent="0">
              <a:buFont typeface="Arial" panose="020B0604020202020204" pitchFamily="34" charset="0"/>
              <a:buNone/>
            </a:pPr>
            <a:r>
              <a:rPr lang="en-US" sz="1400"/>
              <a:t>Analyzes unlabeled data to find patterns, clusters, and associations.</a:t>
            </a:r>
          </a:p>
          <a:p>
            <a:pPr marL="0" indent="0">
              <a:spcBef>
                <a:spcPts val="2500"/>
              </a:spcBef>
              <a:buFont typeface="Arial" panose="020B0604020202020204" pitchFamily="34" charset="0"/>
              <a:buNone/>
            </a:pPr>
            <a:r>
              <a:rPr lang="en-US" sz="1400" b="1"/>
              <a:t>Reinforcement Learning</a:t>
            </a:r>
          </a:p>
          <a:p>
            <a:pPr marL="0" lvl="1" indent="0">
              <a:buFont typeface="Arial" panose="020B0604020202020204" pitchFamily="34" charset="0"/>
              <a:buNone/>
            </a:pPr>
            <a:r>
              <a:rPr lang="en-US" sz="1400"/>
              <a:t>Learns through interaction and feedback by taking actions in an environment.</a:t>
            </a:r>
          </a:p>
        </p:txBody>
      </p:sp>
      <p:pic>
        <p:nvPicPr>
          <p:cNvPr id="5" name="Content Placeholder 4" descr="Artificial Intelligence digital concept with brain shape">
            <a:extLst>
              <a:ext uri="{FF2B5EF4-FFF2-40B4-BE49-F238E27FC236}">
                <a16:creationId xmlns:a16="http://schemas.microsoft.com/office/drawing/2014/main" id="{1A9371DE-933F-4B6D-9511-19F125625BC6}"/>
              </a:ext>
            </a:extLst>
          </p:cNvPr>
          <p:cNvPicPr>
            <a:picLocks noGrp="1" noChangeAspect="1"/>
          </p:cNvPicPr>
          <p:nvPr>
            <p:ph type="pic" sz="quarter" idx="13"/>
          </p:nvPr>
        </p:nvPicPr>
        <p:blipFill>
          <a:blip r:embed="rId3"/>
          <a:srcRect l="34253" r="32116"/>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18944649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E26A5-D936-ECD5-4C5C-53E95472CFE5}"/>
              </a:ext>
            </a:extLst>
          </p:cNvPr>
          <p:cNvSpPr>
            <a:spLocks noGrp="1"/>
          </p:cNvSpPr>
          <p:nvPr>
            <p:ph type="title"/>
          </p:nvPr>
        </p:nvSpPr>
        <p:spPr>
          <a:xfrm>
            <a:off x="612649" y="538716"/>
            <a:ext cx="4494189" cy="1288169"/>
          </a:xfrm>
        </p:spPr>
        <p:txBody>
          <a:bodyPr anchor="b">
            <a:normAutofit/>
          </a:bodyPr>
          <a:lstStyle/>
          <a:p>
            <a:r>
              <a:rPr lang="en-US" sz="2800"/>
              <a:t>High-Level Overview of the Three Learning Types</a:t>
            </a:r>
          </a:p>
        </p:txBody>
      </p:sp>
      <p:sp>
        <p:nvSpPr>
          <p:cNvPr id="3" name="Content Placeholder 2">
            <a:extLst>
              <a:ext uri="{FF2B5EF4-FFF2-40B4-BE49-F238E27FC236}">
                <a16:creationId xmlns:a16="http://schemas.microsoft.com/office/drawing/2014/main" id="{0710F247-38F2-80C5-A8DB-C0D1C8D7A9F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1975104"/>
            <a:ext cx="4494063" cy="4156956"/>
          </a:xfrm>
        </p:spPr>
        <p:txBody>
          <a:bodyPr>
            <a:normAutofit/>
          </a:bodyPr>
          <a:lstStyle/>
          <a:p>
            <a:pPr marL="0" indent="0">
              <a:spcBef>
                <a:spcPts val="2500"/>
              </a:spcBef>
              <a:buFont typeface="Arial" panose="020B0604020202020204" pitchFamily="34" charset="0"/>
              <a:buNone/>
            </a:pPr>
            <a:r>
              <a:rPr lang="en-US" sz="1400" b="1"/>
              <a:t>Supervised Learning</a:t>
            </a:r>
          </a:p>
          <a:p>
            <a:pPr marL="0" lvl="1" indent="0">
              <a:buFont typeface="Arial" panose="020B0604020202020204" pitchFamily="34" charset="0"/>
              <a:buNone/>
            </a:pPr>
            <a:r>
              <a:rPr lang="en-US" sz="1400"/>
              <a:t>Uses labeled data to train models to predict outcomes for new, unseen data effectively.</a:t>
            </a:r>
          </a:p>
          <a:p>
            <a:pPr marL="0" indent="0">
              <a:spcBef>
                <a:spcPts val="2500"/>
              </a:spcBef>
              <a:buFont typeface="Arial" panose="020B0604020202020204" pitchFamily="34" charset="0"/>
              <a:buNone/>
            </a:pPr>
            <a:r>
              <a:rPr lang="en-US" sz="1400" b="1"/>
              <a:t>Unsupervised Learning</a:t>
            </a:r>
          </a:p>
          <a:p>
            <a:pPr marL="0" lvl="1" indent="0">
              <a:buFont typeface="Arial" panose="020B0604020202020204" pitchFamily="34" charset="0"/>
              <a:buNone/>
            </a:pPr>
            <a:r>
              <a:rPr lang="en-US" sz="1400"/>
              <a:t>Works with unlabeled data to discover hidden patterns and groupings without predefined outputs.</a:t>
            </a:r>
          </a:p>
          <a:p>
            <a:pPr marL="0" indent="0">
              <a:spcBef>
                <a:spcPts val="2500"/>
              </a:spcBef>
              <a:buFont typeface="Arial" panose="020B0604020202020204" pitchFamily="34" charset="0"/>
              <a:buNone/>
            </a:pPr>
            <a:r>
              <a:rPr lang="en-US" sz="1400" b="1"/>
              <a:t>Reinforcement Learning</a:t>
            </a:r>
          </a:p>
          <a:p>
            <a:pPr marL="0" lvl="1" indent="0">
              <a:buFont typeface="Arial" panose="020B0604020202020204" pitchFamily="34" charset="0"/>
              <a:buNone/>
            </a:pPr>
            <a:r>
              <a:rPr lang="en-US" sz="1400"/>
              <a:t>Involves an agent taking actions in an environment to maximize rewards through feedback.</a:t>
            </a: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813D9BF3-4BAE-4DD7-8707-EB7F8CFE9DC5}"/>
              </a:ext>
            </a:extLst>
          </p:cNvPr>
          <p:cNvPicPr>
            <a:picLocks noGrp="1" noChangeAspect="1"/>
          </p:cNvPicPr>
          <p:nvPr>
            <p:ph type="pic" sz="quarter" idx="13"/>
          </p:nvPr>
        </p:nvPicPr>
        <p:blipFill>
          <a:blip r:embed="rId3"/>
          <a:srcRect l="11318" r="25094" b="-1"/>
          <a:stretch>
            <a:fillRect/>
          </a:stretch>
        </p:blipFill>
        <p:spPr>
          <a:xfrm>
            <a:off x="5658928" y="10"/>
            <a:ext cx="6533072" cy="6857990"/>
          </a:xfrm>
          <a:solidFill>
            <a:srgbClr val="F3EBE8"/>
          </a:solidFill>
        </p:spPr>
      </p:pic>
    </p:spTree>
    <p:extLst>
      <p:ext uri="{BB962C8B-B14F-4D97-AF65-F5344CB8AC3E}">
        <p14:creationId xmlns:p14="http://schemas.microsoft.com/office/powerpoint/2010/main" val="30479176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49823-110D-E092-9DF9-CA216F84B0FF}"/>
              </a:ext>
            </a:extLst>
          </p:cNvPr>
          <p:cNvSpPr>
            <a:spLocks noGrp="1"/>
          </p:cNvSpPr>
          <p:nvPr>
            <p:ph type="title"/>
          </p:nvPr>
        </p:nvSpPr>
        <p:spPr>
          <a:xfrm>
            <a:off x="612647" y="552478"/>
            <a:ext cx="6858000" cy="932688"/>
          </a:xfrm>
        </p:spPr>
        <p:txBody>
          <a:bodyPr anchor="b">
            <a:normAutofit/>
          </a:bodyPr>
          <a:lstStyle/>
          <a:p>
            <a:r>
              <a:rPr lang="en-US" sz="2800"/>
              <a:t>Supervised Learning: Core Concept and Intuition</a:t>
            </a:r>
          </a:p>
        </p:txBody>
      </p:sp>
      <p:sp>
        <p:nvSpPr>
          <p:cNvPr id="3" name="Content Placeholder 2">
            <a:extLst>
              <a:ext uri="{FF2B5EF4-FFF2-40B4-BE49-F238E27FC236}">
                <a16:creationId xmlns:a16="http://schemas.microsoft.com/office/drawing/2014/main" id="{A839DA54-D1BB-7DE0-3DB8-AA1543C400C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Definition of Supervised Learning</a:t>
            </a:r>
          </a:p>
          <a:p>
            <a:pPr marL="0" lvl="1" indent="0">
              <a:buFont typeface="Arial" panose="020B0604020202020204" pitchFamily="34" charset="0"/>
              <a:buNone/>
            </a:pPr>
            <a:r>
              <a:rPr lang="en-US" sz="1400"/>
              <a:t>Supervised learning uses labeled data where the model learns by comparing predictions with actual outputs.</a:t>
            </a:r>
          </a:p>
          <a:p>
            <a:pPr marL="0" indent="0">
              <a:spcBef>
                <a:spcPts val="2500"/>
              </a:spcBef>
              <a:buFont typeface="Arial" panose="020B0604020202020204" pitchFamily="34" charset="0"/>
              <a:buNone/>
            </a:pPr>
            <a:r>
              <a:rPr lang="en-US" sz="1400" b="1"/>
              <a:t>Learning with Feedback</a:t>
            </a:r>
          </a:p>
          <a:p>
            <a:pPr marL="0" lvl="1" indent="0">
              <a:buFont typeface="Arial" panose="020B0604020202020204" pitchFamily="34" charset="0"/>
              <a:buNone/>
            </a:pPr>
            <a:r>
              <a:rPr lang="en-US" sz="1400"/>
              <a:t>The model receives correction during training like a teacher guiding a student to minimize errors.</a:t>
            </a:r>
          </a:p>
          <a:p>
            <a:pPr marL="0" indent="0">
              <a:spcBef>
                <a:spcPts val="2500"/>
              </a:spcBef>
              <a:buFont typeface="Arial" panose="020B0604020202020204" pitchFamily="34" charset="0"/>
              <a:buNone/>
            </a:pPr>
            <a:r>
              <a:rPr lang="en-US" sz="1400" b="1"/>
              <a:t>Regression vs Classification</a:t>
            </a:r>
          </a:p>
          <a:p>
            <a:pPr marL="0" lvl="1" indent="0">
              <a:buFont typeface="Arial" panose="020B0604020202020204" pitchFamily="34" charset="0"/>
              <a:buNone/>
            </a:pPr>
            <a:r>
              <a:rPr lang="en-US" sz="1400"/>
              <a:t>Supervised learning includes regression for continuous outputs and classification for categorical outputs.</a:t>
            </a:r>
          </a:p>
          <a:p>
            <a:pPr marL="0" indent="0">
              <a:spcBef>
                <a:spcPts val="2500"/>
              </a:spcBef>
              <a:buFont typeface="Arial" panose="020B0604020202020204" pitchFamily="34" charset="0"/>
              <a:buNone/>
            </a:pPr>
            <a:r>
              <a:rPr lang="en-US" sz="1400" b="1"/>
              <a:t>Strengths and Limitations</a:t>
            </a:r>
          </a:p>
          <a:p>
            <a:pPr marL="0" lvl="1" indent="0">
              <a:buFont typeface="Arial" panose="020B0604020202020204" pitchFamily="34" charset="0"/>
              <a:buNone/>
            </a:pPr>
            <a:r>
              <a:rPr lang="en-US" sz="1400"/>
              <a:t>Supervised learning produces accurate models but requires costly labeled data preparation.</a:t>
            </a:r>
          </a:p>
        </p:txBody>
      </p:sp>
      <p:pic>
        <p:nvPicPr>
          <p:cNvPr id="5" name="Content Placeholder 4" descr="Shot of a businessman walking along a line that’s falling behind him against a white background">
            <a:extLst>
              <a:ext uri="{FF2B5EF4-FFF2-40B4-BE49-F238E27FC236}">
                <a16:creationId xmlns:a16="http://schemas.microsoft.com/office/drawing/2014/main" id="{27CCFB49-1A50-4EEC-9F28-CD02CA135814}"/>
              </a:ext>
            </a:extLst>
          </p:cNvPr>
          <p:cNvPicPr>
            <a:picLocks noGrp="1" noChangeAspect="1"/>
          </p:cNvPicPr>
          <p:nvPr>
            <p:ph type="pic" sz="quarter" idx="13"/>
          </p:nvPr>
        </p:nvPicPr>
        <p:blipFill>
          <a:blip r:embed="rId3"/>
          <a:srcRect l="30153" r="29938"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154038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FAE58-E1AE-9457-71E8-84EBE640493B}"/>
              </a:ext>
            </a:extLst>
          </p:cNvPr>
          <p:cNvSpPr>
            <a:spLocks noGrp="1"/>
          </p:cNvSpPr>
          <p:nvPr>
            <p:ph type="title"/>
          </p:nvPr>
        </p:nvSpPr>
        <p:spPr>
          <a:xfrm>
            <a:off x="612649" y="538716"/>
            <a:ext cx="4494189" cy="1288169"/>
          </a:xfrm>
        </p:spPr>
        <p:txBody>
          <a:bodyPr anchor="b">
            <a:normAutofit/>
          </a:bodyPr>
          <a:lstStyle/>
          <a:p>
            <a:r>
              <a:rPr lang="en-US" sz="2800"/>
              <a:t>Supervised Learning: Three Practical Use Cases</a:t>
            </a:r>
          </a:p>
        </p:txBody>
      </p:sp>
      <p:sp>
        <p:nvSpPr>
          <p:cNvPr id="3" name="Content Placeholder 2">
            <a:extLst>
              <a:ext uri="{FF2B5EF4-FFF2-40B4-BE49-F238E27FC236}">
                <a16:creationId xmlns:a16="http://schemas.microsoft.com/office/drawing/2014/main" id="{A4112D06-17E3-8BC9-E31F-7E6A88E2B41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1975104"/>
            <a:ext cx="4494063" cy="4156956"/>
          </a:xfrm>
        </p:spPr>
        <p:txBody>
          <a:bodyPr>
            <a:normAutofit/>
          </a:bodyPr>
          <a:lstStyle/>
          <a:p>
            <a:pPr marL="0" indent="0">
              <a:spcBef>
                <a:spcPts val="2500"/>
              </a:spcBef>
              <a:buFont typeface="Arial" panose="020B0604020202020204" pitchFamily="34" charset="0"/>
              <a:buNone/>
            </a:pPr>
            <a:r>
              <a:rPr lang="en-US" sz="1400" b="1"/>
              <a:t>House Price Prediction</a:t>
            </a:r>
          </a:p>
          <a:p>
            <a:pPr marL="0" lvl="1" indent="0">
              <a:buFont typeface="Arial" panose="020B0604020202020204" pitchFamily="34" charset="0"/>
              <a:buNone/>
            </a:pPr>
            <a:r>
              <a:rPr lang="en-US" sz="1400"/>
              <a:t>Supervised learning predicts house prices using features like size, location, and number of rooms from historical data.</a:t>
            </a:r>
          </a:p>
          <a:p>
            <a:pPr marL="0" indent="0">
              <a:spcBef>
                <a:spcPts val="2500"/>
              </a:spcBef>
              <a:buFont typeface="Arial" panose="020B0604020202020204" pitchFamily="34" charset="0"/>
              <a:buNone/>
            </a:pPr>
            <a:r>
              <a:rPr lang="en-US" sz="1400" b="1"/>
              <a:t>Email Spam Detection</a:t>
            </a:r>
          </a:p>
          <a:p>
            <a:pPr marL="0" lvl="1" indent="0">
              <a:buFont typeface="Arial" panose="020B0604020202020204" pitchFamily="34" charset="0"/>
              <a:buNone/>
            </a:pPr>
            <a:r>
              <a:rPr lang="en-US" sz="1400"/>
              <a:t>Classifying emails as spam or legitimate improves user experience and cybersecurity through supervised learning.</a:t>
            </a:r>
          </a:p>
          <a:p>
            <a:pPr marL="0" indent="0">
              <a:spcBef>
                <a:spcPts val="2500"/>
              </a:spcBef>
              <a:buFont typeface="Arial" panose="020B0604020202020204" pitchFamily="34" charset="0"/>
              <a:buNone/>
            </a:pPr>
            <a:r>
              <a:rPr lang="en-US" sz="1400" b="1"/>
              <a:t>Salary Prediction</a:t>
            </a:r>
          </a:p>
          <a:p>
            <a:pPr marL="0" lvl="1" indent="0">
              <a:buFont typeface="Arial" panose="020B0604020202020204" pitchFamily="34" charset="0"/>
              <a:buNone/>
            </a:pPr>
            <a:r>
              <a:rPr lang="en-US" sz="1400"/>
              <a:t>Estimating salary based on experience, education, and skills using supervised learning enhances compensation forecasting.</a:t>
            </a:r>
          </a:p>
        </p:txBody>
      </p:sp>
      <p:pic>
        <p:nvPicPr>
          <p:cNvPr id="5" name="Content Placeholder 4" descr="The technology of the home automation system.&#10;Smart home icons : https://www.freepik.com/free-vector/smart-home-controlled-by-phone-infographic-vector_3458597.htm#query=smart%20home&amp;position=21&amp;from_view=search&amp;track=sph">
            <a:extLst>
              <a:ext uri="{FF2B5EF4-FFF2-40B4-BE49-F238E27FC236}">
                <a16:creationId xmlns:a16="http://schemas.microsoft.com/office/drawing/2014/main" id="{8BD1A126-97D1-44A8-9DF3-C849F7CFAE1C}"/>
              </a:ext>
            </a:extLst>
          </p:cNvPr>
          <p:cNvPicPr>
            <a:picLocks noGrp="1" noChangeAspect="1"/>
          </p:cNvPicPr>
          <p:nvPr>
            <p:ph type="pic" sz="quarter" idx="13"/>
          </p:nvPr>
        </p:nvPicPr>
        <p:blipFill>
          <a:blip r:embed="rId3"/>
          <a:srcRect l="22333" r="21939" b="1"/>
          <a:stretch>
            <a:fillRect/>
          </a:stretch>
        </p:blipFill>
        <p:spPr>
          <a:xfrm>
            <a:off x="5658928" y="10"/>
            <a:ext cx="6533072" cy="6857990"/>
          </a:xfrm>
          <a:solidFill>
            <a:srgbClr val="F3EBE8"/>
          </a:solidFill>
        </p:spPr>
      </p:pic>
    </p:spTree>
    <p:extLst>
      <p:ext uri="{BB962C8B-B14F-4D97-AF65-F5344CB8AC3E}">
        <p14:creationId xmlns:p14="http://schemas.microsoft.com/office/powerpoint/2010/main" val="779033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663D-B509-48EA-C1F4-C549A577504A}"/>
              </a:ext>
            </a:extLst>
          </p:cNvPr>
          <p:cNvSpPr>
            <a:spLocks noGrp="1"/>
          </p:cNvSpPr>
          <p:nvPr>
            <p:ph type="title"/>
          </p:nvPr>
        </p:nvSpPr>
        <p:spPr>
          <a:xfrm>
            <a:off x="612649" y="538716"/>
            <a:ext cx="4494189" cy="1288169"/>
          </a:xfrm>
        </p:spPr>
        <p:txBody>
          <a:bodyPr anchor="b">
            <a:normAutofit/>
          </a:bodyPr>
          <a:lstStyle/>
          <a:p>
            <a:r>
              <a:rPr lang="en-US" sz="2800"/>
              <a:t>Unsupervised Learning: Core Concept and Intuition</a:t>
            </a:r>
          </a:p>
        </p:txBody>
      </p:sp>
      <p:sp>
        <p:nvSpPr>
          <p:cNvPr id="3" name="Content Placeholder 2">
            <a:extLst>
              <a:ext uri="{FF2B5EF4-FFF2-40B4-BE49-F238E27FC236}">
                <a16:creationId xmlns:a16="http://schemas.microsoft.com/office/drawing/2014/main" id="{6A939113-58C2-398F-2F4D-57E3EA74133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1975104"/>
            <a:ext cx="4494063" cy="4156956"/>
          </a:xfrm>
        </p:spPr>
        <p:txBody>
          <a:bodyPr>
            <a:normAutofit/>
          </a:bodyPr>
          <a:lstStyle/>
          <a:p>
            <a:pPr marL="0" indent="0">
              <a:spcBef>
                <a:spcPts val="2500"/>
              </a:spcBef>
              <a:buFont typeface="Arial" panose="020B0604020202020204" pitchFamily="34" charset="0"/>
              <a:buNone/>
            </a:pPr>
            <a:r>
              <a:rPr lang="en-US" sz="1400" b="1"/>
              <a:t>Definition and Purpose</a:t>
            </a:r>
          </a:p>
          <a:p>
            <a:pPr marL="0" lvl="1" indent="0">
              <a:buFont typeface="Arial" panose="020B0604020202020204" pitchFamily="34" charset="0"/>
              <a:buNone/>
            </a:pPr>
            <a:r>
              <a:rPr lang="en-US" sz="1400"/>
              <a:t>Unsupervised learning extracts insights from data without labeled outputs by identifying hidden patterns and structures.</a:t>
            </a:r>
          </a:p>
          <a:p>
            <a:pPr marL="0" indent="0">
              <a:spcBef>
                <a:spcPts val="2500"/>
              </a:spcBef>
              <a:buFont typeface="Arial" panose="020B0604020202020204" pitchFamily="34" charset="0"/>
              <a:buNone/>
            </a:pPr>
            <a:r>
              <a:rPr lang="en-US" sz="1400" b="1"/>
              <a:t>Common Techniques</a:t>
            </a:r>
          </a:p>
          <a:p>
            <a:pPr marL="0" lvl="1" indent="0">
              <a:buFont typeface="Arial" panose="020B0604020202020204" pitchFamily="34" charset="0"/>
              <a:buNone/>
            </a:pPr>
            <a:r>
              <a:rPr lang="en-US" sz="1400"/>
              <a:t>Techniques include clustering, association rule mining, and dimensionality reduction to explore data relationships.</a:t>
            </a:r>
          </a:p>
          <a:p>
            <a:pPr marL="0" indent="0">
              <a:spcBef>
                <a:spcPts val="2500"/>
              </a:spcBef>
              <a:buFont typeface="Arial" panose="020B0604020202020204" pitchFamily="34" charset="0"/>
              <a:buNone/>
            </a:pPr>
            <a:r>
              <a:rPr lang="en-US" sz="1400" b="1"/>
              <a:t>Challenges and Value</a:t>
            </a:r>
          </a:p>
          <a:p>
            <a:pPr marL="0" lvl="1" indent="0">
              <a:buFont typeface="Arial" panose="020B0604020202020204" pitchFamily="34" charset="0"/>
              <a:buNone/>
            </a:pPr>
            <a:r>
              <a:rPr lang="en-US" sz="1400"/>
              <a:t>Unsupervised learning reveals hidden information but evaluating model quality is challenging without labeled data.</a:t>
            </a:r>
          </a:p>
        </p:txBody>
      </p:sp>
      <p:pic>
        <p:nvPicPr>
          <p:cNvPr id="5" name="Content Placeholder 4" descr="Internet of Things Concept">
            <a:extLst>
              <a:ext uri="{FF2B5EF4-FFF2-40B4-BE49-F238E27FC236}">
                <a16:creationId xmlns:a16="http://schemas.microsoft.com/office/drawing/2014/main" id="{877B43BE-D6EE-4783-A3B8-C187CC0F289B}"/>
              </a:ext>
            </a:extLst>
          </p:cNvPr>
          <p:cNvPicPr>
            <a:picLocks noGrp="1" noChangeAspect="1"/>
          </p:cNvPicPr>
          <p:nvPr>
            <p:ph type="pic" sz="quarter" idx="13"/>
          </p:nvPr>
        </p:nvPicPr>
        <p:blipFill>
          <a:blip r:embed="rId3"/>
          <a:srcRect l="13540" r="22871" b="-1"/>
          <a:stretch>
            <a:fillRect/>
          </a:stretch>
        </p:blipFill>
        <p:spPr>
          <a:xfrm>
            <a:off x="5658928" y="10"/>
            <a:ext cx="6533072" cy="6857990"/>
          </a:xfrm>
          <a:solidFill>
            <a:srgbClr val="F3EBE8"/>
          </a:solidFill>
        </p:spPr>
      </p:pic>
    </p:spTree>
    <p:extLst>
      <p:ext uri="{BB962C8B-B14F-4D97-AF65-F5344CB8AC3E}">
        <p14:creationId xmlns:p14="http://schemas.microsoft.com/office/powerpoint/2010/main" val="11815715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B2348-F88F-A949-3EBB-BD1414D48B62}"/>
              </a:ext>
            </a:extLst>
          </p:cNvPr>
          <p:cNvSpPr>
            <a:spLocks noGrp="1"/>
          </p:cNvSpPr>
          <p:nvPr>
            <p:ph type="title"/>
          </p:nvPr>
        </p:nvSpPr>
        <p:spPr>
          <a:xfrm>
            <a:off x="612649" y="538716"/>
            <a:ext cx="4494189" cy="1288169"/>
          </a:xfrm>
        </p:spPr>
        <p:txBody>
          <a:bodyPr anchor="b">
            <a:normAutofit/>
          </a:bodyPr>
          <a:lstStyle/>
          <a:p>
            <a:r>
              <a:rPr lang="en-US" sz="2800"/>
              <a:t>Unsupervised Learning: Three Practical Use Cases</a:t>
            </a:r>
          </a:p>
        </p:txBody>
      </p:sp>
      <p:sp>
        <p:nvSpPr>
          <p:cNvPr id="3" name="Content Placeholder 2">
            <a:extLst>
              <a:ext uri="{FF2B5EF4-FFF2-40B4-BE49-F238E27FC236}">
                <a16:creationId xmlns:a16="http://schemas.microsoft.com/office/drawing/2014/main" id="{36604343-D083-7FCA-E16E-DDE92733933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1975104"/>
            <a:ext cx="4494063" cy="4156956"/>
          </a:xfrm>
        </p:spPr>
        <p:txBody>
          <a:bodyPr>
            <a:normAutofit/>
          </a:bodyPr>
          <a:lstStyle/>
          <a:p>
            <a:pPr marL="0" indent="0">
              <a:spcBef>
                <a:spcPts val="2500"/>
              </a:spcBef>
              <a:buFont typeface="Arial" panose="020B0604020202020204" pitchFamily="34" charset="0"/>
              <a:buNone/>
            </a:pPr>
            <a:r>
              <a:rPr lang="en-US" sz="1400" b="1"/>
              <a:t>Customer Segmentation</a:t>
            </a:r>
          </a:p>
          <a:p>
            <a:pPr marL="0" lvl="1" indent="0">
              <a:buFont typeface="Arial" panose="020B0604020202020204" pitchFamily="34" charset="0"/>
              <a:buNone/>
            </a:pPr>
            <a:r>
              <a:rPr lang="en-US" sz="1400"/>
              <a:t>Businesses group customers by behavior and demographics to tailor marketing strategies effectively.</a:t>
            </a:r>
          </a:p>
          <a:p>
            <a:pPr marL="0" indent="0">
              <a:spcBef>
                <a:spcPts val="2500"/>
              </a:spcBef>
              <a:buFont typeface="Arial" panose="020B0604020202020204" pitchFamily="34" charset="0"/>
              <a:buNone/>
            </a:pPr>
            <a:r>
              <a:rPr lang="en-US" sz="1400" b="1"/>
              <a:t>Market Basket Analysis</a:t>
            </a:r>
          </a:p>
          <a:p>
            <a:pPr marL="0" lvl="1" indent="0">
              <a:buFont typeface="Arial" panose="020B0604020202020204" pitchFamily="34" charset="0"/>
              <a:buNone/>
            </a:pPr>
            <a:r>
              <a:rPr lang="en-US" sz="1400"/>
              <a:t>Identifies product associations to optimize store layouts and improve recommendation systems.</a:t>
            </a:r>
          </a:p>
          <a:p>
            <a:pPr marL="0" indent="0">
              <a:spcBef>
                <a:spcPts val="2500"/>
              </a:spcBef>
              <a:buFont typeface="Arial" panose="020B0604020202020204" pitchFamily="34" charset="0"/>
              <a:buNone/>
            </a:pPr>
            <a:r>
              <a:rPr lang="en-US" sz="1400" b="1"/>
              <a:t>Fraud Detection</a:t>
            </a:r>
          </a:p>
          <a:p>
            <a:pPr marL="0" lvl="1" indent="0">
              <a:buFont typeface="Arial" panose="020B0604020202020204" pitchFamily="34" charset="0"/>
              <a:buNone/>
            </a:pPr>
            <a:r>
              <a:rPr lang="en-US" sz="1400"/>
              <a:t>Detects anomalies in transaction data to identify potential fraudulent activities without prior labels.</a:t>
            </a:r>
          </a:p>
        </p:txBody>
      </p:sp>
      <p:pic>
        <p:nvPicPr>
          <p:cNvPr id="5" name="Content Placeholder 4" descr="3d  rendering social network Concepts">
            <a:extLst>
              <a:ext uri="{FF2B5EF4-FFF2-40B4-BE49-F238E27FC236}">
                <a16:creationId xmlns:a16="http://schemas.microsoft.com/office/drawing/2014/main" id="{EC659B75-36A1-4ACF-B49A-72F04DC9D95A}"/>
              </a:ext>
            </a:extLst>
          </p:cNvPr>
          <p:cNvPicPr>
            <a:picLocks noGrp="1" noChangeAspect="1"/>
          </p:cNvPicPr>
          <p:nvPr>
            <p:ph type="pic" sz="quarter" idx="13"/>
          </p:nvPr>
        </p:nvPicPr>
        <p:blipFill>
          <a:blip r:embed="rId3"/>
          <a:srcRect l="11271" r="2993"/>
          <a:stretch>
            <a:fillRect/>
          </a:stretch>
        </p:blipFill>
        <p:spPr>
          <a:xfrm>
            <a:off x="5658928" y="10"/>
            <a:ext cx="6533072" cy="6857990"/>
          </a:xfrm>
          <a:solidFill>
            <a:srgbClr val="F3EBE8"/>
          </a:solidFill>
        </p:spPr>
      </p:pic>
    </p:spTree>
    <p:extLst>
      <p:ext uri="{BB962C8B-B14F-4D97-AF65-F5344CB8AC3E}">
        <p14:creationId xmlns:p14="http://schemas.microsoft.com/office/powerpoint/2010/main" val="34430149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BBFF-80E5-BBBC-19DF-55B18F540C0F}"/>
              </a:ext>
            </a:extLst>
          </p:cNvPr>
          <p:cNvSpPr>
            <a:spLocks noGrp="1"/>
          </p:cNvSpPr>
          <p:nvPr>
            <p:ph type="title"/>
          </p:nvPr>
        </p:nvSpPr>
        <p:spPr>
          <a:xfrm>
            <a:off x="612647" y="552478"/>
            <a:ext cx="6858000" cy="932688"/>
          </a:xfrm>
        </p:spPr>
        <p:txBody>
          <a:bodyPr anchor="b">
            <a:normAutofit/>
          </a:bodyPr>
          <a:lstStyle/>
          <a:p>
            <a:r>
              <a:rPr lang="en-US" sz="2800"/>
              <a:t>Reinforcement Learning: Core Concept and Intuition</a:t>
            </a:r>
          </a:p>
        </p:txBody>
      </p:sp>
      <p:sp>
        <p:nvSpPr>
          <p:cNvPr id="3" name="Content Placeholder 2">
            <a:extLst>
              <a:ext uri="{FF2B5EF4-FFF2-40B4-BE49-F238E27FC236}">
                <a16:creationId xmlns:a16="http://schemas.microsoft.com/office/drawing/2014/main" id="{4591FB0C-CB1A-8568-5E7A-9EBAEBA945D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Learning Through Interaction</a:t>
            </a:r>
          </a:p>
          <a:p>
            <a:pPr marL="0" lvl="1" indent="0">
              <a:buFont typeface="Arial" panose="020B0604020202020204" pitchFamily="34" charset="0"/>
              <a:buNone/>
            </a:pPr>
            <a:r>
              <a:rPr lang="en-US" sz="1400"/>
              <a:t>Reinforcement learning trains agents by interacting with environments and receiving reward-based feedback.</a:t>
            </a:r>
          </a:p>
          <a:p>
            <a:pPr marL="0" indent="0">
              <a:spcBef>
                <a:spcPts val="2500"/>
              </a:spcBef>
              <a:buFont typeface="Arial" panose="020B0604020202020204" pitchFamily="34" charset="0"/>
              <a:buNone/>
            </a:pPr>
            <a:r>
              <a:rPr lang="en-US" sz="1400" b="1"/>
              <a:t>Maximizing Cumulative Reward</a:t>
            </a:r>
          </a:p>
          <a:p>
            <a:pPr marL="0" lvl="1" indent="0">
              <a:buFont typeface="Arial" panose="020B0604020202020204" pitchFamily="34" charset="0"/>
              <a:buNone/>
            </a:pPr>
            <a:r>
              <a:rPr lang="en-US" sz="1400"/>
              <a:t>The goal is to learn a policy that maximizes cumulative reward over time through experience.</a:t>
            </a:r>
          </a:p>
          <a:p>
            <a:pPr marL="0" indent="0">
              <a:spcBef>
                <a:spcPts val="2500"/>
              </a:spcBef>
              <a:buFont typeface="Arial" panose="020B0604020202020204" pitchFamily="34" charset="0"/>
              <a:buNone/>
            </a:pPr>
            <a:r>
              <a:rPr lang="en-US" sz="1400" b="1"/>
              <a:t>Sequential Decision Making</a:t>
            </a:r>
          </a:p>
          <a:p>
            <a:pPr marL="0" lvl="1" indent="0">
              <a:buFont typeface="Arial" panose="020B0604020202020204" pitchFamily="34" charset="0"/>
              <a:buNone/>
            </a:pPr>
            <a:r>
              <a:rPr lang="en-US" sz="1400"/>
              <a:t>Reinforcement learning excels at sequential decision-making where actions affect future outcomes.</a:t>
            </a:r>
          </a:p>
          <a:p>
            <a:pPr marL="0" indent="0">
              <a:spcBef>
                <a:spcPts val="2500"/>
              </a:spcBef>
              <a:buFont typeface="Arial" panose="020B0604020202020204" pitchFamily="34" charset="0"/>
              <a:buNone/>
            </a:pPr>
            <a:r>
              <a:rPr lang="en-US" sz="1400" b="1"/>
              <a:t>Computational and Design Challenges</a:t>
            </a:r>
          </a:p>
          <a:p>
            <a:pPr marL="0" lvl="1" indent="0">
              <a:buFont typeface="Arial" panose="020B0604020202020204" pitchFamily="34" charset="0"/>
              <a:buNone/>
            </a:pPr>
            <a:r>
              <a:rPr lang="en-US" sz="1400"/>
              <a:t>Effective reinforcement learning requires significant computation and well-designed environments.</a:t>
            </a:r>
          </a:p>
        </p:txBody>
      </p:sp>
      <p:pic>
        <p:nvPicPr>
          <p:cNvPr id="5" name="Content Placeholder 4" descr="Thinking progress, searching for idea. Businessman in a black suite with gears (progress symbol) instead of head. From small to medium and big. Arrow pointing from one to another.">
            <a:extLst>
              <a:ext uri="{FF2B5EF4-FFF2-40B4-BE49-F238E27FC236}">
                <a16:creationId xmlns:a16="http://schemas.microsoft.com/office/drawing/2014/main" id="{2565E8EC-2DB1-411C-A417-B1BB8EF91EBC}"/>
              </a:ext>
            </a:extLst>
          </p:cNvPr>
          <p:cNvPicPr>
            <a:picLocks noGrp="1" noChangeAspect="1"/>
          </p:cNvPicPr>
          <p:nvPr>
            <p:ph type="pic" sz="quarter" idx="13"/>
          </p:nvPr>
        </p:nvPicPr>
        <p:blipFill>
          <a:blip r:embed="rId3"/>
          <a:srcRect l="33274" r="26816"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7218868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D0D5-38EB-62B1-DDB0-61D056F2D9DC}"/>
              </a:ext>
            </a:extLst>
          </p:cNvPr>
          <p:cNvSpPr>
            <a:spLocks noGrp="1"/>
          </p:cNvSpPr>
          <p:nvPr>
            <p:ph type="title"/>
          </p:nvPr>
        </p:nvSpPr>
        <p:spPr>
          <a:xfrm>
            <a:off x="612647" y="683319"/>
            <a:ext cx="6339541" cy="1143000"/>
          </a:xfrm>
        </p:spPr>
        <p:txBody>
          <a:bodyPr anchor="b">
            <a:normAutofit/>
          </a:bodyPr>
          <a:lstStyle/>
          <a:p>
            <a:r>
              <a:rPr lang="en-US"/>
              <a:t>Reinforcement Learning: Three Practical Use Cases</a:t>
            </a:r>
          </a:p>
        </p:txBody>
      </p:sp>
      <p:sp>
        <p:nvSpPr>
          <p:cNvPr id="3" name="Content Placeholder 2">
            <a:extLst>
              <a:ext uri="{FF2B5EF4-FFF2-40B4-BE49-F238E27FC236}">
                <a16:creationId xmlns:a16="http://schemas.microsoft.com/office/drawing/2014/main" id="{B5A9EA49-20BB-C431-B152-E8CA21A58E6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4" y="1975104"/>
            <a:ext cx="6339414" cy="4228997"/>
          </a:xfrm>
        </p:spPr>
        <p:txBody>
          <a:bodyPr>
            <a:normAutofit/>
          </a:bodyPr>
          <a:lstStyle/>
          <a:p>
            <a:pPr marL="0" indent="0">
              <a:spcBef>
                <a:spcPts val="2500"/>
              </a:spcBef>
              <a:buFont typeface="Arial" panose="020B0604020202020204" pitchFamily="34" charset="0"/>
              <a:buNone/>
            </a:pPr>
            <a:r>
              <a:rPr lang="en-US" sz="1400" b="1"/>
              <a:t>Self-Driving Cars</a:t>
            </a:r>
          </a:p>
          <a:p>
            <a:pPr marL="0" lvl="1" indent="0">
              <a:buFont typeface="Arial" panose="020B0604020202020204" pitchFamily="34" charset="0"/>
              <a:buNone/>
            </a:pPr>
            <a:r>
              <a:rPr lang="en-US" sz="1400"/>
              <a:t>Reinforcement learning enables self-driving cars to adapt driving strategies by interacting with dynamic traffic conditions continuously.</a:t>
            </a:r>
          </a:p>
          <a:p>
            <a:pPr marL="0" indent="0">
              <a:spcBef>
                <a:spcPts val="2500"/>
              </a:spcBef>
              <a:buFont typeface="Arial" panose="020B0604020202020204" pitchFamily="34" charset="0"/>
              <a:buNone/>
            </a:pPr>
            <a:r>
              <a:rPr lang="en-US" sz="1400" b="1"/>
              <a:t>Game-Playing AI</a:t>
            </a:r>
          </a:p>
          <a:p>
            <a:pPr marL="0" lvl="1" indent="0">
              <a:buFont typeface="Arial" panose="020B0604020202020204" pitchFamily="34" charset="0"/>
              <a:buNone/>
            </a:pPr>
            <a:r>
              <a:rPr lang="en-US" sz="1400"/>
              <a:t>AI agents learn optimal moves in games like chess through repeated gameplay and feedback, improving strategy over time.</a:t>
            </a:r>
          </a:p>
          <a:p>
            <a:pPr marL="0" indent="0">
              <a:spcBef>
                <a:spcPts val="2500"/>
              </a:spcBef>
              <a:buFont typeface="Arial" panose="020B0604020202020204" pitchFamily="34" charset="0"/>
              <a:buNone/>
            </a:pPr>
            <a:r>
              <a:rPr lang="en-US" sz="1400" b="1"/>
              <a:t>Robotics Applications</a:t>
            </a:r>
          </a:p>
          <a:p>
            <a:pPr marL="0" lvl="1" indent="0">
              <a:buFont typeface="Arial" panose="020B0604020202020204" pitchFamily="34" charset="0"/>
              <a:buNone/>
            </a:pPr>
            <a:r>
              <a:rPr lang="en-US" sz="1400"/>
              <a:t>Robots use reinforcement learning to master tasks like walking, grasping, and navigation via trial and error methods.</a:t>
            </a:r>
          </a:p>
        </p:txBody>
      </p:sp>
      <p:pic>
        <p:nvPicPr>
          <p:cNvPr id="5" name="Content Placeholder 4" descr="Self drive, autonomous vehicle">
            <a:extLst>
              <a:ext uri="{FF2B5EF4-FFF2-40B4-BE49-F238E27FC236}">
                <a16:creationId xmlns:a16="http://schemas.microsoft.com/office/drawing/2014/main" id="{45A153CB-BFA3-4514-A362-AA43B80028AC}"/>
              </a:ext>
            </a:extLst>
          </p:cNvPr>
          <p:cNvPicPr>
            <a:picLocks noGrp="1" noChangeAspect="1"/>
          </p:cNvPicPr>
          <p:nvPr>
            <p:ph type="pic" sz="quarter" idx="13"/>
          </p:nvPr>
        </p:nvPicPr>
        <p:blipFill>
          <a:blip r:embed="rId3"/>
          <a:srcRect l="30997" r="19056"/>
          <a:stretch>
            <a:fillRect/>
          </a:stretch>
        </p:blipFill>
        <p:spPr>
          <a:xfrm>
            <a:off x="7624831" y="10"/>
            <a:ext cx="4567169" cy="6857990"/>
          </a:xfrm>
          <a:solidFill>
            <a:srgbClr val="F3EBE8"/>
          </a:solidFill>
        </p:spPr>
      </p:pic>
    </p:spTree>
    <p:extLst>
      <p:ext uri="{BB962C8B-B14F-4D97-AF65-F5344CB8AC3E}">
        <p14:creationId xmlns:p14="http://schemas.microsoft.com/office/powerpoint/2010/main" val="19517994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0E6EF-CC64-A9CC-4CE9-5D93A5DECA2D}"/>
              </a:ext>
            </a:extLst>
          </p:cNvPr>
          <p:cNvSpPr>
            <a:spLocks noGrp="1"/>
          </p:cNvSpPr>
          <p:nvPr>
            <p:ph type="title"/>
          </p:nvPr>
        </p:nvSpPr>
        <p:spPr>
          <a:xfrm>
            <a:off x="612647" y="552478"/>
            <a:ext cx="6858000" cy="932688"/>
          </a:xfrm>
        </p:spPr>
        <p:txBody>
          <a:bodyPr anchor="b">
            <a:normAutofit/>
          </a:bodyPr>
          <a:lstStyle/>
          <a:p>
            <a:r>
              <a:rPr lang="en-US" sz="2800"/>
              <a:t>Comparison of Learning Types and Real-World Alignment</a:t>
            </a:r>
          </a:p>
        </p:txBody>
      </p:sp>
      <p:sp>
        <p:nvSpPr>
          <p:cNvPr id="3" name="Content Placeholder 2">
            <a:extLst>
              <a:ext uri="{FF2B5EF4-FFF2-40B4-BE49-F238E27FC236}">
                <a16:creationId xmlns:a16="http://schemas.microsoft.com/office/drawing/2014/main" id="{8F1B1E1C-F2ED-9E3A-3345-7FB466AD10F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Supervised Learning</a:t>
            </a:r>
          </a:p>
          <a:p>
            <a:pPr marL="0" lvl="1" indent="0">
              <a:buFont typeface="Arial" panose="020B0604020202020204" pitchFamily="34" charset="0"/>
              <a:buNone/>
            </a:pPr>
            <a:r>
              <a:rPr lang="en-US" sz="1400"/>
              <a:t>Supervised learning uses labeled data to predict outcomes and improve model accuracy over time.</a:t>
            </a:r>
          </a:p>
          <a:p>
            <a:pPr marL="0" indent="0">
              <a:spcBef>
                <a:spcPts val="2500"/>
              </a:spcBef>
              <a:buFont typeface="Arial" panose="020B0604020202020204" pitchFamily="34" charset="0"/>
              <a:buNone/>
            </a:pPr>
            <a:r>
              <a:rPr lang="en-US" sz="1400" b="1"/>
              <a:t>Unsupervised Learning</a:t>
            </a:r>
          </a:p>
          <a:p>
            <a:pPr marL="0" lvl="1" indent="0">
              <a:buFont typeface="Arial" panose="020B0604020202020204" pitchFamily="34" charset="0"/>
              <a:buNone/>
            </a:pPr>
            <a:r>
              <a:rPr lang="en-US" sz="1400"/>
              <a:t>Unsupervised learning discovers hidden patterns and structures in unlabeled data sets.</a:t>
            </a:r>
          </a:p>
          <a:p>
            <a:pPr marL="0" indent="0">
              <a:spcBef>
                <a:spcPts val="2500"/>
              </a:spcBef>
              <a:buFont typeface="Arial" panose="020B0604020202020204" pitchFamily="34" charset="0"/>
              <a:buNone/>
            </a:pPr>
            <a:r>
              <a:rPr lang="en-US" sz="1400" b="1"/>
              <a:t>Reinforcement Learning</a:t>
            </a:r>
          </a:p>
          <a:p>
            <a:pPr marL="0" lvl="1" indent="0">
              <a:buFont typeface="Arial" panose="020B0604020202020204" pitchFamily="34" charset="0"/>
              <a:buNone/>
            </a:pPr>
            <a:r>
              <a:rPr lang="en-US" sz="1400"/>
              <a:t>Reinforcement learning optimizes decision-making through feedback and reward signals.</a:t>
            </a:r>
          </a:p>
          <a:p>
            <a:pPr marL="0" indent="0">
              <a:spcBef>
                <a:spcPts val="2500"/>
              </a:spcBef>
              <a:buFont typeface="Arial" panose="020B0604020202020204" pitchFamily="34" charset="0"/>
              <a:buNone/>
            </a:pPr>
            <a:r>
              <a:rPr lang="en-US" sz="1400" b="1"/>
              <a:t>Real-World Integration</a:t>
            </a:r>
          </a:p>
          <a:p>
            <a:pPr marL="0" lvl="1" indent="0">
              <a:buFont typeface="Arial" panose="020B0604020202020204" pitchFamily="34" charset="0"/>
              <a:buNone/>
            </a:pPr>
            <a:r>
              <a:rPr lang="en-US" sz="1400"/>
              <a:t>Combining learning types enables robust solutions like segmentation, recommendations, and pricing.</a:t>
            </a:r>
          </a:p>
        </p:txBody>
      </p:sp>
      <p:pic>
        <p:nvPicPr>
          <p:cNvPr id="5" name="Content Placeholder 4" descr="Woman showing Earth and network hologram by using the user interface technology.">
            <a:extLst>
              <a:ext uri="{FF2B5EF4-FFF2-40B4-BE49-F238E27FC236}">
                <a16:creationId xmlns:a16="http://schemas.microsoft.com/office/drawing/2014/main" id="{24DF8787-04D8-4D90-9DA6-17F643FBE1A2}"/>
              </a:ext>
            </a:extLst>
          </p:cNvPr>
          <p:cNvPicPr>
            <a:picLocks noGrp="1" noChangeAspect="1"/>
          </p:cNvPicPr>
          <p:nvPr>
            <p:ph type="pic" sz="quarter" idx="13"/>
          </p:nvPr>
        </p:nvPicPr>
        <p:blipFill>
          <a:blip r:embed="rId3"/>
          <a:srcRect l="42924" r="23445"/>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6508423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35862-C9A6-9BA8-3760-06878C145D4A}"/>
              </a:ext>
            </a:extLst>
          </p:cNvPr>
          <p:cNvSpPr>
            <a:spLocks noGrp="1"/>
          </p:cNvSpPr>
          <p:nvPr>
            <p:ph type="title"/>
          </p:nvPr>
        </p:nvSpPr>
        <p:spPr>
          <a:xfrm>
            <a:off x="612648" y="514649"/>
            <a:ext cx="10963655" cy="972373"/>
          </a:xfrm>
        </p:spPr>
        <p:txBody>
          <a:bodyPr anchor="b">
            <a:normAutofit/>
          </a:bodyPr>
          <a:lstStyle/>
          <a:p>
            <a:r>
              <a:rPr lang="en-US"/>
              <a:t>Conclusion and Key Takeaways</a:t>
            </a:r>
          </a:p>
        </p:txBody>
      </p:sp>
      <p:graphicFrame>
        <p:nvGraphicFramePr>
          <p:cNvPr id="4" name="Content Placeholder 3">
            <a:extLst>
              <a:ext uri="{FF2B5EF4-FFF2-40B4-BE49-F238E27FC236}">
                <a16:creationId xmlns:a16="http://schemas.microsoft.com/office/drawing/2014/main" id="{DE6D9BD0-2478-42B9-8C25-BA443C296528}"/>
              </a:ext>
            </a:extLst>
          </p:cNvPr>
          <p:cNvGraphicFramePr>
            <a:graphicFrameLocks noGrp="1"/>
          </p:cNvGraphicFramePr>
          <p:nvPr>
            <p:ph idx="1"/>
            <p:extLst>
              <p:ext uri="{D42A27DB-BD31-4B8C-83A1-F6EECF244321}">
                <p14:modId xmlns:p14="http://schemas.microsoft.com/office/powerpoint/2010/main" val="872536079"/>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7" y="1629786"/>
          <a:ext cx="10963656" cy="4593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1065547"/>
      </p:ext>
    </p:extLst>
  </p:cSld>
  <p:clrMapOvr>
    <a:masterClrMapping/>
  </p:clrMapOvr>
  <p:transition>
    <p:fade/>
  </p:transition>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2568</Words>
  <Application>Microsoft Office PowerPoint</Application>
  <PresentationFormat>Widescreen</PresentationFormat>
  <Paragraphs>116</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Century Gothic</vt:lpstr>
      <vt:lpstr>Karla</vt:lpstr>
      <vt:lpstr>Univers Condensed Light</vt:lpstr>
      <vt:lpstr>Chalcot</vt:lpstr>
      <vt:lpstr>Three Major Types of Machine Learning</vt:lpstr>
      <vt:lpstr>Understanding the Three Major Types of Machine Learning</vt:lpstr>
      <vt:lpstr>Title and Context: Three Major Types of Machine Learning</vt:lpstr>
      <vt:lpstr>Introduction to Machine Learning and Learning Paradigms</vt:lpstr>
      <vt:lpstr>High-Level Overview of the Three Learning Types</vt:lpstr>
      <vt:lpstr>Supervised Learning: Core Concept and Intuition</vt:lpstr>
      <vt:lpstr>Supervised Learning: Three Practical Use Cases</vt:lpstr>
      <vt:lpstr>Unsupervised Learning: Core Concept and Intuition</vt:lpstr>
      <vt:lpstr>Unsupervised Learning: Three Practical Use Cases</vt:lpstr>
      <vt:lpstr>Reinforcement Learning: Core Concept and Intuition</vt:lpstr>
      <vt:lpstr>Reinforcement Learning: Three Practical Use Cases</vt:lpstr>
      <vt:lpstr>Comparison of Learning Types and Real-World Alignment</vt:lpstr>
      <vt:lpstr>Conclusion and 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AD20696237@wipro.com</dc:creator>
  <cp:lastModifiedBy>Addala Siva</cp:lastModifiedBy>
  <cp:revision>1</cp:revision>
  <dcterms:modified xsi:type="dcterms:W3CDTF">2026-05-19T11:18:50Z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7ded32-6a8c-48b8-8009-ebf9a4e0e083_Enabled">
    <vt:lpwstr>true</vt:lpwstr>
  </property>
  <property fmtid="{D5CDD505-2E9C-101B-9397-08002B2CF9AE}" pid="3" name="MSIP_Label_ce7ded32-6a8c-48b8-8009-ebf9a4e0e083_SetDate">
    <vt:lpwstr>2026-05-19T11:18:40Z</vt:lpwstr>
  </property>
  <property fmtid="{D5CDD505-2E9C-101B-9397-08002B2CF9AE}" pid="4" name="MSIP_Label_ce7ded32-6a8c-48b8-8009-ebf9a4e0e083_Method">
    <vt:lpwstr>Privileged</vt:lpwstr>
  </property>
  <property fmtid="{D5CDD505-2E9C-101B-9397-08002B2CF9AE}" pid="5" name="MSIP_Label_ce7ded32-6a8c-48b8-8009-ebf9a4e0e083_Name">
    <vt:lpwstr>Public - Public</vt:lpwstr>
  </property>
  <property fmtid="{D5CDD505-2E9C-101B-9397-08002B2CF9AE}" pid="6" name="MSIP_Label_ce7ded32-6a8c-48b8-8009-ebf9a4e0e083_SiteId">
    <vt:lpwstr>258ac4e4-146a-411e-9dc8-79a9e12fd6da</vt:lpwstr>
  </property>
  <property fmtid="{D5CDD505-2E9C-101B-9397-08002B2CF9AE}" pid="7" name="MSIP_Label_ce7ded32-6a8c-48b8-8009-ebf9a4e0e083_ActionId">
    <vt:lpwstr>952baa76-662a-400d-972b-e8dfaabb906f</vt:lpwstr>
  </property>
  <property fmtid="{D5CDD505-2E9C-101B-9397-08002B2CF9AE}" pid="8" name="MSIP_Label_ce7ded32-6a8c-48b8-8009-ebf9a4e0e083_ContentBits">
    <vt:lpwstr>2</vt:lpwstr>
  </property>
  <property fmtid="{D5CDD505-2E9C-101B-9397-08002B2CF9AE}" pid="9" name="MSIP_Label_ce7ded32-6a8c-48b8-8009-ebf9a4e0e083_Tag">
    <vt:lpwstr>10, 0, 1, 1</vt:lpwstr>
  </property>
  <property fmtid="{D5CDD505-2E9C-101B-9397-08002B2CF9AE}" pid="10" name="ClassificationContentMarkingFooterLocations">
    <vt:lpwstr>Chalcot:5</vt:lpwstr>
  </property>
  <property fmtid="{D5CDD505-2E9C-101B-9397-08002B2CF9AE}" pid="11" name="ClassificationContentMarkingFooterText">
    <vt:lpwstr>Public</vt:lpwstr>
  </property>
</Properties>
</file>