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ala Siva" userId="a23dfad1-8213-4535-8fc3-e3426e27c416" providerId="ADAL" clId="{DD49B685-E37C-468F-9600-200C2B9FA0BC}"/>
    <pc:docChg chg="modSld">
      <pc:chgData name="Addala Siva" userId="a23dfad1-8213-4535-8fc3-e3426e27c416" providerId="ADAL" clId="{DD49B685-E37C-468F-9600-200C2B9FA0BC}" dt="2026-06-02T11:20:56.203" v="38" actId="1076"/>
      <pc:docMkLst>
        <pc:docMk/>
      </pc:docMkLst>
      <pc:sldChg chg="delSp modSp mod">
        <pc:chgData name="Addala Siva" userId="a23dfad1-8213-4535-8fc3-e3426e27c416" providerId="ADAL" clId="{DD49B685-E37C-468F-9600-200C2B9FA0BC}" dt="2026-06-02T11:20:56.203" v="38" actId="1076"/>
        <pc:sldMkLst>
          <pc:docMk/>
          <pc:sldMk cId="0" sldId="262"/>
        </pc:sldMkLst>
        <pc:spChg chg="mod">
          <ac:chgData name="Addala Siva" userId="a23dfad1-8213-4535-8fc3-e3426e27c416" providerId="ADAL" clId="{DD49B685-E37C-468F-9600-200C2B9FA0BC}" dt="2026-06-02T11:20:56.203" v="38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Addala Siva" userId="a23dfad1-8213-4535-8fc3-e3426e27c416" providerId="ADAL" clId="{DD49B685-E37C-468F-9600-200C2B9FA0BC}" dt="2026-06-02T11:19:56.284" v="13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lang="en-IN" sz="1200" b="1">
                <a:solidFill>
                  <a:srgbClr val="000000"/>
                </a:solidFill>
              </a:rPr>
              <a:t>Classification Model Performance Characteristics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ML</c:v>
                </c:pt>
              </c:strCache>
            </c:strRef>
          </c:tx>
          <c:spPr>
            <a:ln w="25400">
              <a:solidFill>
                <a:srgbClr val="8B6FA8"/>
              </a:solidFill>
            </a:ln>
          </c:spPr>
          <c:marker>
            <c:symbol val="circle"/>
            <c:size val="6"/>
            <c:spPr>
              <a:solidFill>
                <a:srgbClr val="8B6FA8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Data Requirement</c:v>
                </c:pt>
                <c:pt idx="3">
                  <c:v>Interpretability</c:v>
                </c:pt>
                <c:pt idx="4">
                  <c:v>Context Understanding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C7-4636-9707-0C8A440598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 Learning</c:v>
                </c:pt>
              </c:strCache>
            </c:strRef>
          </c:tx>
          <c:spPr>
            <a:ln w="25400">
              <a:solidFill>
                <a:srgbClr val="7BA8D9"/>
              </a:solidFill>
            </a:ln>
          </c:spPr>
          <c:marker>
            <c:symbol val="circle"/>
            <c:size val="6"/>
            <c:spPr>
              <a:solidFill>
                <a:srgbClr val="7BA8D9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Data Requirement</c:v>
                </c:pt>
                <c:pt idx="3">
                  <c:v>Interpretability</c:v>
                </c:pt>
                <c:pt idx="4">
                  <c:v>Context Understanding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C7-4636-9707-0C8A440598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Transformers</c:v>
                </c:pt>
              </c:strCache>
            </c:strRef>
          </c:tx>
          <c:spPr>
            <a:ln w="25400">
              <a:solidFill>
                <a:srgbClr val="D394B5"/>
              </a:solidFill>
            </a:ln>
          </c:spPr>
          <c:marker>
            <c:symbol val="circle"/>
            <c:size val="6"/>
            <c:spPr>
              <a:solidFill>
                <a:srgbClr val="D394B5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Data Requirement</c:v>
                </c:pt>
                <c:pt idx="3">
                  <c:v>Interpretability</c:v>
                </c:pt>
                <c:pt idx="4">
                  <c:v>Context Understanding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C7-4636-9707-0C8A44059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73612648"/>
        <c:crosses val="autoZero"/>
        <c:crossBetween val="between"/>
        <c:majorUnit val="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lp/word-embeddings-in-nl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ljourney.com/glove-vs-word2vec-choosing-the-right-embedding-for-nl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lp/glove-word-embedding-in-nlp/" TargetMode="External"/><Relationship Id="rId2" Type="http://schemas.openxmlformats.org/officeDocument/2006/relationships/hyperlink" Target="https://mljourney.com/glove-vs-word2vec-choosing-the-right-embedding-for-nlp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venu171/understanding-text-similarity-with-embeddings-and-cosine-similarity-5aon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@info.learnleadgrow/cosine-similarity-in-nlp-368d68435f2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edanganalytics.com/text-classification-with-nlp-a-complete-guide/" TargetMode="External"/><Relationship Id="rId2" Type="http://schemas.openxmlformats.org/officeDocument/2006/relationships/hyperlink" Target="https://www.geeksforgeeks.org/nlp/text-classification-using-scikit-learn-in-nlp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lp/text-classification-using-scikit-learn-in-nlp/" TargetMode="External"/><Relationship Id="rId2" Type="http://schemas.openxmlformats.org/officeDocument/2006/relationships/hyperlink" Target="https://vedanganalytics.com/text-classification-with-nlp-a-complete-guide/" TargetMode="Externa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0805" y="2589693"/>
            <a:ext cx="7989935" cy="1207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887" b="0" i="0">
                <a:latin typeface="Georgia"/>
              </a:rPr>
              <a:t>Natural Language Processing: Core Concepts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2912" y="4043112"/>
            <a:ext cx="5725721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60" b="0" i="0">
                <a:latin typeface="Segoe UI"/>
              </a:rPr>
              <a:t>Understanding Word Embeddings, Similarity Measures, and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4920" y="6080369"/>
            <a:ext cx="246170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43" b="0" i="0">
                <a:latin typeface="Segoe UI"/>
              </a:rPr>
              <a:t>Natural Language Processing Training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1576238"/>
            <a:ext cx="3429000" cy="1005482"/>
          </a:xfrm>
          <a:prstGeom prst="roundRect">
            <a:avLst>
              <a:gd name="adj" fmla="val 15156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86200" y="1576238"/>
            <a:ext cx="3429000" cy="1005482"/>
          </a:xfrm>
          <a:prstGeom prst="roundRect">
            <a:avLst>
              <a:gd name="adj" fmla="val 15156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3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5" cy="6857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792" y="920925"/>
            <a:ext cx="4476786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91" b="0" i="0">
                <a:latin typeface="Georgia"/>
              </a:rPr>
              <a:t>What are Word Embeddings?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6687" y="1787529"/>
            <a:ext cx="1845124" cy="577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27" b="0" i="0">
                <a:solidFill>
                  <a:srgbClr val="63109E"/>
                </a:solidFill>
                <a:latin typeface="Georgia"/>
              </a:rPr>
              <a:t>Dense Vector Representations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3" tooltip="Word Embeddings in NLP - GeeksforGee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1581" y="1787529"/>
            <a:ext cx="2777956" cy="577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27" b="0" i="0">
                <a:solidFill>
                  <a:srgbClr val="63109E"/>
                </a:solidFill>
                <a:latin typeface="Georgia"/>
              </a:rPr>
              <a:t>Similar Meanings = Similar Vectors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4" tooltip="GloVe vs. Word2Vec: Choosing the Right Embedding for NL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" y="2810251"/>
            <a:ext cx="7010224" cy="3145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8085" indent="-19808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Dense vector representations of words in lower-dimensional space that capture semantic and syntactic information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Word Embeddings in NLP - GeeksforGee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98085" indent="-19808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Words with similar meanings are positioned close together in vector space, enabling machines to understand relationships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4" tooltip="GloVe vs. Word2Vec: Choosing the Right Embedding for NL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198085" indent="-19808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Transforms text from discrete symbols into continuous numerical values that machine learning models can process effectively</a:t>
            </a:r>
          </a:p>
          <a:p>
            <a:pPr marL="198085" indent="-19808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Essential foundation for modern NLP tasks including translation, sentiment analysis, and information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8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4792" y="5448163"/>
            <a:ext cx="63399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6F4699"/>
                </a:solidFill>
                <a:latin typeface="Times New Roman"/>
              </a:rPr>
              <a:t>Sources: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792" y="5674823"/>
            <a:ext cx="460551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6F4699"/>
                </a:solidFill>
                <a:latin typeface="Times New Roman"/>
                <a:hlinkClick r:id="rId2" tooltip="GloVe vs. Word2Vec: Choosing the Right Embedding for NL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GloVe vs. Word2Vec: Choosing the Right Embedding for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5901482"/>
            <a:ext cx="365527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6F4699"/>
                </a:solidFill>
                <a:latin typeface="Times New Roman"/>
                <a:hlinkClick r:id="rId3" tooltip="Glove Word Embedding in NLP - GeeksforGee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Glove Word Embedding in NLP - GeeksforGeeks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639" y="1016619"/>
            <a:ext cx="5133697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91" b="0" i="0">
                <a:latin typeface="Georgia"/>
              </a:rPr>
              <a:t>Word2Vec and GloVe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639" y="1671893"/>
            <a:ext cx="5486262" cy="418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Word2Vec developed by Google in 2013 uses two architectures: CBOW predicts target word from context, Skip-gram predicts context from target word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2" tooltip="GloVe vs. Word2Vec: Choosing the Right Embedding for NL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GloVe introduced by Stanford in 2014 constructs word co-occurrence matrix from entire corpus and factorizes it to generate embeddings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Glove Word Embedding in NLP - GeeksforGee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Both methods create dense vectors where semantic similarity translates to spatial proximity in vector space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Choice between methods depends on dataset size, computational resources, and whether local or global context matters more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792" y="1543011"/>
          <a:ext cx="5486262" cy="37527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5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752888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anchor="ctr">
                    <a:solidFill>
                      <a:srgbClr val="D4D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752888"/>
                          </a:solidFill>
                          <a:latin typeface="Segoe UI"/>
                        </a:rPr>
                        <a:t>Word2Vec</a:t>
                      </a:r>
                    </a:p>
                  </a:txBody>
                  <a:tcPr anchor="ctr">
                    <a:solidFill>
                      <a:srgbClr val="D4D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752888"/>
                          </a:solidFill>
                          <a:latin typeface="Segoe UI"/>
                        </a:rPr>
                        <a:t>GloVe</a:t>
                      </a:r>
                    </a:p>
                  </a:txBody>
                  <a:tcPr anchor="ctr">
                    <a:solidFill>
                      <a:srgbClr val="D4D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63109E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anchor="ctr"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Predictive (Neural Network)</a:t>
                      </a:r>
                    </a:p>
                  </a:txBody>
                  <a:tcPr anchor="ctr"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Count-based (Co-occurrence Matrix)</a:t>
                      </a:r>
                    </a:p>
                  </a:txBody>
                  <a:tcPr anchor="ctr">
                    <a:lnB w="9525" cmpd="sng">
                      <a:solidFill>
                        <a:srgbClr val="E8E9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63109E"/>
                          </a:solidFill>
                          <a:latin typeface="Segoe UI"/>
                        </a:rPr>
                        <a:t>Architecture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CBOW and Skip-gram models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Matrix factorization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63109E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Local context windows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Global corpus statistics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8E9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1" b="1" i="0">
                          <a:solidFill>
                            <a:srgbClr val="63109E"/>
                          </a:solidFill>
                          <a:latin typeface="Segoe UI"/>
                        </a:rPr>
                        <a:t>Strength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Captures contextual relationships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0" i="0">
                          <a:solidFill>
                            <a:srgbClr val="000000"/>
                          </a:solidFill>
                          <a:latin typeface="Segoe UI"/>
                        </a:rPr>
                        <a:t>Captures global patterns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E8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2358330"/>
            <a:ext cx="2286000" cy="1288553"/>
          </a:xfrm>
          <a:prstGeom prst="roundRect">
            <a:avLst>
              <a:gd name="adj" fmla="val 11827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0" y="2358330"/>
            <a:ext cx="2286000" cy="1288553"/>
          </a:xfrm>
          <a:prstGeom prst="roundRect">
            <a:avLst>
              <a:gd name="adj" fmla="val 11827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1600" y="2358330"/>
            <a:ext cx="2286000" cy="1288553"/>
          </a:xfrm>
          <a:prstGeom prst="roundRect">
            <a:avLst>
              <a:gd name="adj" fmla="val 11827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600" cy="6858000"/>
          </a:xfrm>
          <a:prstGeom prst="rect">
            <a:avLst/>
          </a:prstGeom>
          <a:solidFill>
            <a:srgbClr val="E8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560337"/>
            <a:ext cx="3810000" cy="1088528"/>
          </a:xfrm>
          <a:prstGeom prst="roundRect">
            <a:avLst>
              <a:gd name="adj" fmla="val 14000"/>
            </a:avLst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8978" y="1795594"/>
            <a:ext cx="205793" cy="2399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77200" y="2182266"/>
            <a:ext cx="3810000" cy="1088528"/>
          </a:xfrm>
          <a:prstGeom prst="roundRect">
            <a:avLst>
              <a:gd name="adj" fmla="val 14000"/>
            </a:avLst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8978" y="3417482"/>
            <a:ext cx="205793" cy="2399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77200" y="3804195"/>
            <a:ext cx="3810000" cy="871388"/>
          </a:xfrm>
          <a:prstGeom prst="roundRect">
            <a:avLst>
              <a:gd name="adj" fmla="val 17489"/>
            </a:avLst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8978" y="4822236"/>
            <a:ext cx="205793" cy="2399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77200" y="5208984"/>
            <a:ext cx="3810000" cy="1088528"/>
          </a:xfrm>
          <a:prstGeom prst="roundRect">
            <a:avLst>
              <a:gd name="adj" fmla="val 14000"/>
            </a:avLst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792" y="1474403"/>
            <a:ext cx="5055713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91" b="0" i="0">
                <a:latin typeface="Georgia"/>
              </a:rPr>
              <a:t>Measuring Similarity with Cosine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590" y="2833467"/>
            <a:ext cx="1804347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11" b="1" i="0">
                <a:solidFill>
                  <a:srgbClr val="63109E"/>
                </a:solidFill>
                <a:latin typeface="Georgia"/>
              </a:rPr>
              <a:t>Range: -1 to +1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3" tooltip="Understanding Text Similarity with Embeddings and Co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9892" y="2687173"/>
            <a:ext cx="1592421" cy="568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11" b="1" i="0">
                <a:solidFill>
                  <a:srgbClr val="63109E"/>
                </a:solidFill>
                <a:latin typeface="Georgia"/>
              </a:rPr>
              <a:t>Direction Over Magnitude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4" tooltip="Cosine Similarity in NLP - Medi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6724" y="2541027"/>
            <a:ext cx="1375435" cy="861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11" b="1" i="0">
                <a:solidFill>
                  <a:srgbClr val="63109E"/>
                </a:solidFill>
                <a:latin typeface="Georgia"/>
              </a:rPr>
              <a:t>High-Dimensional Effective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3" tooltip="Understanding Text Similarity with Embeddings and Co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592" y="752605"/>
            <a:ext cx="195689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8" b="1" i="0">
                <a:solidFill>
                  <a:srgbClr val="FFFFFF"/>
                </a:solidFill>
                <a:latin typeface="Georgia"/>
              </a:rPr>
              <a:t>Compute Dot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592" y="1041324"/>
            <a:ext cx="3130372" cy="407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Segoe UI"/>
              </a:rPr>
              <a:t>Multiply corresponding vector elements and sum (A·B)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592" y="2374493"/>
            <a:ext cx="1942158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8" b="1" i="0">
                <a:solidFill>
                  <a:srgbClr val="FFFFFF"/>
                </a:solidFill>
                <a:latin typeface="Georgia"/>
              </a:rPr>
              <a:t>Calculate Magnitudes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592" y="2663212"/>
            <a:ext cx="3301818" cy="407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Segoe UI"/>
              </a:rPr>
              <a:t>Find length of each vector using square root of sum of squares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592" y="3996381"/>
            <a:ext cx="1298046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8" b="1" i="0">
                <a:solidFill>
                  <a:srgbClr val="FFFFFF"/>
                </a:solidFill>
                <a:latin typeface="Georgia"/>
              </a:rPr>
              <a:t>Divide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592" y="4285101"/>
            <a:ext cx="236437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FFFFFF"/>
                </a:solidFill>
                <a:latin typeface="Microsoft YaHei"/>
              </a:rPr>
              <a:t>Cosine similarity = (A·B) / (||A|| × ||B||)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592" y="5401135"/>
            <a:ext cx="138972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8" b="1" i="0">
                <a:solidFill>
                  <a:srgbClr val="FFFFFF"/>
                </a:solidFill>
                <a:latin typeface="Georgia"/>
              </a:rPr>
              <a:t>Interpret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592" y="5689854"/>
            <a:ext cx="3127544" cy="407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Segoe UI"/>
              </a:rPr>
              <a:t>+1 means identical, 0 means unrelated, -1 means opposite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792" y="3646793"/>
            <a:ext cx="7162620" cy="17556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Calculates angle between vectors in high-dimensional space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Understanding Text Similarity with Embeddings and Co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Focuses on direction, not magnitude, making it magnitude-invariant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4" tooltip="Cosine Similarity in NLP - Medi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Effective for text where document length shouldn't affect similarity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Used in semantic search, recommendations, and document clustering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4" tooltip="Cosine Similarity in NLP - Medi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1055340"/>
            <a:ext cx="5638800" cy="685502"/>
          </a:xfrm>
          <a:prstGeom prst="roundRect">
            <a:avLst>
              <a:gd name="adj" fmla="val 22231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893242"/>
            <a:ext cx="5638800" cy="685502"/>
          </a:xfrm>
          <a:prstGeom prst="roundRect">
            <a:avLst>
              <a:gd name="adj" fmla="val 22231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2731144"/>
            <a:ext cx="5638800" cy="685502"/>
          </a:xfrm>
          <a:prstGeom prst="roundRect">
            <a:avLst>
              <a:gd name="adj" fmla="val 22231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4792" y="323841"/>
            <a:ext cx="5052141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91" b="0" i="0">
                <a:latin typeface="Georgia"/>
              </a:rPr>
              <a:t>Text Classification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1266644"/>
            <a:ext cx="2850880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27" b="0" i="0">
                <a:solidFill>
                  <a:srgbClr val="63109E"/>
                </a:solidFill>
                <a:latin typeface="Georgia"/>
              </a:rPr>
              <a:t>Automated Categorization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2" tooltip="Text Classification using scikit-learn in NLP - Geek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2104525"/>
            <a:ext cx="3158500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27" b="0" i="0">
                <a:solidFill>
                  <a:srgbClr val="63109E"/>
                </a:solidFill>
                <a:latin typeface="Georgia"/>
              </a:rPr>
              <a:t>Spam Detection to Sentiment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3" tooltip="Text Classification with NLP A Complete Guide 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2942407"/>
            <a:ext cx="2556356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27" b="0" i="0">
                <a:solidFill>
                  <a:srgbClr val="63109E"/>
                </a:solidFill>
                <a:latin typeface="Georgia"/>
              </a:rPr>
              <a:t>TF-IDF or Embeddings</a:t>
            </a:r>
            <a:r>
              <a:rPr sz="978" b="0" i="0">
                <a:solidFill>
                  <a:srgbClr val="6F4699"/>
                </a:solidFill>
                <a:latin typeface="Georgia"/>
              </a:rPr>
              <a:t> </a:t>
            </a:r>
            <a:r>
              <a:rPr sz="978" b="0" i="0">
                <a:solidFill>
                  <a:srgbClr val="6F4699"/>
                </a:solidFill>
                <a:latin typeface="Georgia"/>
                <a:hlinkClick r:id="rId2" tooltip="Text Classification using scikit-learn in NLP - Geek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" y="3873750"/>
            <a:ext cx="5638658" cy="2676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Text classification is the automated process of categorizing text documents into predefined categories or labels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Text Classification with NLP A Complete Guide 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Process involves preprocessing, feature extraction using TF-IDF or embeddings, model training, and prediction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2" tooltip="Text Classification using scikit-learn in NLP - Geek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Feature extraction transforms raw text into numerical representations that classification algorithms can process effectively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243" y="1055313"/>
            <a:ext cx="5638658" cy="3023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Common applications include spam detection, sentiment analysis, news categorization, and customer support ticket routing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Text Classification with NLP A Complete Guide 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Traditional machine learning uses algorithms like Naive Bayes, Support Vector Machines, and Logistic Regression with engineered features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2" tooltip="Text Classification using scikit-learn in NLP - Geek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Deep learning approaches with transformers like BERT have revolutionized the field by understanding context without manual feature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7" y="0"/>
            <a:ext cx="6095847" cy="6857828"/>
          </a:xfrm>
          <a:prstGeom prst="rect">
            <a:avLst/>
          </a:prstGeom>
          <a:solidFill>
            <a:srgbClr val="E8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1141334"/>
            <a:ext cx="4242388" cy="836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91" b="0" i="0">
                <a:latin typeface="Georgia"/>
              </a:rPr>
              <a:t>Classification Techniques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639" y="5471975"/>
            <a:ext cx="453140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6F4699"/>
                </a:solidFill>
                <a:latin typeface="Times New Roman"/>
              </a:rPr>
              <a:t>Source: </a:t>
            </a:r>
            <a:r>
              <a:rPr sz="1139" b="0" i="0">
                <a:solidFill>
                  <a:srgbClr val="6F4699"/>
                </a:solidFill>
                <a:latin typeface="Times New Roman"/>
                <a:hlinkClick r:id="rId2" tooltip="Text Classification with NLP A Complete Guide 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 Classification with NLP A Complete Guide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2242337"/>
            <a:ext cx="5486262" cy="3493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lnSpc>
                <a:spcPts val="2407"/>
              </a:lnSpc>
              <a:spcBef>
                <a:spcPts val="0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Traditional ML algorithms like Naive Bayes and SVM excel with limited data, fast training, and model interpretability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3" tooltip="Text Classification using scikit-learn in NLP - Geeks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Deep learning with CNNs and LSTMs captures sequential dependencies and local patterns effectively for contextual analysis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Transformer models like BERT and DistilBERT outperform traditional approaches by understanding bidirectional context</a:t>
            </a:r>
            <a:r>
              <a:rPr sz="896" b="0" i="0">
                <a:solidFill>
                  <a:srgbClr val="6F4699"/>
                </a:solidFill>
                <a:latin typeface="Segoe UI"/>
              </a:rPr>
              <a:t> </a:t>
            </a:r>
            <a:r>
              <a:rPr sz="896" b="0" i="0">
                <a:solidFill>
                  <a:srgbClr val="6F4699"/>
                </a:solidFill>
                <a:latin typeface="Segoe UI"/>
                <a:hlinkClick r:id="rId2" tooltip="Text Classification with NLP A Complete Guide 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</a:p>
          <a:p>
            <a:pPr marL="213265" indent="-213265" algn="l">
              <a:lnSpc>
                <a:spcPts val="2407"/>
              </a:lnSpc>
              <a:spcBef>
                <a:spcPts val="959"/>
              </a:spcBef>
              <a:spcAft>
                <a:spcPts val="0"/>
              </a:spcAft>
              <a:buClr>
                <a:srgbClr val="8B6FA8"/>
              </a:buClr>
              <a:buSzPct val="100000"/>
              <a:buFont typeface="Segoe UI" charset="0"/>
              <a:buChar char="●"/>
            </a:pPr>
            <a:r>
              <a:rPr sz="1266" b="0" i="0">
                <a:solidFill>
                  <a:srgbClr val="000000"/>
                </a:solidFill>
                <a:latin typeface="Segoe UI"/>
              </a:rPr>
              <a:t>Model selection depends on dataset size, computational resources, latency requirements, and explainability needs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639" y="1204882"/>
          <a:ext cx="5486262" cy="4114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0159" y="3183484"/>
            <a:ext cx="2631682" cy="49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91" dirty="0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604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Microsoft YaHei</vt:lpstr>
      <vt:lpstr>Arial</vt:lpstr>
      <vt:lpstr>Calibri</vt:lpstr>
      <vt:lpstr>Georgia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Addala Siva</cp:lastModifiedBy>
  <cp:revision>2</cp:revision>
  <dcterms:created xsi:type="dcterms:W3CDTF">2026-06-02T11:07:29Z</dcterms:created>
  <dcterms:modified xsi:type="dcterms:W3CDTF">2026-06-02T11:21:06Z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iteId">
    <vt:lpwstr>258ac4e4-146a-411e-9dc8-79a9e12fd6da</vt:lpwstr>
  </property>
  <property fmtid="{D5CDD505-2E9C-101B-9397-08002B2CF9AE}" pid="4" name="MSIP_Label_a8c544ca-bb84-4280-906e-934547e1d30c_SetDate">
    <vt:lpwstr>2026-06-02T11:10:44Z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ActionId">
    <vt:lpwstr>1160c3b9-f96e-4c1b-921c-455957910d8f</vt:lpwstr>
  </property>
  <property fmtid="{D5CDD505-2E9C-101B-9397-08002B2CF9AE}" pid="7" name="MSIP_Label_a8c544ca-bb84-4280-906e-934547e1d30c_Removed">
    <vt:lpwstr>False</vt:lpwstr>
  </property>
  <property fmtid="{D5CDD505-2E9C-101B-9397-08002B2CF9AE}" pid="8" name="MSIP_Label_a8c544ca-bb84-4280-906e-934547e1d30c_Extended_MSFT_Method">
    <vt:lpwstr>Standard</vt:lpwstr>
  </property>
  <property fmtid="{D5CDD505-2E9C-101B-9397-08002B2CF9AE}" pid="9" name="Sensitivity">
    <vt:lpwstr>Internal - General Use</vt:lpwstr>
  </property>
</Properties>
</file>