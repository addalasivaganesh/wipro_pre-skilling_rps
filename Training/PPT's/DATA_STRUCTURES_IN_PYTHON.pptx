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92" r:id="rId5"/>
    <p:sldId id="299" r:id="rId6"/>
    <p:sldId id="297" r:id="rId7"/>
    <p:sldId id="261" r:id="rId8"/>
    <p:sldId id="298" r:id="rId9"/>
    <p:sldId id="279" r:id="rId10"/>
    <p:sldId id="276" r:id="rId11"/>
    <p:sldId id="293" r:id="rId12"/>
    <p:sldId id="268" r:id="rId13"/>
    <p:sldId id="269" r:id="rId14"/>
    <p:sldId id="300" r:id="rId15"/>
    <p:sldId id="289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4400"/>
    <a:srgbClr val="446992"/>
    <a:srgbClr val="AEC2D8"/>
    <a:srgbClr val="98432A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4CFD19-D89E-4923-B3C3-287031A183F6}" v="7" dt="2026-05-03T18:08:14.271"/>
  </p1510:revLst>
</p1510:revInfo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839" autoAdjust="0"/>
  </p:normalViewPr>
  <p:slideViewPr>
    <p:cSldViewPr snapToGrid="0" showGuides="1">
      <p:cViewPr varScale="1">
        <p:scale>
          <a:sx n="70" d="100"/>
          <a:sy n="70" d="100"/>
        </p:scale>
        <p:origin x="536" y="52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0D2594CA-29C5-062F-2EA7-C593B096C6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E04BB896-BA64-B358-A066-15B96D23BC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EFA2818-7747-F326-294F-EEAC9BEF6E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E0F0-B7F9-756A-3EA4-2114B75370E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0CF20C-6BCC-41A4-8C16-5A346425718D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161C21F-108C-0F07-CDDD-AFB8DDBF6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07CBA7-2A1E-725E-35DA-D1CFF08EC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0679C-80C7-4E7D-9614-ABA41C5B28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681593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80906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7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3774609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8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0938003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12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181820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hape 33">
            <a:extLst>
              <a:ext uri="{FF2B5EF4-FFF2-40B4-BE49-F238E27FC236}">
                <a16:creationId xmlns:a16="http://schemas.microsoft.com/office/drawing/2014/main" id="{4D81E37E-7366-D88D-83B8-BBA577CA4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97686" y="106446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pic>
        <p:nvPicPr>
          <p:cNvPr id="12" name="Shape 31">
            <a:extLst>
              <a:ext uri="{FF2B5EF4-FFF2-40B4-BE49-F238E27FC236}">
                <a16:creationId xmlns:a16="http://schemas.microsoft.com/office/drawing/2014/main" id="{A2E096B7-3B4F-355B-58E5-41784AC8B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284315" y="398445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731520"/>
            <a:ext cx="5029200" cy="329184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168533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429000"/>
            <a:ext cx="4206240" cy="2377440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73CCCCFD-E0FE-BDB7-CF9D-FCA345E6BA5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394325" y="3429000"/>
            <a:ext cx="3475038" cy="2378075"/>
          </a:xfrm>
        </p:spPr>
        <p:txBody>
          <a:bodyPr anchor="ctr"/>
          <a:lstStyle>
            <a:lvl1pPr marL="347472"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4C8F37E-3F74-F3FA-C9D8-7083DF2BBECC}"/>
              </a:ext>
            </a:extLst>
          </p:cNvPr>
          <p:cNvSpPr/>
          <p:nvPr userDrawn="1"/>
        </p:nvSpPr>
        <p:spPr>
          <a:xfrm>
            <a:off x="7325349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FB905CE6-1C2F-E053-4D14-6B86F4EFDC10}"/>
              </a:ext>
            </a:extLst>
          </p:cNvPr>
          <p:cNvSpPr/>
          <p:nvPr userDrawn="1"/>
        </p:nvSpPr>
        <p:spPr>
          <a:xfrm>
            <a:off x="9416816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12">
            <a:extLst>
              <a:ext uri="{FF2B5EF4-FFF2-40B4-BE49-F238E27FC236}">
                <a16:creationId xmlns:a16="http://schemas.microsoft.com/office/drawing/2014/main" id="{0B2D3BF4-495E-23C2-9911-15BC9E0D8EA7}"/>
              </a:ext>
            </a:extLst>
          </p:cNvPr>
          <p:cNvSpPr/>
          <p:nvPr userDrawn="1"/>
        </p:nvSpPr>
        <p:spPr>
          <a:xfrm>
            <a:off x="1571157" y="505838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2629C19-89EB-BC19-9230-7F7675E16EFF}"/>
              </a:ext>
            </a:extLst>
          </p:cNvPr>
          <p:cNvSpPr/>
          <p:nvPr userDrawn="1"/>
        </p:nvSpPr>
        <p:spPr>
          <a:xfrm>
            <a:off x="521034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481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anchor="b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2" name="Freeform: Shape 5">
            <a:extLst>
              <a:ext uri="{FF2B5EF4-FFF2-40B4-BE49-F238E27FC236}">
                <a16:creationId xmlns:a16="http://schemas.microsoft.com/office/drawing/2014/main" id="{B17C1EC9-3787-8D41-B5F1-BF16FD5C7ACB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Freeform: Shape 6">
            <a:extLst>
              <a:ext uri="{FF2B5EF4-FFF2-40B4-BE49-F238E27FC236}">
                <a16:creationId xmlns:a16="http://schemas.microsoft.com/office/drawing/2014/main" id="{E945D8B2-8BED-B43F-8D56-AB19D0D29970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noProof="0" dirty="0"/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3853EA5E-735A-20F3-684A-C0AD030EC2D4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75DB4848-0824-8316-ED27-44DF37AD6F3D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7" name="Straight Connector 2">
            <a:extLst>
              <a:ext uri="{FF2B5EF4-FFF2-40B4-BE49-F238E27FC236}">
                <a16:creationId xmlns:a16="http://schemas.microsoft.com/office/drawing/2014/main" id="{8784B377-2FE4-4091-C29F-46938ECFA73E}"/>
              </a:ext>
            </a:extLst>
          </p:cNvPr>
          <p:cNvCxnSpPr/>
          <p:nvPr userDrawn="1"/>
        </p:nvCxnSpPr>
        <p:spPr>
          <a:xfrm>
            <a:off x="5998709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61204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E820F9CA-E84D-E159-524A-398712EC6AFE}"/>
              </a:ext>
            </a:extLst>
          </p:cNvPr>
          <p:cNvGrpSpPr/>
          <p:nvPr userDrawn="1"/>
        </p:nvGrpSpPr>
        <p:grpSpPr>
          <a:xfrm>
            <a:off x="879765" y="-10376"/>
            <a:ext cx="10794247" cy="1864808"/>
            <a:chOff x="879765" y="-10376"/>
            <a:chExt cx="10794247" cy="1864808"/>
          </a:xfrm>
        </p:grpSpPr>
        <p:sp>
          <p:nvSpPr>
            <p:cNvPr id="12" name="Freeform: Shape 12">
              <a:extLst>
                <a:ext uri="{FF2B5EF4-FFF2-40B4-BE49-F238E27FC236}">
                  <a16:creationId xmlns:a16="http://schemas.microsoft.com/office/drawing/2014/main" id="{7674207A-3643-0D40-E3B5-F11FCACBAA74}"/>
                </a:ext>
              </a:extLst>
            </p:cNvPr>
            <p:cNvSpPr/>
            <p:nvPr/>
          </p:nvSpPr>
          <p:spPr>
            <a:xfrm>
              <a:off x="8893126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7" name="Freeform: Shape 12">
              <a:extLst>
                <a:ext uri="{FF2B5EF4-FFF2-40B4-BE49-F238E27FC236}">
                  <a16:creationId xmlns:a16="http://schemas.microsoft.com/office/drawing/2014/main" id="{9619B847-88FE-63C2-96AC-161C08F5934F}"/>
                </a:ext>
              </a:extLst>
            </p:cNvPr>
            <p:cNvSpPr/>
            <p:nvPr/>
          </p:nvSpPr>
          <p:spPr>
            <a:xfrm>
              <a:off x="5985740" y="345168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228172F9-6711-D31B-2F7B-A4ECDEAB360C}"/>
                </a:ext>
              </a:extLst>
            </p:cNvPr>
            <p:cNvSpPr/>
            <p:nvPr/>
          </p:nvSpPr>
          <p:spPr>
            <a:xfrm>
              <a:off x="5255120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1732E38F-F657-48F0-5783-63C7EDB52F87}"/>
                </a:ext>
              </a:extLst>
            </p:cNvPr>
            <p:cNvSpPr/>
            <p:nvPr/>
          </p:nvSpPr>
          <p:spPr>
            <a:xfrm>
              <a:off x="6710252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12">
              <a:extLst>
                <a:ext uri="{FF2B5EF4-FFF2-40B4-BE49-F238E27FC236}">
                  <a16:creationId xmlns:a16="http://schemas.microsoft.com/office/drawing/2014/main" id="{601F8F38-CEFA-8374-19C9-69BA4F7D10DF}"/>
                </a:ext>
              </a:extLst>
            </p:cNvPr>
            <p:cNvSpPr/>
            <p:nvPr/>
          </p:nvSpPr>
          <p:spPr>
            <a:xfrm>
              <a:off x="1610385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0659428E-002A-3B5E-D9E8-A2B206826D40}"/>
                </a:ext>
              </a:extLst>
            </p:cNvPr>
            <p:cNvSpPr/>
            <p:nvPr/>
          </p:nvSpPr>
          <p:spPr>
            <a:xfrm>
              <a:off x="879765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3F6BB30-EA63-53B6-1493-0B0220BC1FF8}"/>
                </a:ext>
              </a:extLst>
            </p:cNvPr>
            <p:cNvSpPr/>
            <p:nvPr/>
          </p:nvSpPr>
          <p:spPr>
            <a:xfrm>
              <a:off x="2336512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B6E5B6F-28D6-E7F3-B009-0B5623E38F22}"/>
                </a:ext>
              </a:extLst>
            </p:cNvPr>
            <p:cNvSpPr/>
            <p:nvPr/>
          </p:nvSpPr>
          <p:spPr>
            <a:xfrm>
              <a:off x="8160084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817D92F-B8AA-2300-DC90-9AA1D5E54408}"/>
                </a:ext>
              </a:extLst>
            </p:cNvPr>
            <p:cNvSpPr/>
            <p:nvPr/>
          </p:nvSpPr>
          <p:spPr>
            <a:xfrm>
              <a:off x="9615216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2">
              <a:extLst>
                <a:ext uri="{FF2B5EF4-FFF2-40B4-BE49-F238E27FC236}">
                  <a16:creationId xmlns:a16="http://schemas.microsoft.com/office/drawing/2014/main" id="{F40AC1C2-6632-AEFE-E7DF-2E1BB06D857A}"/>
                </a:ext>
              </a:extLst>
            </p:cNvPr>
            <p:cNvSpPr/>
            <p:nvPr/>
          </p:nvSpPr>
          <p:spPr>
            <a:xfrm>
              <a:off x="10342958" y="32052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487168"/>
            <a:ext cx="4572000" cy="33832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7920" y="2487168"/>
            <a:ext cx="5029200" cy="33832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787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200400"/>
            <a:ext cx="5029200" cy="2743200"/>
          </a:xfrm>
        </p:spPr>
        <p:txBody>
          <a:bodyPr anchor="t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10" name="Picture Placeholder 31">
            <a:extLst>
              <a:ext uri="{FF2B5EF4-FFF2-40B4-BE49-F238E27FC236}">
                <a16:creationId xmlns:a16="http://schemas.microsoft.com/office/drawing/2014/main" id="{373D33A6-83B0-5538-2873-8856E4E6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accent5">
              <a:alpha val="30000"/>
            </a:schemeClr>
          </a:solidFill>
        </p:spPr>
      </p:pic>
      <p:sp>
        <p:nvSpPr>
          <p:cNvPr id="7" name="Content placeholder 47">
            <a:extLst>
              <a:ext uri="{FF2B5EF4-FFF2-40B4-BE49-F238E27FC236}">
                <a16:creationId xmlns:a16="http://schemas.microsoft.com/office/drawing/2014/main" id="{3944D979-8121-82AA-A130-38072F1EA83F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1872" y="2240280"/>
            <a:ext cx="5029200" cy="7602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5" name="Freeform: Shape 25">
            <a:extLst>
              <a:ext uri="{FF2B5EF4-FFF2-40B4-BE49-F238E27FC236}">
                <a16:creationId xmlns:a16="http://schemas.microsoft.com/office/drawing/2014/main" id="{8A1DBD66-3066-DF70-EF94-95DF0D7A6503}"/>
              </a:ext>
            </a:extLst>
          </p:cNvPr>
          <p:cNvSpPr/>
          <p:nvPr userDrawn="1"/>
        </p:nvSpPr>
        <p:spPr>
          <a:xfrm flipH="1">
            <a:off x="7400972" y="4594440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D2CC929C-40BF-4EF5-7910-7F657CAF8CA9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9" name="Straight Connector 2">
            <a:extLst>
              <a:ext uri="{FF2B5EF4-FFF2-40B4-BE49-F238E27FC236}">
                <a16:creationId xmlns:a16="http://schemas.microsoft.com/office/drawing/2014/main" id="{66E94398-47F0-267C-6791-5C30B1CEF496}"/>
              </a:ext>
            </a:extLst>
          </p:cNvPr>
          <p:cNvCxnSpPr/>
          <p:nvPr userDrawn="1"/>
        </p:nvCxnSpPr>
        <p:spPr>
          <a:xfrm>
            <a:off x="1142663" y="2282891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777926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7A93C-2947-B6E4-C693-7C485DDC0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486400" cy="17373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A3F288-990F-014E-F099-1E3091477CA7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914400" y="2743200"/>
            <a:ext cx="8348472" cy="337413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3931920" cy="210312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317990C-ED42-30BE-0501-F9C5B4A48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931920" cy="26517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AC62875-1B1B-E814-6549-162A8DBF8929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745002" y="0"/>
            <a:ext cx="6446999" cy="6858000"/>
          </a:xfrm>
          <a:custGeom>
            <a:avLst/>
            <a:gdLst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03802" y="480395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12BFFCE7-C68B-4904-8795-9589C3F38FD4}"/>
              </a:ext>
            </a:extLst>
          </p:cNvPr>
          <p:cNvSpPr/>
          <p:nvPr userDrawn="1"/>
        </p:nvSpPr>
        <p:spPr>
          <a:xfrm>
            <a:off x="636161" y="5854024"/>
            <a:ext cx="2330137" cy="708120"/>
          </a:xfrm>
          <a:prstGeom prst="rect">
            <a:avLst/>
          </a:prstGeom>
          <a:solidFill>
            <a:srgbClr val="0F2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reeform: Shape 19">
            <a:extLst>
              <a:ext uri="{FF2B5EF4-FFF2-40B4-BE49-F238E27FC236}">
                <a16:creationId xmlns:a16="http://schemas.microsoft.com/office/drawing/2014/main" id="{9D307BA6-8A60-85D7-CC8B-894256DC4B90}"/>
              </a:ext>
            </a:extLst>
          </p:cNvPr>
          <p:cNvSpPr/>
          <p:nvPr userDrawn="1"/>
        </p:nvSpPr>
        <p:spPr>
          <a:xfrm>
            <a:off x="8517470" y="2248218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>
            <a:off x="9578882" y="460803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>
            <a:off x="9522496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>
            <a:off x="11034052" y="3709992"/>
            <a:ext cx="117318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60704"/>
            <a:ext cx="7132320" cy="1773936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34C76-4814-6AFA-CEFD-F82B9ED9B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2F254A-B4C7-D072-FEB9-22F9A2B0CA64}"/>
              </a:ext>
            </a:extLst>
          </p:cNvPr>
          <p:cNvSpPr>
            <a:spLocks noGrp="1"/>
          </p:cNvSpPr>
          <p:nvPr>
            <p:ph idx="56"/>
          </p:nvPr>
        </p:nvSpPr>
        <p:spPr>
          <a:xfrm>
            <a:off x="475488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DBF4DF-D0B4-1DA6-0271-5D4033A9C19C}"/>
              </a:ext>
            </a:extLst>
          </p:cNvPr>
          <p:cNvSpPr>
            <a:spLocks noGrp="1"/>
          </p:cNvSpPr>
          <p:nvPr>
            <p:ph type="ftr" sz="quarter" idx="5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389120" cy="2103120"/>
          </a:xfrm>
        </p:spPr>
        <p:txBody>
          <a:bodyPr anchor="b" anchorCtr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03123E-E3E0-5E2A-E1FB-EC28A2C68EE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14400" y="3108960"/>
            <a:ext cx="4389120" cy="192024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B0A6B95-C59B-C125-7957-8C41B378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367528" cy="52120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18CD2E87-8426-FC12-6665-A6E2F64FEA93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-9525" y="5039331"/>
            <a:ext cx="986377" cy="128016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D35CF771-1335-6C94-6AA8-AF68EADDDF00}"/>
              </a:ext>
            </a:extLst>
          </p:cNvPr>
          <p:cNvSpPr/>
          <p:nvPr userDrawn="1"/>
        </p:nvSpPr>
        <p:spPr>
          <a:xfrm>
            <a:off x="1140014" y="5142797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bg2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4390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7671816" cy="2103120"/>
          </a:xfrm>
        </p:spPr>
        <p:txBody>
          <a:bodyPr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9296AFE-5FB8-52A4-3111-3B53DBE4DB3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14400" y="3200400"/>
            <a:ext cx="10149840" cy="28346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Freeform: Shape 12">
            <a:extLst>
              <a:ext uri="{FF2B5EF4-FFF2-40B4-BE49-F238E27FC236}">
                <a16:creationId xmlns:a16="http://schemas.microsoft.com/office/drawing/2014/main" id="{809C5320-0161-C582-141C-55F06D4F3BAE}"/>
              </a:ext>
            </a:extLst>
          </p:cNvPr>
          <p:cNvSpPr/>
          <p:nvPr userDrawn="1"/>
        </p:nvSpPr>
        <p:spPr>
          <a:xfrm>
            <a:off x="8893126" y="351937"/>
            <a:ext cx="1331054" cy="150249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29C982F3-4477-76AC-0429-350585A39FFA}"/>
              </a:ext>
            </a:extLst>
          </p:cNvPr>
          <p:cNvSpPr/>
          <p:nvPr userDrawn="1"/>
        </p:nvSpPr>
        <p:spPr>
          <a:xfrm>
            <a:off x="5255120" y="0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87A8F7B2-0552-AAD4-9DE2-845DE10CA10A}"/>
              </a:ext>
            </a:extLst>
          </p:cNvPr>
          <p:cNvSpPr/>
          <p:nvPr userDrawn="1"/>
        </p:nvSpPr>
        <p:spPr>
          <a:xfrm>
            <a:off x="6710252" y="0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395DA7FF-BAA0-F04C-CA6C-16E9C2D55593}"/>
              </a:ext>
            </a:extLst>
          </p:cNvPr>
          <p:cNvSpPr/>
          <p:nvPr userDrawn="1"/>
        </p:nvSpPr>
        <p:spPr>
          <a:xfrm>
            <a:off x="879765" y="0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468D9CEC-53B7-B8DC-B77E-E3F86681879C}"/>
              </a:ext>
            </a:extLst>
          </p:cNvPr>
          <p:cNvSpPr/>
          <p:nvPr userDrawn="1"/>
        </p:nvSpPr>
        <p:spPr>
          <a:xfrm>
            <a:off x="2336512" y="-9525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9222D4D6-56B1-C4C3-0E51-FB22F0CD902B}"/>
              </a:ext>
            </a:extLst>
          </p:cNvPr>
          <p:cNvSpPr/>
          <p:nvPr userDrawn="1"/>
        </p:nvSpPr>
        <p:spPr>
          <a:xfrm>
            <a:off x="8160084" y="-10376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0E6292F0-9E78-C98C-097B-30DEBBC1B179}"/>
              </a:ext>
            </a:extLst>
          </p:cNvPr>
          <p:cNvSpPr/>
          <p:nvPr userDrawn="1"/>
        </p:nvSpPr>
        <p:spPr>
          <a:xfrm>
            <a:off x="9615216" y="0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: Shape 12">
            <a:extLst>
              <a:ext uri="{FF2B5EF4-FFF2-40B4-BE49-F238E27FC236}">
                <a16:creationId xmlns:a16="http://schemas.microsoft.com/office/drawing/2014/main" id="{315817B3-76DB-FDD0-60F7-E385C0E84F58}"/>
              </a:ext>
            </a:extLst>
          </p:cNvPr>
          <p:cNvSpPr/>
          <p:nvPr userDrawn="1"/>
        </p:nvSpPr>
        <p:spPr>
          <a:xfrm>
            <a:off x="10342958" y="320527"/>
            <a:ext cx="1331054" cy="150249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</p:spTree>
    <p:extLst>
      <p:ext uri="{BB962C8B-B14F-4D97-AF65-F5344CB8AC3E}">
        <p14:creationId xmlns:p14="http://schemas.microsoft.com/office/powerpoint/2010/main" val="389171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47">
            <a:extLst>
              <a:ext uri="{FF2B5EF4-FFF2-40B4-BE49-F238E27FC236}">
                <a16:creationId xmlns:a16="http://schemas.microsoft.com/office/drawing/2014/main" id="{117BCD91-6BBA-AACD-3424-C3A4E5C1AB1D}"/>
              </a:ext>
            </a:extLst>
          </p:cNvPr>
          <p:cNvSpPr>
            <a:spLocks noGrp="1" noChangeAspect="1"/>
          </p:cNvSpPr>
          <p:nvPr>
            <p:ph type="pic" sz="quarter" idx="48"/>
          </p:nvPr>
        </p:nvSpPr>
        <p:spPr>
          <a:xfrm>
            <a:off x="914400" y="539496"/>
            <a:ext cx="5025207" cy="577900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/>
              <a:t>Click icon to add picture</a:t>
            </a:r>
            <a:endParaRPr lang="en-US" altLang="zh-CN" noProof="0" dirty="0"/>
          </a:p>
        </p:txBody>
      </p:sp>
      <p:pic>
        <p:nvPicPr>
          <p:cNvPr id="7" name="Shape 33">
            <a:extLst>
              <a:ext uri="{FF2B5EF4-FFF2-40B4-BE49-F238E27FC236}">
                <a16:creationId xmlns:a16="http://schemas.microsoft.com/office/drawing/2014/main" id="{78B6A20E-2402-E586-7E92-A2C0D0B85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2010" y="4038403"/>
            <a:ext cx="1438713" cy="1645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Freeform: Shape 11">
            <a:extLst>
              <a:ext uri="{FF2B5EF4-FFF2-40B4-BE49-F238E27FC236}">
                <a16:creationId xmlns:a16="http://schemas.microsoft.com/office/drawing/2014/main" id="{20E24AA2-A4D8-FFB3-C801-0E57990B8CB6}"/>
              </a:ext>
            </a:extLst>
          </p:cNvPr>
          <p:cNvSpPr/>
          <p:nvPr userDrawn="1"/>
        </p:nvSpPr>
        <p:spPr>
          <a:xfrm>
            <a:off x="1360235" y="5541405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1FEC53F3-5030-5BCF-54CA-ABB14457C073}"/>
              </a:ext>
            </a:extLst>
          </p:cNvPr>
          <p:cNvSpPr/>
          <p:nvPr userDrawn="1"/>
        </p:nvSpPr>
        <p:spPr>
          <a:xfrm>
            <a:off x="5429027" y="393334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86721E85-C7DE-A05F-D33D-97CAF161E33A}"/>
              </a:ext>
            </a:extLst>
          </p:cNvPr>
          <p:cNvSpPr/>
          <p:nvPr userDrawn="1"/>
        </p:nvSpPr>
        <p:spPr>
          <a:xfrm>
            <a:off x="0" y="2860787"/>
            <a:ext cx="2004570" cy="3676532"/>
          </a:xfrm>
          <a:custGeom>
            <a:avLst/>
            <a:gdLst>
              <a:gd name="connsiteX0" fmla="*/ 417538 w 2004570"/>
              <a:gd name="connsiteY0" fmla="*/ 0 h 3676532"/>
              <a:gd name="connsiteX1" fmla="*/ 2004570 w 2004570"/>
              <a:gd name="connsiteY1" fmla="*/ 925683 h 3676532"/>
              <a:gd name="connsiteX2" fmla="*/ 2004570 w 2004570"/>
              <a:gd name="connsiteY2" fmla="*/ 2763949 h 3676532"/>
              <a:gd name="connsiteX3" fmla="*/ 413202 w 2004570"/>
              <a:gd name="connsiteY3" fmla="*/ 3676532 h 3676532"/>
              <a:gd name="connsiteX4" fmla="*/ 0 w 2004570"/>
              <a:gd name="connsiteY4" fmla="*/ 3439338 h 3676532"/>
              <a:gd name="connsiteX5" fmla="*/ 0 w 2004570"/>
              <a:gd name="connsiteY5" fmla="*/ 24107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04570" h="3676532">
                <a:moveTo>
                  <a:pt x="417538" y="0"/>
                </a:moveTo>
                <a:lnTo>
                  <a:pt x="2004570" y="925683"/>
                </a:lnTo>
                <a:lnTo>
                  <a:pt x="2004570" y="2763949"/>
                </a:lnTo>
                <a:lnTo>
                  <a:pt x="413202" y="3676532"/>
                </a:lnTo>
                <a:lnTo>
                  <a:pt x="0" y="3439338"/>
                </a:lnTo>
                <a:lnTo>
                  <a:pt x="0" y="24107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657773" y="5253270"/>
            <a:ext cx="1710765" cy="1621875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275432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576" y="1499616"/>
            <a:ext cx="7955280" cy="1335024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FFF81D2-C0B4-3B82-8DF6-D10CC07C441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65576" y="3108960"/>
            <a:ext cx="4572000" cy="3108960"/>
          </a:xfrm>
        </p:spPr>
        <p:txBody>
          <a:bodyPr/>
          <a:lstStyle>
            <a:lvl1pPr marL="512064" indent="-512064">
              <a:buFont typeface="+mj-lt"/>
              <a:buAutoNum type="arabicPeriod"/>
              <a:defRPr sz="1800"/>
            </a:lvl1pPr>
            <a:lvl2pPr marL="1097280" indent="-512064">
              <a:buFont typeface="+mj-lt"/>
              <a:buAutoNum type="alphaLcPeriod"/>
              <a:defRPr sz="1800"/>
            </a:lvl2pPr>
            <a:lvl3pPr marL="1645920" indent="-512064">
              <a:buFont typeface="+mj-lt"/>
              <a:buAutoNum type="romanLcPeriod"/>
              <a:defRPr sz="1800"/>
            </a:lvl3pPr>
            <a:lvl4pPr marL="2194560" indent="-512064">
              <a:buFont typeface="+mj-lt"/>
              <a:buAutoNum type="arabicParenR"/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90F721-56C7-251D-948D-117696095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0" y="3108960"/>
            <a:ext cx="3017520" cy="310896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94E8A0-C02C-2322-50C1-50080A793F84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>
          <a:xfrm>
            <a:off x="3465576" y="6217920"/>
            <a:ext cx="4114800" cy="365125"/>
          </a:xfrm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2">
            <a:extLst>
              <a:ext uri="{FF2B5EF4-FFF2-40B4-BE49-F238E27FC236}">
                <a16:creationId xmlns:a16="http://schemas.microsoft.com/office/drawing/2014/main" id="{0750FD92-E143-4402-D455-30DC417CBDBE}"/>
              </a:ext>
            </a:extLst>
          </p:cNvPr>
          <p:cNvSpPr/>
          <p:nvPr userDrawn="1"/>
        </p:nvSpPr>
        <p:spPr>
          <a:xfrm>
            <a:off x="1198465" y="958947"/>
            <a:ext cx="1544735" cy="174369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6B13E9E2-D67B-E75B-D60D-CE3782A4FC67}"/>
              </a:ext>
            </a:extLst>
          </p:cNvPr>
          <p:cNvSpPr/>
          <p:nvPr userDrawn="1"/>
        </p:nvSpPr>
        <p:spPr>
          <a:xfrm>
            <a:off x="326738" y="0"/>
            <a:ext cx="1544359" cy="1254845"/>
          </a:xfrm>
          <a:custGeom>
            <a:avLst/>
            <a:gdLst>
              <a:gd name="connsiteX0" fmla="*/ 0 w 1544359"/>
              <a:gd name="connsiteY0" fmla="*/ 0 h 1254845"/>
              <a:gd name="connsiteX1" fmla="*/ 1544359 w 1544359"/>
              <a:gd name="connsiteY1" fmla="*/ 0 h 1254845"/>
              <a:gd name="connsiteX2" fmla="*/ 1543519 w 1544359"/>
              <a:gd name="connsiteY2" fmla="*/ 822090 h 1254845"/>
              <a:gd name="connsiteX3" fmla="*/ 772206 w 1544359"/>
              <a:gd name="connsiteY3" fmla="*/ 1254845 h 1254845"/>
              <a:gd name="connsiteX4" fmla="*/ 0 w 1544359"/>
              <a:gd name="connsiteY4" fmla="*/ 822027 h 1254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4359" h="1254845">
                <a:moveTo>
                  <a:pt x="0" y="0"/>
                </a:moveTo>
                <a:lnTo>
                  <a:pt x="1544359" y="0"/>
                </a:lnTo>
                <a:lnTo>
                  <a:pt x="1543519" y="822090"/>
                </a:lnTo>
                <a:lnTo>
                  <a:pt x="772206" y="1254845"/>
                </a:lnTo>
                <a:lnTo>
                  <a:pt x="0" y="82202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Hexagon 21">
            <a:extLst>
              <a:ext uri="{FF2B5EF4-FFF2-40B4-BE49-F238E27FC236}">
                <a16:creationId xmlns:a16="http://schemas.microsoft.com/office/drawing/2014/main" id="{AA088CB3-68C2-8BF7-640B-511D7AD708D4}"/>
              </a:ext>
            </a:extLst>
          </p:cNvPr>
          <p:cNvSpPr/>
          <p:nvPr userDrawn="1"/>
        </p:nvSpPr>
        <p:spPr>
          <a:xfrm>
            <a:off x="2757266" y="2493385"/>
            <a:ext cx="1467568" cy="1305975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rgbClr val="D844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Hexagon 28">
            <a:extLst>
              <a:ext uri="{FF2B5EF4-FFF2-40B4-BE49-F238E27FC236}">
                <a16:creationId xmlns:a16="http://schemas.microsoft.com/office/drawing/2014/main" id="{E4EF439B-1CC3-CA39-B62A-E54F83ED70D2}"/>
              </a:ext>
            </a:extLst>
          </p:cNvPr>
          <p:cNvSpPr/>
          <p:nvPr userDrawn="1"/>
        </p:nvSpPr>
        <p:spPr>
          <a:xfrm>
            <a:off x="396269" y="251164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rgbClr val="9843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Hexagon 21">
            <a:extLst>
              <a:ext uri="{FF2B5EF4-FFF2-40B4-BE49-F238E27FC236}">
                <a16:creationId xmlns:a16="http://schemas.microsoft.com/office/drawing/2014/main" id="{A38FF139-88E9-67A9-6010-4EDFB851076B}"/>
              </a:ext>
            </a:extLst>
          </p:cNvPr>
          <p:cNvSpPr/>
          <p:nvPr userDrawn="1"/>
        </p:nvSpPr>
        <p:spPr>
          <a:xfrm>
            <a:off x="5150156" y="5261378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Hexagon 21">
            <a:extLst>
              <a:ext uri="{FF2B5EF4-FFF2-40B4-BE49-F238E27FC236}">
                <a16:creationId xmlns:a16="http://schemas.microsoft.com/office/drawing/2014/main" id="{99956147-4454-5EA6-FC9C-94C08EE35F28}"/>
              </a:ext>
            </a:extLst>
          </p:cNvPr>
          <p:cNvSpPr/>
          <p:nvPr userDrawn="1"/>
        </p:nvSpPr>
        <p:spPr>
          <a:xfrm>
            <a:off x="3948599" y="3206642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731520"/>
            <a:ext cx="5394960" cy="2103120"/>
          </a:xfrm>
        </p:spPr>
        <p:txBody>
          <a:bodyPr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35040" y="3108960"/>
            <a:ext cx="5394960" cy="187979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195F80-945A-98EA-D268-CE2B7F1E8FA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3714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1" r:id="rId2"/>
    <p:sldLayoutId id="2147483674" r:id="rId3"/>
    <p:sldLayoutId id="2147483670" r:id="rId4"/>
    <p:sldLayoutId id="2147483669" r:id="rId5"/>
    <p:sldLayoutId id="2147483655" r:id="rId6"/>
    <p:sldLayoutId id="2147483651" r:id="rId7"/>
    <p:sldLayoutId id="2147483662" r:id="rId8"/>
    <p:sldLayoutId id="2147483672" r:id="rId9"/>
    <p:sldLayoutId id="2147483673" r:id="rId10"/>
    <p:sldLayoutId id="2147483653" r:id="rId11"/>
    <p:sldLayoutId id="2147483663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1" y="731519"/>
            <a:ext cx="5416929" cy="2156059"/>
          </a:xfrm>
        </p:spPr>
        <p:txBody>
          <a:bodyPr lIns="0" anchor="b" anchorCtr="0">
            <a:normAutofit/>
          </a:bodyPr>
          <a:lstStyle/>
          <a:p>
            <a:r>
              <a:rPr lang="en-US" sz="4000" dirty="0"/>
              <a:t>DATA STRUCTURES IN PYTHON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</p:spPr>
        <p:txBody>
          <a:bodyPr/>
          <a:lstStyle/>
          <a:p>
            <a:r>
              <a:rPr lang="en-US" dirty="0"/>
              <a:t>Presented Name : Addala Siva Ganesh</a:t>
            </a:r>
          </a:p>
        </p:txBody>
      </p:sp>
      <p:pic>
        <p:nvPicPr>
          <p:cNvPr id="20" name="Picture Placeholder 19" descr="Two people looking at a laptop at a table">
            <a:extLst>
              <a:ext uri="{FF2B5EF4-FFF2-40B4-BE49-F238E27FC236}">
                <a16:creationId xmlns:a16="http://schemas.microsoft.com/office/drawing/2014/main" id="{E83BB08F-E403-8715-0B24-AD9E4B72C80E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3"/>
          <a:srcRect l="23" r="23"/>
          <a:stretch/>
        </p:blipFill>
        <p:spPr>
          <a:xfrm>
            <a:off x="6742557" y="821836"/>
            <a:ext cx="4405503" cy="5066346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43F85A-66F3-1DB8-C714-D27F3FAD4DCE}"/>
              </a:ext>
            </a:extLst>
          </p:cNvPr>
          <p:cNvSpPr txBox="1"/>
          <p:nvPr/>
        </p:nvSpPr>
        <p:spPr>
          <a:xfrm>
            <a:off x="1144291" y="3244334"/>
            <a:ext cx="50292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LISTS, SETS, TUPLES, DICTIONARIES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F021C-3CEB-0FBA-DA89-C9C82E741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0260" y="1293440"/>
            <a:ext cx="4206240" cy="2377440"/>
          </a:xfrm>
        </p:spPr>
        <p:txBody>
          <a:bodyPr anchor="t" anchorCtr="0"/>
          <a:lstStyle/>
          <a:p>
            <a:r>
              <a:rPr lang="en-US" dirty="0"/>
              <a:t>Agenda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6746B3-AFD9-641E-7CBF-9A783646B368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3625862" y="2374071"/>
            <a:ext cx="3697356" cy="4208974"/>
          </a:xfrm>
        </p:spPr>
        <p:txBody>
          <a:bodyPr anchor="t" anchorCtr="0">
            <a:normAutofit fontScale="85000" lnSpcReduction="10000"/>
          </a:bodyPr>
          <a:lstStyle/>
          <a:p>
            <a:r>
              <a:rPr lang="en-US" dirty="0"/>
              <a:t>What are Data Structures</a:t>
            </a:r>
          </a:p>
          <a:p>
            <a:r>
              <a:rPr lang="en-US" dirty="0"/>
              <a:t>Why Data Structures are Important</a:t>
            </a:r>
          </a:p>
          <a:p>
            <a:r>
              <a:rPr lang="en-US" dirty="0"/>
              <a:t>Python Data Structures Overview</a:t>
            </a:r>
          </a:p>
          <a:p>
            <a:r>
              <a:rPr lang="en-US" dirty="0"/>
              <a:t>Lists</a:t>
            </a:r>
          </a:p>
          <a:p>
            <a:r>
              <a:rPr lang="en-US" dirty="0"/>
              <a:t>Tuples</a:t>
            </a:r>
          </a:p>
          <a:p>
            <a:r>
              <a:rPr lang="en-US" dirty="0"/>
              <a:t>Sets</a:t>
            </a:r>
          </a:p>
          <a:p>
            <a:r>
              <a:rPr lang="en-US" dirty="0"/>
              <a:t>Dictionaries</a:t>
            </a:r>
          </a:p>
          <a:p>
            <a:r>
              <a:rPr lang="en-US" dirty="0"/>
              <a:t>Comparison</a:t>
            </a:r>
          </a:p>
          <a:p>
            <a:r>
              <a:rPr lang="en-US" dirty="0"/>
              <a:t>Real-time Examples</a:t>
            </a:r>
          </a:p>
          <a:p>
            <a:r>
              <a:rPr lang="en-US" dirty="0"/>
              <a:t>Conclusion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59569-83D5-A20B-653C-B9D6C8D98164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2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485080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2A73C-F597-27B7-8F29-D6406DC4D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4380" y="2257592"/>
            <a:ext cx="2936988" cy="1649128"/>
          </a:xfrm>
        </p:spPr>
        <p:txBody>
          <a:bodyPr lIns="0" anchor="b" anchorCtr="0">
            <a:normAutofit fontScale="90000"/>
          </a:bodyPr>
          <a:lstStyle/>
          <a:p>
            <a:r>
              <a:rPr lang="en-US" dirty="0"/>
              <a:t>What Are Data Structures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190503-C2C6-37F4-4636-9B4A8A3DE4E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96000" y="941832"/>
            <a:ext cx="5229725" cy="4910328"/>
          </a:xfrm>
        </p:spPr>
        <p:txBody>
          <a:bodyPr>
            <a:normAutofit/>
          </a:bodyPr>
          <a:lstStyle/>
          <a:p>
            <a:r>
              <a:rPr lang="en-US" sz="2400" dirty="0"/>
              <a:t>Data Structures are used to store and organize the data.</a:t>
            </a:r>
          </a:p>
          <a:p>
            <a:r>
              <a:rPr lang="en-US" sz="2400" dirty="0"/>
              <a:t>They help in efficient data handling.</a:t>
            </a:r>
          </a:p>
          <a:p>
            <a:r>
              <a:rPr lang="en-US" sz="2400" dirty="0"/>
              <a:t>With out data structures, managing large data is difficult.</a:t>
            </a:r>
          </a:p>
          <a:p>
            <a:r>
              <a:rPr lang="en-US" sz="2400" b="1" dirty="0"/>
              <a:t>Examples:</a:t>
            </a:r>
          </a:p>
          <a:p>
            <a:r>
              <a:rPr lang="en-US" sz="2400" b="1" dirty="0"/>
              <a:t>Student details.</a:t>
            </a:r>
          </a:p>
          <a:p>
            <a:r>
              <a:rPr lang="en-US" sz="2400" b="1" dirty="0"/>
              <a:t>Shopping cart items</a:t>
            </a:r>
          </a:p>
          <a:p>
            <a:r>
              <a:rPr lang="en-US" sz="2400" b="1" dirty="0"/>
              <a:t>Marks and Grades</a:t>
            </a:r>
          </a:p>
        </p:txBody>
      </p:sp>
    </p:spTree>
    <p:extLst>
      <p:ext uri="{BB962C8B-B14F-4D97-AF65-F5344CB8AC3E}">
        <p14:creationId xmlns:p14="http://schemas.microsoft.com/office/powerpoint/2010/main" val="3530111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487168"/>
            <a:ext cx="4572000" cy="3383280"/>
          </a:xfrm>
          <a:noFill/>
        </p:spPr>
        <p:txBody>
          <a:bodyPr anchor="t" anchorCtr="0">
            <a:noAutofit/>
          </a:bodyPr>
          <a:lstStyle/>
          <a:p>
            <a:r>
              <a:rPr lang="en-US" dirty="0"/>
              <a:t>WHY DATA STRUCTURES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7920" y="2487168"/>
            <a:ext cx="5029200" cy="3383280"/>
          </a:xfrm>
          <a:noFill/>
        </p:spPr>
        <p:txBody>
          <a:bodyPr>
            <a:normAutofit lnSpcReduction="10000"/>
          </a:bodyPr>
          <a:lstStyle/>
          <a:p>
            <a:r>
              <a:rPr lang="en-US" dirty="0"/>
              <a:t>Makes code Efficient</a:t>
            </a:r>
          </a:p>
          <a:p>
            <a:r>
              <a:rPr lang="en-US" dirty="0"/>
              <a:t>Improves Performance</a:t>
            </a:r>
          </a:p>
          <a:p>
            <a:r>
              <a:rPr lang="en-US" dirty="0"/>
              <a:t>Helps Manage Large Data</a:t>
            </a:r>
          </a:p>
          <a:p>
            <a:r>
              <a:rPr lang="en-US" dirty="0"/>
              <a:t>Used in real world Applications</a:t>
            </a:r>
          </a:p>
          <a:p>
            <a:pPr marL="0" indent="0">
              <a:buNone/>
            </a:pPr>
            <a:r>
              <a:rPr lang="en-US" dirty="0"/>
              <a:t>       Banking</a:t>
            </a:r>
          </a:p>
          <a:p>
            <a:pPr marL="0" indent="0">
              <a:buNone/>
            </a:pPr>
            <a:r>
              <a:rPr lang="en-US" dirty="0"/>
              <a:t>       Web-Applications</a:t>
            </a:r>
          </a:p>
          <a:p>
            <a:pPr marL="0" indent="0">
              <a:buNone/>
            </a:pPr>
            <a:r>
              <a:rPr lang="en-US" dirty="0"/>
              <a:t>       Machine Learning</a:t>
            </a:r>
          </a:p>
          <a:p>
            <a:pPr marL="0" indent="0">
              <a:buNone/>
            </a:pPr>
            <a:r>
              <a:rPr lang="en-US" dirty="0"/>
              <a:t>       Data Analytics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4AF3B-CC38-C6F7-1058-2FC5EE48D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A61EC-5F42-6AB8-DF35-480F07028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9410" y="856007"/>
            <a:ext cx="5029200" cy="1451810"/>
          </a:xfrm>
        </p:spPr>
        <p:txBody>
          <a:bodyPr lIns="0" anchor="t" anchorCtr="0">
            <a:normAutofit fontScale="90000"/>
          </a:bodyPr>
          <a:lstStyle/>
          <a:p>
            <a:r>
              <a:rPr lang="en-US" dirty="0"/>
              <a:t>PYTHON DATA STRUCTURES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399339-FABF-04A2-4090-C38B947B2B8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19682" y="2707213"/>
            <a:ext cx="5029200" cy="3459372"/>
          </a:xfrm>
        </p:spPr>
        <p:txBody>
          <a:bodyPr anchor="b" anchorCtr="0">
            <a:normAutofit lnSpcReduction="10000"/>
          </a:bodyPr>
          <a:lstStyle/>
          <a:p>
            <a:r>
              <a:rPr lang="en-US" dirty="0"/>
              <a:t>Python Provides the Following built in data structures</a:t>
            </a:r>
          </a:p>
          <a:p>
            <a:r>
              <a:rPr lang="en-US" dirty="0"/>
              <a:t>List</a:t>
            </a:r>
          </a:p>
          <a:p>
            <a:r>
              <a:rPr lang="en-US" dirty="0"/>
              <a:t>Tuple</a:t>
            </a:r>
          </a:p>
          <a:p>
            <a:r>
              <a:rPr lang="en-US" dirty="0"/>
              <a:t>Set</a:t>
            </a:r>
          </a:p>
          <a:p>
            <a:r>
              <a:rPr lang="en-US" dirty="0"/>
              <a:t>Dictionary</a:t>
            </a:r>
          </a:p>
          <a:p>
            <a:r>
              <a:rPr lang="en-US" dirty="0"/>
              <a:t>Each data structure serves a specific purpose</a:t>
            </a:r>
          </a:p>
          <a:p>
            <a:endParaRPr lang="en-US" dirty="0"/>
          </a:p>
        </p:txBody>
      </p:sp>
      <p:pic>
        <p:nvPicPr>
          <p:cNvPr id="12" name="Picture Placeholder 11" descr="A person sitting at their deck and a person walking to their desk">
            <a:extLst>
              <a:ext uri="{FF2B5EF4-FFF2-40B4-BE49-F238E27FC236}">
                <a16:creationId xmlns:a16="http://schemas.microsoft.com/office/drawing/2014/main" id="{7372550F-E2C0-2C0B-0ABA-5672CEBF71D0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2"/>
          <a:srcRect l="10" r="10"/>
          <a:stretch/>
        </p:blipFill>
        <p:spPr>
          <a:xfrm>
            <a:off x="7493157" y="529148"/>
            <a:ext cx="4248873" cy="4731130"/>
          </a:xfrm>
        </p:spPr>
      </p:pic>
    </p:spTree>
    <p:extLst>
      <p:ext uri="{BB962C8B-B14F-4D97-AF65-F5344CB8AC3E}">
        <p14:creationId xmlns:p14="http://schemas.microsoft.com/office/powerpoint/2010/main" val="2735087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79BBF1-9BC2-6DCE-0154-887346987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98" y="1211981"/>
            <a:ext cx="4663440" cy="776438"/>
          </a:xfrm>
        </p:spPr>
        <p:txBody>
          <a:bodyPr/>
          <a:lstStyle/>
          <a:p>
            <a:r>
              <a:rPr lang="en-US" dirty="0"/>
              <a:t>Lists-introduction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33B199B-AFAF-FCA4-CEA7-D9E73D707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7128" y="4980424"/>
            <a:ext cx="5486400" cy="173736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INDEX  --  0    1    2    3   4</a:t>
            </a:r>
          </a:p>
          <a:p>
            <a:pPr marL="0" indent="0">
              <a:buNone/>
            </a:pPr>
            <a:r>
              <a:rPr lang="en-US" dirty="0"/>
              <a:t>  VALUES – [10, 20, 30, 40, 50]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4800F032-5102-94C2-865C-AE9D448B2744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5C5013-A563-C783-9185-9C847D4B4A4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6</a:t>
            </a:fld>
            <a:endParaRPr lang="en-US" altLang="zh-CN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66DD4C7-2F55-9200-A68D-F10B7A46E5B2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914400" y="2743200"/>
            <a:ext cx="4937760" cy="3374136"/>
          </a:xfrm>
        </p:spPr>
        <p:txBody>
          <a:bodyPr/>
          <a:lstStyle/>
          <a:p>
            <a:r>
              <a:rPr lang="en-US" dirty="0"/>
              <a:t>Ordered Collection</a:t>
            </a:r>
          </a:p>
          <a:p>
            <a:r>
              <a:rPr lang="en-US" dirty="0"/>
              <a:t>Allows Duplicate Values</a:t>
            </a:r>
          </a:p>
          <a:p>
            <a:r>
              <a:rPr lang="en-US" dirty="0"/>
              <a:t>Mutable ( Can be changed )</a:t>
            </a:r>
          </a:p>
          <a:p>
            <a:r>
              <a:rPr lang="en-IN" dirty="0"/>
              <a:t>Written using square brackets [ ]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b="1" dirty="0"/>
              <a:t>Example:</a:t>
            </a:r>
          </a:p>
          <a:p>
            <a:pPr marL="0" indent="0">
              <a:buNone/>
            </a:pPr>
            <a:r>
              <a:rPr lang="en-IN" b="1" dirty="0"/>
              <a:t>[10, 20, 30, 40, 50]</a:t>
            </a:r>
          </a:p>
        </p:txBody>
      </p:sp>
    </p:spTree>
    <p:extLst>
      <p:ext uri="{BB962C8B-B14F-4D97-AF65-F5344CB8AC3E}">
        <p14:creationId xmlns:p14="http://schemas.microsoft.com/office/powerpoint/2010/main" val="1246021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1D18537-D028-9E9C-FB87-93F24955D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4527" y="1020277"/>
            <a:ext cx="2310063" cy="1305827"/>
          </a:xfrm>
        </p:spPr>
        <p:txBody>
          <a:bodyPr anchor="b" anchorCtr="0">
            <a:normAutofit fontScale="90000"/>
          </a:bodyPr>
          <a:lstStyle/>
          <a:p>
            <a:r>
              <a:rPr lang="en-US" dirty="0"/>
              <a:t>Lists - Code Demo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0093B1-77CC-1E61-FB22-E136F94EA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269" y="3227021"/>
            <a:ext cx="4193258" cy="2478835"/>
          </a:xfrm>
        </p:spPr>
        <p:txBody>
          <a:bodyPr>
            <a:normAutofit/>
          </a:bodyPr>
          <a:lstStyle/>
          <a:p>
            <a:r>
              <a:rPr lang="en-US" dirty="0"/>
              <a:t>Numbers = [10, 20, 30, 40, 50]</a:t>
            </a:r>
          </a:p>
          <a:p>
            <a:r>
              <a:rPr lang="en-US" dirty="0"/>
              <a:t>Print(numbers)</a:t>
            </a:r>
          </a:p>
          <a:p>
            <a:r>
              <a:rPr lang="en-US" dirty="0"/>
              <a:t>Print(numbers[0])      # first element</a:t>
            </a:r>
          </a:p>
          <a:p>
            <a:r>
              <a:rPr lang="en-US" dirty="0"/>
              <a:t>Print(numbers[-1])    # last element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D246665A-6901-3F62-340A-A95E775ACA48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6B3DA3-995E-263F-F271-D0DCB60A6118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7</a:t>
            </a:fld>
            <a:endParaRPr lang="en-US" altLang="zh-CN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7DB863-52CF-CEA7-CF38-B5582CE78531}"/>
              </a:ext>
            </a:extLst>
          </p:cNvPr>
          <p:cNvSpPr txBox="1"/>
          <p:nvPr/>
        </p:nvSpPr>
        <p:spPr>
          <a:xfrm>
            <a:off x="6657475" y="3227021"/>
            <a:ext cx="3749040" cy="147732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Common operations:</a:t>
            </a:r>
          </a:p>
          <a:p>
            <a:r>
              <a:rPr lang="en-US" b="1" dirty="0">
                <a:solidFill>
                  <a:schemeClr val="bg1"/>
                </a:solidFill>
              </a:rPr>
              <a:t>Add       --  append()</a:t>
            </a:r>
          </a:p>
          <a:p>
            <a:r>
              <a:rPr lang="en-US" b="1" dirty="0">
                <a:solidFill>
                  <a:schemeClr val="bg1"/>
                </a:solidFill>
              </a:rPr>
              <a:t>Remove --  remove()</a:t>
            </a:r>
          </a:p>
          <a:p>
            <a:r>
              <a:rPr lang="en-US" b="1" dirty="0">
                <a:solidFill>
                  <a:schemeClr val="bg1"/>
                </a:solidFill>
              </a:rPr>
              <a:t>Length  --  </a:t>
            </a:r>
            <a:r>
              <a:rPr lang="en-US" b="1" dirty="0" err="1">
                <a:solidFill>
                  <a:schemeClr val="bg1"/>
                </a:solidFill>
              </a:rPr>
              <a:t>len</a:t>
            </a:r>
            <a:r>
              <a:rPr lang="en-US" b="1" dirty="0">
                <a:solidFill>
                  <a:schemeClr val="bg1"/>
                </a:solidFill>
              </a:rPr>
              <a:t>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IN" sz="1800" dirty="0">
              <a:solidFill>
                <a:schemeClr val="bg1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554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59">
            <a:extLst>
              <a:ext uri="{FF2B5EF4-FFF2-40B4-BE49-F238E27FC236}">
                <a16:creationId xmlns:a16="http://schemas.microsoft.com/office/drawing/2014/main" id="{0031CE36-F77D-3964-C169-771DBA49D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0"/>
            <a:ext cx="7132320" cy="1773936"/>
          </a:xfrm>
        </p:spPr>
        <p:txBody>
          <a:bodyPr/>
          <a:lstStyle/>
          <a:p>
            <a:r>
              <a:rPr lang="en-US" dirty="0"/>
              <a:t>Tuples - Introduction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520E98B6-7B33-8FD4-A662-31DD4B85E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543627"/>
            <a:ext cx="3291840" cy="3657600"/>
          </a:xfrm>
        </p:spPr>
        <p:txBody>
          <a:bodyPr/>
          <a:lstStyle/>
          <a:p>
            <a:r>
              <a:rPr lang="en-US" dirty="0"/>
              <a:t>Ordered collection</a:t>
            </a:r>
          </a:p>
          <a:p>
            <a:r>
              <a:rPr lang="en-US" dirty="0"/>
              <a:t>Allows Duplicates</a:t>
            </a:r>
          </a:p>
          <a:p>
            <a:r>
              <a:rPr lang="en-US" b="1" dirty="0"/>
              <a:t>Immutable( cannot be modified )</a:t>
            </a:r>
          </a:p>
          <a:p>
            <a:r>
              <a:rPr lang="en-US" dirty="0"/>
              <a:t>Written using parentheses ( )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(10, 20, 30, 40, 50)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78466807-A2DA-EC5D-ACDE-B83D6F7169EA}"/>
              </a:ext>
            </a:extLst>
          </p:cNvPr>
          <p:cNvSpPr>
            <a:spLocks noGrp="1"/>
          </p:cNvSpPr>
          <p:nvPr>
            <p:ph idx="56"/>
          </p:nvPr>
        </p:nvSpPr>
        <p:spPr>
          <a:xfrm>
            <a:off x="4754880" y="2558065"/>
            <a:ext cx="3291840" cy="3657600"/>
          </a:xfrm>
        </p:spPr>
        <p:txBody>
          <a:bodyPr/>
          <a:lstStyle/>
          <a:p>
            <a:r>
              <a:rPr lang="en-US" b="1" dirty="0"/>
              <a:t>TUPLES – CODE DEMO</a:t>
            </a:r>
          </a:p>
          <a:p>
            <a:endParaRPr lang="en-US" dirty="0"/>
          </a:p>
          <a:p>
            <a:r>
              <a:rPr lang="en-US" dirty="0"/>
              <a:t>Data = (10, 20, 30, 40, 50)</a:t>
            </a:r>
          </a:p>
          <a:p>
            <a:endParaRPr lang="en-US" dirty="0"/>
          </a:p>
          <a:p>
            <a:r>
              <a:rPr lang="en-US" dirty="0"/>
              <a:t>Print(data)</a:t>
            </a:r>
          </a:p>
          <a:p>
            <a:r>
              <a:rPr lang="en-US" dirty="0"/>
              <a:t>Print(data[1])</a:t>
            </a:r>
          </a:p>
          <a:p>
            <a:r>
              <a:rPr lang="en-US" dirty="0"/>
              <a:t># data[1]  = 50 #</a:t>
            </a:r>
            <a:r>
              <a:rPr lang="en-US" b="1" dirty="0"/>
              <a:t>Error</a:t>
            </a:r>
          </a:p>
          <a:p>
            <a:r>
              <a:rPr lang="en-US" b="1" dirty="0"/>
              <a:t># </a:t>
            </a:r>
            <a:r>
              <a:rPr lang="en-US" dirty="0"/>
              <a:t>data[1]  = 20 #Correct</a:t>
            </a:r>
          </a:p>
          <a:p>
            <a:endParaRPr lang="en-US" dirty="0"/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930FF33C-2E3C-37EC-75C2-1BE4513D9B62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22DE72-77CB-CB24-A4D1-2FAC47307AC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8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4182148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389120" cy="1369996"/>
          </a:xfrm>
          <a:noFill/>
        </p:spPr>
        <p:txBody>
          <a:bodyPr anchor="b" anchorCtr="0">
            <a:noAutofit/>
          </a:bodyPr>
          <a:lstStyle/>
          <a:p>
            <a:r>
              <a:rPr lang="en-US" dirty="0"/>
              <a:t>SETS - INTRODUCTION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9DA784D-F56F-1224-707E-9F882C4EB8A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14400" y="2468880"/>
            <a:ext cx="4389120" cy="192024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Unordered collection</a:t>
            </a:r>
          </a:p>
          <a:p>
            <a:r>
              <a:rPr lang="en-US" dirty="0"/>
              <a:t>No duplicate values</a:t>
            </a:r>
          </a:p>
          <a:p>
            <a:r>
              <a:rPr lang="en-US" dirty="0"/>
              <a:t>Mutable</a:t>
            </a:r>
          </a:p>
          <a:p>
            <a:r>
              <a:rPr lang="en-US" dirty="0"/>
              <a:t>Written using curly braces { }</a:t>
            </a:r>
          </a:p>
          <a:p>
            <a:r>
              <a:rPr lang="en-US" dirty="0"/>
              <a:t>{10, 20, 30, 40, 50}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DFE8A8-4537-F7A1-3BF9-834AEFE3E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737875F-F4FC-EFA7-4804-3DACF6E8C8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2468880"/>
            <a:ext cx="5367528" cy="3474720"/>
          </a:xfrm>
        </p:spPr>
        <p:txBody>
          <a:bodyPr/>
          <a:lstStyle/>
          <a:p>
            <a:r>
              <a:rPr lang="en-US" b="1" dirty="0"/>
              <a:t>SETS – CODE DEMO</a:t>
            </a:r>
          </a:p>
          <a:p>
            <a:pPr marL="0" indent="0">
              <a:buNone/>
            </a:pPr>
            <a:r>
              <a:rPr lang="en-US" b="1" dirty="0"/>
              <a:t>   </a:t>
            </a:r>
          </a:p>
          <a:p>
            <a:pPr marL="0" indent="0">
              <a:buNone/>
            </a:pPr>
            <a:r>
              <a:rPr lang="en-US" b="1" dirty="0"/>
              <a:t>  value = {10, 20, 30, 40, 50}</a:t>
            </a:r>
          </a:p>
          <a:p>
            <a:pPr marL="0" indent="0">
              <a:buNone/>
            </a:pPr>
            <a:r>
              <a:rPr lang="en-US" b="1" dirty="0"/>
              <a:t>  print(values)   # duplicates removed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  </a:t>
            </a:r>
            <a:r>
              <a:rPr lang="en-IN" b="1" dirty="0" err="1"/>
              <a:t>value.add</a:t>
            </a:r>
            <a:r>
              <a:rPr lang="en-IN" b="1" dirty="0"/>
              <a:t>(60)</a:t>
            </a:r>
          </a:p>
        </p:txBody>
      </p:sp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C59F6-9B22-C211-4B4C-A2FD4B914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021" y="-503722"/>
            <a:ext cx="7671816" cy="2103120"/>
          </a:xfrm>
          <a:noFill/>
        </p:spPr>
        <p:txBody>
          <a:bodyPr anchor="b" anchorCtr="0">
            <a:noAutofit/>
          </a:bodyPr>
          <a:lstStyle/>
          <a:p>
            <a:r>
              <a:rPr lang="en-US" dirty="0"/>
              <a:t>Dictonaries - Introduction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231D8C-5C7D-BFD9-19A4-7628C1400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5168249-1942-985C-FF43-9C7393FC681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14400" y="2069432"/>
            <a:ext cx="4555958" cy="3965608"/>
          </a:xfrm>
        </p:spPr>
        <p:txBody>
          <a:bodyPr/>
          <a:lstStyle/>
          <a:p>
            <a:r>
              <a:rPr lang="en-US" dirty="0"/>
              <a:t>Stored data in key : value pairs</a:t>
            </a:r>
          </a:p>
          <a:p>
            <a:r>
              <a:rPr lang="en-US" dirty="0"/>
              <a:t>Keys are unique</a:t>
            </a:r>
          </a:p>
          <a:p>
            <a:r>
              <a:rPr lang="en-US" dirty="0"/>
              <a:t>Unordered</a:t>
            </a:r>
          </a:p>
          <a:p>
            <a:r>
              <a:rPr lang="en-US" dirty="0"/>
              <a:t>Written using {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Examples:</a:t>
            </a:r>
          </a:p>
          <a:p>
            <a:pPr marL="0" indent="0">
              <a:buNone/>
            </a:pPr>
            <a:r>
              <a:rPr lang="en-US" b="1" dirty="0"/>
              <a:t>{“name”: “Addala Siva Ganesh”, “age”:  ”23”}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ABEF28-283A-E59C-3348-F777D7D43B01}"/>
              </a:ext>
            </a:extLst>
          </p:cNvPr>
          <p:cNvSpPr txBox="1"/>
          <p:nvPr/>
        </p:nvSpPr>
        <p:spPr>
          <a:xfrm>
            <a:off x="5899163" y="2069432"/>
            <a:ext cx="5085347" cy="203132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1800" b="1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DICTIONARY – CODE DEMO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US" b="1" dirty="0">
              <a:solidFill>
                <a:prstClr val="white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Student = { </a:t>
            </a:r>
            <a:r>
              <a:rPr lang="en-US" sz="1800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“name” : “Siva”, “age” : 23, “location : “Hyderabad - </a:t>
            </a:r>
            <a:r>
              <a:rPr lang="en-US" sz="1800" dirty="0" err="1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gopanpally</a:t>
            </a:r>
            <a:r>
              <a:rPr lang="en-US" sz="1800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”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US" dirty="0">
              <a:solidFill>
                <a:prstClr val="white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1800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Print (student[“name”])</a:t>
            </a:r>
          </a:p>
          <a:p>
            <a:r>
              <a:rPr lang="en-US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Student[“location”] = Hyderabad - Manikonda</a:t>
            </a:r>
            <a:endParaRPr lang="en-IN" sz="1800" dirty="0">
              <a:solidFill>
                <a:prstClr val="white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4630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CEC29-2F05-D7E4-A266-08C74BE4F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7078" y="1520687"/>
            <a:ext cx="4441188" cy="2042074"/>
          </a:xfrm>
        </p:spPr>
        <p:txBody>
          <a:bodyPr/>
          <a:lstStyle/>
          <a:p>
            <a:r>
              <a:rPr lang="en-US" dirty="0"/>
              <a:t>WHEN TO USE WHAT?</a:t>
            </a:r>
          </a:p>
        </p:txBody>
      </p:sp>
      <p:pic>
        <p:nvPicPr>
          <p:cNvPr id="5" name="Picture Placeholder 4" descr="A person looking at a person who is looking at a computer screen">
            <a:extLst>
              <a:ext uri="{FF2B5EF4-FFF2-40B4-BE49-F238E27FC236}">
                <a16:creationId xmlns:a16="http://schemas.microsoft.com/office/drawing/2014/main" id="{867EED95-1785-2CFF-AB72-C7852C4B1E15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2"/>
          <a:srcRect t="11651" b="11651"/>
          <a:stretch/>
        </p:blipFill>
        <p:spPr>
          <a:xfrm>
            <a:off x="914400" y="539496"/>
            <a:ext cx="5025207" cy="5779008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8698752-7A24-629E-270C-B85FBCD94D12}"/>
              </a:ext>
            </a:extLst>
          </p:cNvPr>
          <p:cNvSpPr txBox="1"/>
          <p:nvPr/>
        </p:nvSpPr>
        <p:spPr>
          <a:xfrm>
            <a:off x="6662383" y="3562761"/>
            <a:ext cx="4379495" cy="120032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b="1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LIST - </a:t>
            </a:r>
            <a:r>
              <a:rPr lang="en-US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Order and modification required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1800" b="1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TUPLE - </a:t>
            </a:r>
            <a:r>
              <a:rPr lang="en-US" sz="1800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Data should not change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b="1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SET – </a:t>
            </a:r>
            <a:r>
              <a:rPr lang="en-US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Unique values required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b="1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DICTIONARY</a:t>
            </a:r>
            <a:r>
              <a:rPr lang="en-US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 – Key-value mapping </a:t>
            </a:r>
            <a:endParaRPr lang="en-IN" sz="1800" dirty="0">
              <a:solidFill>
                <a:prstClr val="white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227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D2C8D04-263D-9589-1CFF-A5968D7C3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944303"/>
            <a:ext cx="5394960" cy="210312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2927941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903"/>
      </a:accent2>
      <a:accent3>
        <a:srgbClr val="75262A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6">
      <a:majorFont>
        <a:latin typeface="Posterama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M9027928_win32_EF_v4" id="{FA821E7E-D625-4DCD-A30E-3216B54C8383}" vid="{DE28BE6C-8054-44B2-A92D-A1CAFC256BDB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09b9c2c-002f-457f-af40-611887581f0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C9F0A43517B7340B1164B9E46DA2F04" ma:contentTypeVersion="5" ma:contentTypeDescription="Create a new document." ma:contentTypeScope="" ma:versionID="d2191d195a18a26c5eb0e226e4e28080">
  <xsd:schema xmlns:xsd="http://www.w3.org/2001/XMLSchema" xmlns:xs="http://www.w3.org/2001/XMLSchema" xmlns:p="http://schemas.microsoft.com/office/2006/metadata/properties" xmlns:ns3="509b9c2c-002f-457f-af40-611887581f02" targetNamespace="http://schemas.microsoft.com/office/2006/metadata/properties" ma:root="true" ma:fieldsID="139cc3f4a98d7f88ddb1600137df1250" ns3:_="">
    <xsd:import namespace="509b9c2c-002f-457f-af40-611887581f02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9b9c2c-002f-457f-af40-611887581f02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0009351-EDD4-484E-ACD6-D50CCB13763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8DB3C62-858A-4A01-AFEF-21E0BB8CE262}">
  <ds:schemaRefs>
    <ds:schemaRef ds:uri="http://purl.org/dc/terms/"/>
    <ds:schemaRef ds:uri="http://schemas.openxmlformats.org/package/2006/metadata/core-properties"/>
    <ds:schemaRef ds:uri="509b9c2c-002f-457f-af40-611887581f02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EA7E4387-300A-4A7D-B523-88015DDBA96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09b9c2c-002f-457f-af40-611887581f0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{EA58B338-408A-4AF2-956E-B36DA9E9EF77}TF63aebcec-8e39-4664-940a-dd6c2f00c54d020a9832_win32-3cdd3ee32610</Template>
  <TotalTime>115</TotalTime>
  <Words>497</Words>
  <Application>Microsoft Office PowerPoint</Application>
  <PresentationFormat>Widescreen</PresentationFormat>
  <Paragraphs>119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等线</vt:lpstr>
      <vt:lpstr>Abadi</vt:lpstr>
      <vt:lpstr>Aptos</vt:lpstr>
      <vt:lpstr>Arial</vt:lpstr>
      <vt:lpstr>Calibri</vt:lpstr>
      <vt:lpstr>Posterama</vt:lpstr>
      <vt:lpstr>Posterama Text SemiBold</vt:lpstr>
      <vt:lpstr>Custom</vt:lpstr>
      <vt:lpstr>DATA STRUCTURES IN PYTHON</vt:lpstr>
      <vt:lpstr>Agenda </vt:lpstr>
      <vt:lpstr>What Are Data Structures</vt:lpstr>
      <vt:lpstr>WHY DATA STRUCTURES </vt:lpstr>
      <vt:lpstr>PYTHON DATA STRUCTURES </vt:lpstr>
      <vt:lpstr>Lists-introduction</vt:lpstr>
      <vt:lpstr>Lists - Code Demo</vt:lpstr>
      <vt:lpstr>Tuples - Introduction</vt:lpstr>
      <vt:lpstr>SETS - INTRODUCTION</vt:lpstr>
      <vt:lpstr>Dictonaries - Introduction</vt:lpstr>
      <vt:lpstr>WHEN TO USE WHAT?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Addala Siva</dc:creator>
  <cp:lastModifiedBy>Addala Siva</cp:lastModifiedBy>
  <cp:revision>4</cp:revision>
  <dcterms:created xsi:type="dcterms:W3CDTF">2026-04-30T11:50:23Z</dcterms:created>
  <dcterms:modified xsi:type="dcterms:W3CDTF">2026-05-03T18:30:39Z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0x0101005C9F0A43517B7340B1164B9E46DA2F04</vt:lpwstr>
  </property>
  <property fmtid="{D5CDD505-2E9C-101B-9397-08002B2CF9AE}" pid="3" name="MediaServiceImageTags">
    <vt:lpwstr/>
  </property>
  <property fmtid="{D5CDD505-2E9C-101B-9397-08002B2CF9AE}" pid="4" name="MSIP_Label_ce7ded32-6a8c-48b8-8009-ebf9a4e0e083_Enabled">
    <vt:lpwstr>true</vt:lpwstr>
  </property>
  <property fmtid="{D5CDD505-2E9C-101B-9397-08002B2CF9AE}" pid="5" name="MSIP_Label_ce7ded32-6a8c-48b8-8009-ebf9a4e0e083_SetDate">
    <vt:lpwstr>2026-04-30T12:19:53Z</vt:lpwstr>
  </property>
  <property fmtid="{D5CDD505-2E9C-101B-9397-08002B2CF9AE}" pid="6" name="MSIP_Label_ce7ded32-6a8c-48b8-8009-ebf9a4e0e083_Method">
    <vt:lpwstr>Privileged</vt:lpwstr>
  </property>
  <property fmtid="{D5CDD505-2E9C-101B-9397-08002B2CF9AE}" pid="7" name="MSIP_Label_ce7ded32-6a8c-48b8-8009-ebf9a4e0e083_Name">
    <vt:lpwstr>Public - Public</vt:lpwstr>
  </property>
  <property fmtid="{D5CDD505-2E9C-101B-9397-08002B2CF9AE}" pid="8" name="MSIP_Label_ce7ded32-6a8c-48b8-8009-ebf9a4e0e083_SiteId">
    <vt:lpwstr>258ac4e4-146a-411e-9dc8-79a9e12fd6da</vt:lpwstr>
  </property>
  <property fmtid="{D5CDD505-2E9C-101B-9397-08002B2CF9AE}" pid="9" name="MSIP_Label_ce7ded32-6a8c-48b8-8009-ebf9a4e0e083_ActionId">
    <vt:lpwstr>d6a6e339-a1e4-40d0-8b6a-06ebaa35d248</vt:lpwstr>
  </property>
  <property fmtid="{D5CDD505-2E9C-101B-9397-08002B2CF9AE}" pid="10" name="MSIP_Label_ce7ded32-6a8c-48b8-8009-ebf9a4e0e083_ContentBits">
    <vt:lpwstr>2</vt:lpwstr>
  </property>
  <property fmtid="{D5CDD505-2E9C-101B-9397-08002B2CF9AE}" pid="11" name="MSIP_Label_ce7ded32-6a8c-48b8-8009-ebf9a4e0e083_Tag">
    <vt:lpwstr>10, 0, 1, 1</vt:lpwstr>
  </property>
  <property fmtid="{D5CDD505-2E9C-101B-9397-08002B2CF9AE}" pid="12" name="ClassificationContentMarkingFooterLocations">
    <vt:lpwstr>Custom:3</vt:lpwstr>
  </property>
  <property fmtid="{D5CDD505-2E9C-101B-9397-08002B2CF9AE}" pid="13" name="ClassificationContentMarkingFooterText">
    <vt:lpwstr>Public</vt:lpwstr>
  </property>
</Properties>
</file>